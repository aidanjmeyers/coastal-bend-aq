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46" autoAdjust="0"/>
    <p:restoredTop sz="96247" autoAdjust="0"/>
  </p:normalViewPr>
  <p:slideViewPr>
    <p:cSldViewPr snapToGrid="0" snapToObjects="1">
      <p:cViewPr>
        <p:scale>
          <a:sx n="77" d="100"/>
          <a:sy n="77" d="100"/>
        </p:scale>
        <p:origin x="566"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PM2.5 constituents</c:v>
                </c:pt>
              </c:strCache>
            </c:strRef>
          </c:tx>
          <c:spPr>
            <a:solidFill>
              <a:schemeClr val="accent1"/>
            </a:solidFill>
            <a:ln w="9525" cap="flat">
              <a:solidFill>
                <a:srgbClr val="F9F9F9"/>
              </a:solidFill>
              <a:prstDash val="solid"/>
              <a:round/>
            </a:ln>
            <a:effectLst/>
          </c:spPr>
          <c:dPt>
            <c:idx val="0"/>
            <c:bubble3D val="0"/>
            <c:spPr>
              <a:solidFill>
                <a:srgbClr val="213C4E"/>
              </a:solidFill>
              <a:effectLst/>
            </c:spPr>
            <c:extLst>
              <c:ext xmlns:c16="http://schemas.microsoft.com/office/drawing/2014/chart" uri="{C3380CC4-5D6E-409C-BE32-E72D297353CC}">
                <c16:uniqueId val="{00000001-8FB1-4D7B-A1D7-5B5DA80E8176}"/>
              </c:ext>
            </c:extLst>
          </c:dPt>
          <c:dPt>
            <c:idx val="1"/>
            <c:bubble3D val="0"/>
            <c:spPr>
              <a:solidFill>
                <a:srgbClr val="C2410C"/>
              </a:solidFill>
              <a:effectLst/>
            </c:spPr>
            <c:extLst>
              <c:ext xmlns:c16="http://schemas.microsoft.com/office/drawing/2014/chart" uri="{C3380CC4-5D6E-409C-BE32-E72D297353CC}">
                <c16:uniqueId val="{00000003-8FB1-4D7B-A1D7-5B5DA80E8176}"/>
              </c:ext>
            </c:extLst>
          </c:dPt>
          <c:dPt>
            <c:idx val="2"/>
            <c:bubble3D val="0"/>
            <c:spPr>
              <a:solidFill>
                <a:srgbClr val="1C7293"/>
              </a:solidFill>
              <a:effectLst/>
            </c:spPr>
            <c:extLst>
              <c:ext xmlns:c16="http://schemas.microsoft.com/office/drawing/2014/chart" uri="{C3380CC4-5D6E-409C-BE32-E72D297353CC}">
                <c16:uniqueId val="{00000005-8FB1-4D7B-A1D7-5B5DA80E8176}"/>
              </c:ext>
            </c:extLst>
          </c:dPt>
          <c:dPt>
            <c:idx val="3"/>
            <c:bubble3D val="0"/>
            <c:spPr>
              <a:solidFill>
                <a:srgbClr val="6D2E46"/>
              </a:solidFill>
              <a:effectLst/>
            </c:spPr>
            <c:extLst>
              <c:ext xmlns:c16="http://schemas.microsoft.com/office/drawing/2014/chart" uri="{C3380CC4-5D6E-409C-BE32-E72D297353CC}">
                <c16:uniqueId val="{00000007-8FB1-4D7B-A1D7-5B5DA80E8176}"/>
              </c:ext>
            </c:extLst>
          </c:dPt>
          <c:dPt>
            <c:idx val="4"/>
            <c:bubble3D val="0"/>
            <c:spPr>
              <a:solidFill>
                <a:srgbClr val="36454F"/>
              </a:solidFill>
              <a:effectLst/>
            </c:spPr>
            <c:extLst>
              <c:ext xmlns:c16="http://schemas.microsoft.com/office/drawing/2014/chart" uri="{C3380CC4-5D6E-409C-BE32-E72D297353CC}">
                <c16:uniqueId val="{00000009-8FB1-4D7B-A1D7-5B5DA80E8176}"/>
              </c:ext>
            </c:extLst>
          </c:dPt>
          <c:dPt>
            <c:idx val="5"/>
            <c:bubble3D val="0"/>
            <c:spPr>
              <a:solidFill>
                <a:srgbClr val="97BC62"/>
              </a:solidFill>
              <a:effectLst/>
            </c:spPr>
            <c:extLst>
              <c:ext xmlns:c16="http://schemas.microsoft.com/office/drawing/2014/chart" uri="{C3380CC4-5D6E-409C-BE32-E72D297353CC}">
                <c16:uniqueId val="{0000000B-8FB1-4D7B-A1D7-5B5DA80E8176}"/>
              </c:ext>
            </c:extLst>
          </c:dPt>
          <c:dPt>
            <c:idx val="6"/>
            <c:bubble3D val="0"/>
            <c:spPr>
              <a:solidFill>
                <a:srgbClr val="AABBC8"/>
              </a:solidFill>
              <a:effectLst/>
            </c:spPr>
            <c:extLst>
              <c:ext xmlns:c16="http://schemas.microsoft.com/office/drawing/2014/chart" uri="{C3380CC4-5D6E-409C-BE32-E72D297353CC}">
                <c16:uniqueId val="{0000000D-8FB1-4D7B-A1D7-5B5DA80E8176}"/>
              </c:ext>
            </c:extLst>
          </c:dPt>
          <c:dPt>
            <c:idx val="7"/>
            <c:bubble3D val="0"/>
            <c:spPr>
              <a:solidFill>
                <a:srgbClr val="9F1239"/>
              </a:solidFill>
              <a:effectLst/>
            </c:spPr>
            <c:extLst>
              <c:ext xmlns:c16="http://schemas.microsoft.com/office/drawing/2014/chart" uri="{C3380CC4-5D6E-409C-BE32-E72D297353CC}">
                <c16:uniqueId val="{0000000F-8FB1-4D7B-A1D7-5B5DA80E8176}"/>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FB1-4D7B-A1D7-5B5DA80E8176}"/>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FB1-4D7B-A1D7-5B5DA80E8176}"/>
                </c:ext>
              </c:extLst>
            </c:dLbl>
            <c:dLbl>
              <c:idx val="2"/>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FB1-4D7B-A1D7-5B5DA80E8176}"/>
                </c:ext>
              </c:extLst>
            </c:dLbl>
            <c:dLbl>
              <c:idx val="3"/>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FB1-4D7B-A1D7-5B5DA80E8176}"/>
                </c:ext>
              </c:extLst>
            </c:dLbl>
            <c:dLbl>
              <c:idx val="4"/>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FB1-4D7B-A1D7-5B5DA80E8176}"/>
                </c:ext>
              </c:extLst>
            </c:dLbl>
            <c:dLbl>
              <c:idx val="5"/>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FB1-4D7B-A1D7-5B5DA80E8176}"/>
                </c:ext>
              </c:extLst>
            </c:dLbl>
            <c:dLbl>
              <c:idx val="6"/>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FB1-4D7B-A1D7-5B5DA80E8176}"/>
                </c:ext>
              </c:extLst>
            </c:dLbl>
            <c:dLbl>
              <c:idx val="7"/>
              <c:numFmt formatCode="0\'%\'" sourceLinked="0"/>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FB1-4D7B-A1D7-5B5DA80E817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Sheet1!$A$2:$A$9</c:f>
              <c:strCache>
                <c:ptCount val="8"/>
                <c:pt idx="0">
                  <c:v>Sulfate</c:v>
                </c:pt>
                <c:pt idx="1">
                  <c:v>Organic carbon (OC)</c:v>
                </c:pt>
                <c:pt idx="2">
                  <c:v>Sea salt</c:v>
                </c:pt>
                <c:pt idx="3">
                  <c:v>Nitrate</c:v>
                </c:pt>
                <c:pt idx="4">
                  <c:v>Elemental carbon (EC)</c:v>
                </c:pt>
                <c:pt idx="5">
                  <c:v>Crustal dust</c:v>
                </c:pt>
                <c:pt idx="6">
                  <c:v>Ammonium</c:v>
                </c:pt>
                <c:pt idx="7">
                  <c:v>Trace metals</c:v>
                </c:pt>
              </c:strCache>
            </c:strRef>
          </c:cat>
          <c:val>
            <c:numRef>
              <c:f>Sheet1!$B$2:$B$9</c:f>
              <c:numCache>
                <c:formatCode>General</c:formatCode>
                <c:ptCount val="8"/>
                <c:pt idx="0">
                  <c:v>25</c:v>
                </c:pt>
                <c:pt idx="1">
                  <c:v>30</c:v>
                </c:pt>
                <c:pt idx="2">
                  <c:v>12</c:v>
                </c:pt>
                <c:pt idx="3">
                  <c:v>8</c:v>
                </c:pt>
                <c:pt idx="4">
                  <c:v>8</c:v>
                </c:pt>
                <c:pt idx="5">
                  <c:v>10</c:v>
                </c:pt>
                <c:pt idx="6">
                  <c:v>5</c:v>
                </c:pt>
                <c:pt idx="7">
                  <c:v>2</c:v>
                </c:pt>
              </c:numCache>
            </c:numRef>
          </c:val>
          <c:extLst>
            <c:ext xmlns:c16="http://schemas.microsoft.com/office/drawing/2014/chart" uri="{C3380CC4-5D6E-409C-BE32-E72D297353CC}">
              <c16:uniqueId val="{00000010-8FB1-4D7B-A1D7-5B5DA80E8176}"/>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900">
              <a:solidFill>
                <a:srgbClr val="333333"/>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0BFCCC-B9D1-4208-9302-B0C49FC0065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7B6131B-DE16-4033-BED8-6D567EAFE38E}">
      <dgm:prSet/>
      <dgm:spPr/>
      <dgm:t>
        <a:bodyPr/>
        <a:lstStyle/>
        <a:p>
          <a:r>
            <a:rPr lang="en-US" b="1"/>
            <a:t>up to $46 B</a:t>
          </a:r>
          <a:endParaRPr lang="en-US"/>
        </a:p>
      </dgm:t>
    </dgm:pt>
    <dgm:pt modelId="{0E9B0069-218A-4C5C-97C8-4DA957DF13CD}" type="parTrans" cxnId="{C1CBE400-801B-41FA-99E5-124EA0A49C74}">
      <dgm:prSet/>
      <dgm:spPr/>
      <dgm:t>
        <a:bodyPr/>
        <a:lstStyle/>
        <a:p>
          <a:endParaRPr lang="en-US"/>
        </a:p>
      </dgm:t>
    </dgm:pt>
    <dgm:pt modelId="{A592565B-B397-45CB-BBAF-43BAB85C57E6}" type="sibTrans" cxnId="{C1CBE400-801B-41FA-99E5-124EA0A49C74}">
      <dgm:prSet/>
      <dgm:spPr/>
      <dgm:t>
        <a:bodyPr/>
        <a:lstStyle/>
        <a:p>
          <a:endParaRPr lang="en-US"/>
        </a:p>
      </dgm:t>
    </dgm:pt>
    <dgm:pt modelId="{8299A516-5063-4B25-9449-E7B9A56BBA33}">
      <dgm:prSet/>
      <dgm:spPr/>
      <dgm:t>
        <a:bodyPr/>
        <a:lstStyle/>
        <a:p>
          <a:r>
            <a:rPr lang="en-US" b="1"/>
            <a:t>4,500</a:t>
          </a:r>
          <a:r>
            <a:rPr lang="en-US"/>
            <a:t> avoided premature deaths / year</a:t>
          </a:r>
        </a:p>
      </dgm:t>
    </dgm:pt>
    <dgm:pt modelId="{B73009DB-87E0-4D20-AA3D-922F499102F5}" type="parTrans" cxnId="{3B4B4912-6417-4525-9CF8-D2B047759E4A}">
      <dgm:prSet/>
      <dgm:spPr/>
      <dgm:t>
        <a:bodyPr/>
        <a:lstStyle/>
        <a:p>
          <a:endParaRPr lang="en-US"/>
        </a:p>
      </dgm:t>
    </dgm:pt>
    <dgm:pt modelId="{ADC57167-C547-4441-A00B-C36CC075D2F4}" type="sibTrans" cxnId="{3B4B4912-6417-4525-9CF8-D2B047759E4A}">
      <dgm:prSet/>
      <dgm:spPr/>
      <dgm:t>
        <a:bodyPr/>
        <a:lstStyle/>
        <a:p>
          <a:endParaRPr lang="en-US"/>
        </a:p>
      </dgm:t>
    </dgm:pt>
    <dgm:pt modelId="{261FA0B2-17CD-4FD3-B96D-52448C0236C4}">
      <dgm:prSet/>
      <dgm:spPr/>
      <dgm:t>
        <a:bodyPr/>
        <a:lstStyle/>
        <a:p>
          <a:r>
            <a:rPr lang="en-US" b="1"/>
            <a:t>290,000 </a:t>
          </a:r>
          <a:r>
            <a:rPr lang="en-US"/>
            <a:t>avoided lost workdays / year</a:t>
          </a:r>
        </a:p>
      </dgm:t>
    </dgm:pt>
    <dgm:pt modelId="{6478C77B-8A26-46FE-80F4-2091069AE95F}" type="parTrans" cxnId="{FEC8FFF3-860C-459C-906A-C8AAD9855F9D}">
      <dgm:prSet/>
      <dgm:spPr/>
      <dgm:t>
        <a:bodyPr/>
        <a:lstStyle/>
        <a:p>
          <a:endParaRPr lang="en-US"/>
        </a:p>
      </dgm:t>
    </dgm:pt>
    <dgm:pt modelId="{B10CFA06-8E92-4FCD-A07D-22F3C45CEF00}" type="sibTrans" cxnId="{FEC8FFF3-860C-459C-906A-C8AAD9855F9D}">
      <dgm:prSet/>
      <dgm:spPr/>
      <dgm:t>
        <a:bodyPr/>
        <a:lstStyle/>
        <a:p>
          <a:endParaRPr lang="en-US"/>
        </a:p>
      </dgm:t>
    </dgm:pt>
    <dgm:pt modelId="{D6839733-7109-4F1C-BC14-D53F9A931CA7}">
      <dgm:prSet/>
      <dgm:spPr/>
      <dgm:t>
        <a:bodyPr/>
        <a:lstStyle/>
        <a:p>
          <a:r>
            <a:rPr lang="en-US" b="1"/>
            <a:t>800,000</a:t>
          </a:r>
          <a:r>
            <a:rPr lang="en-US"/>
            <a:t> avoided asthma-symptom days / year</a:t>
          </a:r>
        </a:p>
      </dgm:t>
    </dgm:pt>
    <dgm:pt modelId="{BF14E9C9-D62F-4710-9B6B-5EFCBD1DC1D1}" type="parTrans" cxnId="{30AC6D9A-EB51-406E-8A8D-FD9BBAC497C2}">
      <dgm:prSet/>
      <dgm:spPr/>
      <dgm:t>
        <a:bodyPr/>
        <a:lstStyle/>
        <a:p>
          <a:endParaRPr lang="en-US"/>
        </a:p>
      </dgm:t>
    </dgm:pt>
    <dgm:pt modelId="{F9F3365E-9C8D-4640-91BA-809412A001CE}" type="sibTrans" cxnId="{30AC6D9A-EB51-406E-8A8D-FD9BBAC497C2}">
      <dgm:prSet/>
      <dgm:spPr/>
      <dgm:t>
        <a:bodyPr/>
        <a:lstStyle/>
        <a:p>
          <a:endParaRPr lang="en-US"/>
        </a:p>
      </dgm:t>
    </dgm:pt>
    <dgm:pt modelId="{9F26D799-4F88-4DAD-8E37-D6CB58C26617}" type="pres">
      <dgm:prSet presAssocID="{A90BFCCC-B9D1-4208-9302-B0C49FC0065C}" presName="linear" presStyleCnt="0">
        <dgm:presLayoutVars>
          <dgm:animLvl val="lvl"/>
          <dgm:resizeHandles val="exact"/>
        </dgm:presLayoutVars>
      </dgm:prSet>
      <dgm:spPr/>
    </dgm:pt>
    <dgm:pt modelId="{7408A71B-D401-4196-90E4-2693789CA106}" type="pres">
      <dgm:prSet presAssocID="{A7B6131B-DE16-4033-BED8-6D567EAFE38E}" presName="parentText" presStyleLbl="node1" presStyleIdx="0" presStyleCnt="4">
        <dgm:presLayoutVars>
          <dgm:chMax val="0"/>
          <dgm:bulletEnabled val="1"/>
        </dgm:presLayoutVars>
      </dgm:prSet>
      <dgm:spPr/>
    </dgm:pt>
    <dgm:pt modelId="{468E0270-82B2-4625-BBBA-2DF740224648}" type="pres">
      <dgm:prSet presAssocID="{A592565B-B397-45CB-BBAF-43BAB85C57E6}" presName="spacer" presStyleCnt="0"/>
      <dgm:spPr/>
    </dgm:pt>
    <dgm:pt modelId="{D9A17F81-6ECF-4F27-9CF6-62B5997A1674}" type="pres">
      <dgm:prSet presAssocID="{8299A516-5063-4B25-9449-E7B9A56BBA33}" presName="parentText" presStyleLbl="node1" presStyleIdx="1" presStyleCnt="4">
        <dgm:presLayoutVars>
          <dgm:chMax val="0"/>
          <dgm:bulletEnabled val="1"/>
        </dgm:presLayoutVars>
      </dgm:prSet>
      <dgm:spPr/>
    </dgm:pt>
    <dgm:pt modelId="{6B17EF6B-80FE-4118-9379-AFF2C763421A}" type="pres">
      <dgm:prSet presAssocID="{ADC57167-C547-4441-A00B-C36CC075D2F4}" presName="spacer" presStyleCnt="0"/>
      <dgm:spPr/>
    </dgm:pt>
    <dgm:pt modelId="{2F2EBC5B-C181-4B92-9C95-794E294DC184}" type="pres">
      <dgm:prSet presAssocID="{261FA0B2-17CD-4FD3-B96D-52448C0236C4}" presName="parentText" presStyleLbl="node1" presStyleIdx="2" presStyleCnt="4">
        <dgm:presLayoutVars>
          <dgm:chMax val="0"/>
          <dgm:bulletEnabled val="1"/>
        </dgm:presLayoutVars>
      </dgm:prSet>
      <dgm:spPr/>
    </dgm:pt>
    <dgm:pt modelId="{BB3C0179-5AFF-43EC-BFEF-104EB8F81A80}" type="pres">
      <dgm:prSet presAssocID="{B10CFA06-8E92-4FCD-A07D-22F3C45CEF00}" presName="spacer" presStyleCnt="0"/>
      <dgm:spPr/>
    </dgm:pt>
    <dgm:pt modelId="{CFB87C24-2BFE-48CA-9966-652D02EAF4AB}" type="pres">
      <dgm:prSet presAssocID="{D6839733-7109-4F1C-BC14-D53F9A931CA7}" presName="parentText" presStyleLbl="node1" presStyleIdx="3" presStyleCnt="4">
        <dgm:presLayoutVars>
          <dgm:chMax val="0"/>
          <dgm:bulletEnabled val="1"/>
        </dgm:presLayoutVars>
      </dgm:prSet>
      <dgm:spPr/>
    </dgm:pt>
  </dgm:ptLst>
  <dgm:cxnLst>
    <dgm:cxn modelId="{C1CBE400-801B-41FA-99E5-124EA0A49C74}" srcId="{A90BFCCC-B9D1-4208-9302-B0C49FC0065C}" destId="{A7B6131B-DE16-4033-BED8-6D567EAFE38E}" srcOrd="0" destOrd="0" parTransId="{0E9B0069-218A-4C5C-97C8-4DA957DF13CD}" sibTransId="{A592565B-B397-45CB-BBAF-43BAB85C57E6}"/>
    <dgm:cxn modelId="{3B4B4912-6417-4525-9CF8-D2B047759E4A}" srcId="{A90BFCCC-B9D1-4208-9302-B0C49FC0065C}" destId="{8299A516-5063-4B25-9449-E7B9A56BBA33}" srcOrd="1" destOrd="0" parTransId="{B73009DB-87E0-4D20-AA3D-922F499102F5}" sibTransId="{ADC57167-C547-4441-A00B-C36CC075D2F4}"/>
    <dgm:cxn modelId="{7ACF1038-6006-4989-B6D9-288CCCFC1659}" type="presOf" srcId="{A90BFCCC-B9D1-4208-9302-B0C49FC0065C}" destId="{9F26D799-4F88-4DAD-8E37-D6CB58C26617}" srcOrd="0" destOrd="0" presId="urn:microsoft.com/office/officeart/2005/8/layout/vList2"/>
    <dgm:cxn modelId="{685F1A3B-44AC-400F-8FD3-D14DF2F1DA14}" type="presOf" srcId="{8299A516-5063-4B25-9449-E7B9A56BBA33}" destId="{D9A17F81-6ECF-4F27-9CF6-62B5997A1674}" srcOrd="0" destOrd="0" presId="urn:microsoft.com/office/officeart/2005/8/layout/vList2"/>
    <dgm:cxn modelId="{30AC6D9A-EB51-406E-8A8D-FD9BBAC497C2}" srcId="{A90BFCCC-B9D1-4208-9302-B0C49FC0065C}" destId="{D6839733-7109-4F1C-BC14-D53F9A931CA7}" srcOrd="3" destOrd="0" parTransId="{BF14E9C9-D62F-4710-9B6B-5EFCBD1DC1D1}" sibTransId="{F9F3365E-9C8D-4640-91BA-809412A001CE}"/>
    <dgm:cxn modelId="{5C35FAC4-922A-4D98-AED0-E665440BEAE0}" type="presOf" srcId="{D6839733-7109-4F1C-BC14-D53F9A931CA7}" destId="{CFB87C24-2BFE-48CA-9966-652D02EAF4AB}" srcOrd="0" destOrd="0" presId="urn:microsoft.com/office/officeart/2005/8/layout/vList2"/>
    <dgm:cxn modelId="{33D6D7CC-FB0A-49DC-AB05-49CFC0480B94}" type="presOf" srcId="{A7B6131B-DE16-4033-BED8-6D567EAFE38E}" destId="{7408A71B-D401-4196-90E4-2693789CA106}" srcOrd="0" destOrd="0" presId="urn:microsoft.com/office/officeart/2005/8/layout/vList2"/>
    <dgm:cxn modelId="{DB8A56F0-16C5-4921-86B0-ED2377960937}" type="presOf" srcId="{261FA0B2-17CD-4FD3-B96D-52448C0236C4}" destId="{2F2EBC5B-C181-4B92-9C95-794E294DC184}" srcOrd="0" destOrd="0" presId="urn:microsoft.com/office/officeart/2005/8/layout/vList2"/>
    <dgm:cxn modelId="{FEC8FFF3-860C-459C-906A-C8AAD9855F9D}" srcId="{A90BFCCC-B9D1-4208-9302-B0C49FC0065C}" destId="{261FA0B2-17CD-4FD3-B96D-52448C0236C4}" srcOrd="2" destOrd="0" parTransId="{6478C77B-8A26-46FE-80F4-2091069AE95F}" sibTransId="{B10CFA06-8E92-4FCD-A07D-22F3C45CEF00}"/>
    <dgm:cxn modelId="{981604C0-416B-4032-A6BF-1CBDB4BAA6E3}" type="presParOf" srcId="{9F26D799-4F88-4DAD-8E37-D6CB58C26617}" destId="{7408A71B-D401-4196-90E4-2693789CA106}" srcOrd="0" destOrd="0" presId="urn:microsoft.com/office/officeart/2005/8/layout/vList2"/>
    <dgm:cxn modelId="{19CD1716-B21C-4341-8DF7-5EFB74B8CE8C}" type="presParOf" srcId="{9F26D799-4F88-4DAD-8E37-D6CB58C26617}" destId="{468E0270-82B2-4625-BBBA-2DF740224648}" srcOrd="1" destOrd="0" presId="urn:microsoft.com/office/officeart/2005/8/layout/vList2"/>
    <dgm:cxn modelId="{E052B4F6-EBCB-45F0-966B-042E9A611382}" type="presParOf" srcId="{9F26D799-4F88-4DAD-8E37-D6CB58C26617}" destId="{D9A17F81-6ECF-4F27-9CF6-62B5997A1674}" srcOrd="2" destOrd="0" presId="urn:microsoft.com/office/officeart/2005/8/layout/vList2"/>
    <dgm:cxn modelId="{E5959FE2-6D84-4F5D-A9E3-3481CAF644F0}" type="presParOf" srcId="{9F26D799-4F88-4DAD-8E37-D6CB58C26617}" destId="{6B17EF6B-80FE-4118-9379-AFF2C763421A}" srcOrd="3" destOrd="0" presId="urn:microsoft.com/office/officeart/2005/8/layout/vList2"/>
    <dgm:cxn modelId="{55910A96-A88B-49F9-AF2B-8018311FB9D4}" type="presParOf" srcId="{9F26D799-4F88-4DAD-8E37-D6CB58C26617}" destId="{2F2EBC5B-C181-4B92-9C95-794E294DC184}" srcOrd="4" destOrd="0" presId="urn:microsoft.com/office/officeart/2005/8/layout/vList2"/>
    <dgm:cxn modelId="{C791937B-FBAF-4DA5-B56B-3D5B0856C982}" type="presParOf" srcId="{9F26D799-4F88-4DAD-8E37-D6CB58C26617}" destId="{BB3C0179-5AFF-43EC-BFEF-104EB8F81A80}" srcOrd="5" destOrd="0" presId="urn:microsoft.com/office/officeart/2005/8/layout/vList2"/>
    <dgm:cxn modelId="{7AD65651-A17B-4C8F-9A0E-51D8BF30A3BB}" type="presParOf" srcId="{9F26D799-4F88-4DAD-8E37-D6CB58C26617}" destId="{CFB87C24-2BFE-48CA-9966-652D02EAF4AB}"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8A71B-D401-4196-90E4-2693789CA106}">
      <dsp:nvSpPr>
        <dsp:cNvPr id="0" name=""/>
        <dsp:cNvSpPr/>
      </dsp:nvSpPr>
      <dsp:spPr>
        <a:xfrm>
          <a:off x="0" y="25469"/>
          <a:ext cx="54864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up to $46 B</a:t>
          </a:r>
          <a:endParaRPr lang="en-US" sz="1700" kern="1200"/>
        </a:p>
      </dsp:txBody>
      <dsp:txXfrm>
        <a:off x="19904" y="45373"/>
        <a:ext cx="5446592" cy="367937"/>
      </dsp:txXfrm>
    </dsp:sp>
    <dsp:sp modelId="{D9A17F81-6ECF-4F27-9CF6-62B5997A1674}">
      <dsp:nvSpPr>
        <dsp:cNvPr id="0" name=""/>
        <dsp:cNvSpPr/>
      </dsp:nvSpPr>
      <dsp:spPr>
        <a:xfrm>
          <a:off x="0" y="482174"/>
          <a:ext cx="54864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4,500</a:t>
          </a:r>
          <a:r>
            <a:rPr lang="en-US" sz="1700" kern="1200"/>
            <a:t> avoided premature deaths / year</a:t>
          </a:r>
        </a:p>
      </dsp:txBody>
      <dsp:txXfrm>
        <a:off x="19904" y="502078"/>
        <a:ext cx="5446592" cy="367937"/>
      </dsp:txXfrm>
    </dsp:sp>
    <dsp:sp modelId="{2F2EBC5B-C181-4B92-9C95-794E294DC184}">
      <dsp:nvSpPr>
        <dsp:cNvPr id="0" name=""/>
        <dsp:cNvSpPr/>
      </dsp:nvSpPr>
      <dsp:spPr>
        <a:xfrm>
          <a:off x="0" y="938880"/>
          <a:ext cx="54864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290,000 </a:t>
          </a:r>
          <a:r>
            <a:rPr lang="en-US" sz="1700" kern="1200"/>
            <a:t>avoided lost workdays / year</a:t>
          </a:r>
        </a:p>
      </dsp:txBody>
      <dsp:txXfrm>
        <a:off x="19904" y="958784"/>
        <a:ext cx="5446592" cy="367937"/>
      </dsp:txXfrm>
    </dsp:sp>
    <dsp:sp modelId="{CFB87C24-2BFE-48CA-9966-652D02EAF4AB}">
      <dsp:nvSpPr>
        <dsp:cNvPr id="0" name=""/>
        <dsp:cNvSpPr/>
      </dsp:nvSpPr>
      <dsp:spPr>
        <a:xfrm>
          <a:off x="0" y="1395585"/>
          <a:ext cx="5486400"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800,000</a:t>
          </a:r>
          <a:r>
            <a:rPr lang="en-US" sz="1700" kern="1200"/>
            <a:t> avoided asthma-symptom days / year</a:t>
          </a:r>
        </a:p>
      </dsp:txBody>
      <dsp:txXfrm>
        <a:off x="19904" y="1415489"/>
        <a:ext cx="5446592" cy="3679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4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www.youtube.com/watch?v=cQXHATeJlh4&amp;t=6" TargetMode="External"/><Relationship Id="rId3" Type="http://schemas.openxmlformats.org/officeDocument/2006/relationships/hyperlink" Target="https://www.environmentalsiteservices.com.au/dust-monitoring/bam-and-teom/" TargetMode="External"/><Relationship Id="rId7" Type="http://schemas.openxmlformats.org/officeDocument/2006/relationships/hyperlink" Target="https://www.environment.nsw.gov.au/topics/air/understanding-air-quality-data/glossary-of-air-quality-terms"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metone.com/wp-content/uploads/2019/07/MET_Beta-Gauge-Booklet-FINAL.pdf" TargetMode="External"/><Relationship Id="rId5" Type="http://schemas.openxmlformats.org/officeDocument/2006/relationships/hyperlink" Target="https://www.airgradient.com/blog/how-accurate-are-pm2-5-reference-monitors/" TargetMode="External"/><Relationship Id="rId4" Type="http://schemas.openxmlformats.org/officeDocument/2006/relationships/hyperlink" Target="https://www.youtube.com/watch?v=OfH04_5HjXg&amp;t=285"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Frame the deck: this is a Melaram-Lab-internal educational briefing on the three pollutants Aidan is now responsible for after the task redistribution — PM2.5, PM10, and VOCs. Coastal Bend focus per Dr. Melaram's guidance. The v0.3.7 EPA hybrid was retired in v0.4.0 and we now run against TCEQ TAMIS as sole source. Deck goal is not to argue a hypothesis — it's to align the team on what each pollutant IS, HOW it's measured, WHY the NAAQS look the way they do, and what specifically is in our database for each. Pace ≈ 90 seconds per slide; total run ≈ 90 min if delivered live, ~30 min if read individually.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groundwork briefing — not a results deck and not a manuscript draft. The trigger was the Jasmine/Manasa/Aidan meeting where we acknowledged that our v0.3.7 time series manuscript didn't adequately explain FRM vs FEM, didn't comment on mid-study instrumentation changes, and didn't propagate that context into the NAAQS + modeling conclusions. This deck brings the whole team to a shared baseline before we build anything downstream. Content is drawn from EPA AMTIC, 40 CFR Part 50, TCEQ TAMIS documentation, and peer-reviewed literature (cited in the References section).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Sections 1-2 are shared background — everyone should read these regardless of which pollutant they own. Sections 3-5 are the pollutants Aidan took at the last team meeting (PM2.5, PM10, VOCs); Manasa now covers ozone + CO; Jasmine covers SO2 + NOx. Section 6 is the bibliography — every peer-reviewed claim in the deck is cited there. Total ~60 slides ≈ 90 min live or ~30 min self-read with notes.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WHY we narrowed from 13 counties to Coastal Bend. Original scope produced ~42 active sites and Bexar alone contributed 14 — too many to hand-audit method codes and sensor changes site-by-site. Coastal Bend gives us ~7 core AQ sites in Nueces + adjacent, letting us do the deep methods work we already know matters. Full 13-county data STAYS in the pipeline — we don't lose it. Follow-on papers can extend scope; this manuscript will not.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One-picture summary of the pipeline. Left → right: TCEQ TAMIS dumps 51 pipe-delimited .txt files in AQS RD v1.6 format (each file = one site or one county-level VOC bundle). step_01b_ingest_tceq_raw.py parses those, applies A/B concatenation for sites like Heritage MS 480290622, converts TCEQ ozone from ppb → ppm (× 0.001), and routes rows by Sample Duration Code (7 or X → pollutant_daily_24hr table; everything else hourly). Downstream steps write partitioned parquet, then step_07 COPY-loads to Neon (10 tables, ~2.4 GB, 54 min). Anyone querying the aq schema in Colab is looking at that final COPY-loaded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our Coastal Bend data lives. Seven AQSIDs matter for Aidan's pollutants:
- 483550025 CC West Pollution Control (Nueces): PM2.5 hourly BAM.
- 483550026 CC Tuloso Midway (Nueces): PM2.5.
- 483550029 CC Hillcrest (Nueces): VOC-only site (24hr AutoGC).
- 483550032 CC Dona Park (Nueces): PM2.5 + 24hr VOC.
- 483550034 CC Holly Rd (Nueces): PM2.5 + 24hr VOC; heavy industrial.
- 483550083 CC Palm Ave (Nueces): the 1hr AutoGC PAMS site — 3.3M VOC rows.
- 482730314 Kingsville (Kleberg): PM2.5 + criteria pollutants.
Note the DIVISION between hourly PM2.5 BAM sites (real-time continuous) and 24hr filter-based sites — this drives the FRM/FEM comparability question.
Note also that PM10 coverage in the Coastal Bend is SPARSE — this will constrain what PM10 analysis we can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the technical scaffolding everyone needs before we go pollutant-specific. If you only read one section of this deck, read this one. It explains WHY two 'PM2.5' numbers from two different Coastal Bend sites may not be directly comparable, and how to tell in a query whether you're looking at gold-standard filter data or a continuous BAM approximation.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distinction. FRM = the definitive federal chemistry-and-hardware combination in 40 CFR Part 50 (mostly filter-based for PM, sits in a lab for weighing; wet chemistry / UV / chemiluminescence for gases). FEM = a specific commercial instrument that EPA has tested and certified as producing statistically equivalent measurements in field conditions, per 40 CFR Part 53. FEMs enable HOURLY data — FRMs typically produce a single 24-hr integrated sample per site per sample day. Neither is inherently 'better' — they measure different things. FRM = compliance-grade truth. FEM = continuous operational data. When someone says 'this site uses FRM,' they mean the site is running a manual filter method whose lab-weighed 24-hr number is the number in the design-value calculation. When someone says 'this site uses FEM,' they mean a continuous automated instrument.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 comes in three flavors. Class I = a manual filter method that behaves essentially like the FRM (same measurement principle, minor hardware differences). Class II = an AUTOMATED filter or filter-equivalent that still measures mass directly. Class III = a COMPLETELY DIFFERENT measurement principle — BAM measures beta-particle attenuation, TEOM measures mass by oscillation frequency, optical instruments measure light scattering. The classification matters because AQS stores Class I under parameter code 88101 (design-value eligible) and Class II/III under 88502 (not eligible). If someone hands you a Coastal Bend PM2.5 annual mean derived from parameter 88502 and claims NAAQS compliance, flag it — that number isn't official.</a:t>
            </a:r>
          </a:p>
          <a:p>
            <a:endParaRPr lang="en-US" dirty="0"/>
          </a:p>
          <a:p>
            <a:r>
              <a:rPr lang="en-US" sz="1200" b="1" u="none" strike="noStrike" kern="1200" dirty="0">
                <a:solidFill>
                  <a:schemeClr val="tx1"/>
                </a:solidFill>
                <a:effectLst/>
                <a:latin typeface="+mn-lt"/>
                <a:ea typeface="+mn-ea"/>
                <a:cs typeface="+mn-cs"/>
              </a:rPr>
              <a:t>BAM</a:t>
            </a:r>
            <a:r>
              <a:rPr lang="en-US" sz="1200" b="0" u="none" strike="noStrike" kern="1200" dirty="0">
                <a:solidFill>
                  <a:schemeClr val="tx1"/>
                </a:solidFill>
                <a:effectLst/>
                <a:latin typeface="+mn-lt"/>
                <a:ea typeface="+mn-ea"/>
                <a:cs typeface="+mn-cs"/>
              </a:rPr>
              <a:t> (Beta Attenuation Monitor) and </a:t>
            </a:r>
            <a:r>
              <a:rPr lang="en-US" sz="1200" b="1" u="none" strike="noStrike" kern="1200" dirty="0">
                <a:solidFill>
                  <a:schemeClr val="tx1"/>
                </a:solidFill>
                <a:effectLst/>
                <a:latin typeface="+mn-lt"/>
                <a:ea typeface="+mn-ea"/>
                <a:cs typeface="+mn-cs"/>
              </a:rPr>
              <a:t>TEOM</a:t>
            </a:r>
            <a:r>
              <a:rPr lang="en-US" sz="1200" b="0" u="none" strike="noStrike" kern="1200" dirty="0">
                <a:solidFill>
                  <a:schemeClr val="tx1"/>
                </a:solidFill>
                <a:effectLst/>
                <a:latin typeface="+mn-lt"/>
                <a:ea typeface="+mn-ea"/>
                <a:cs typeface="+mn-cs"/>
              </a:rPr>
              <a:t> (Tapered Element Oscillating Microbalance) are industry-standard, continuous ambient air monitors used to measure the mass concentration of suspended particulate matter (like PM2.5 or PM10) in the air. Both devices report highly accurate, real-time data in micrograms per cubic meter (μ g/m³).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0" u="none" strike="noStrike" kern="1200" dirty="0">
                <a:solidFill>
                  <a:schemeClr val="tx1"/>
                </a:solidFill>
                <a:effectLst/>
                <a:latin typeface="+mn-lt"/>
                <a:ea typeface="+mn-ea"/>
                <a:cs typeface="+mn-cs"/>
              </a:rPr>
              <a:t>While both instruments physically collect particles from the air, their measurement techniques differ fundamentally: [</a:t>
            </a:r>
            <a:r>
              <a:rPr lang="en-US" sz="1200" b="0" u="none" strike="noStrike" kern="1200" dirty="0">
                <a:solidFill>
                  <a:schemeClr val="tx1"/>
                </a:solidFill>
                <a:effectLst/>
                <a:latin typeface="+mn-lt"/>
                <a:ea typeface="+mn-ea"/>
                <a:cs typeface="+mn-cs"/>
                <a:hlinkClick r:id="rId5"/>
              </a:rPr>
              <a:t>1</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BAM Technology:</a:t>
            </a:r>
            <a:r>
              <a:rPr lang="en-US" sz="1200" b="0" u="none" strike="noStrike" kern="1200" dirty="0">
                <a:solidFill>
                  <a:schemeClr val="tx1"/>
                </a:solidFill>
                <a:effectLst/>
                <a:latin typeface="+mn-lt"/>
                <a:ea typeface="+mn-ea"/>
                <a:cs typeface="+mn-cs"/>
              </a:rPr>
              <a:t> The </a:t>
            </a:r>
            <a:r>
              <a:rPr lang="en-US" sz="1200" b="0" u="none" strike="noStrike" kern="1200" dirty="0">
                <a:solidFill>
                  <a:schemeClr val="tx1"/>
                </a:solidFill>
                <a:effectLst/>
                <a:latin typeface="+mn-lt"/>
                <a:ea typeface="+mn-ea"/>
                <a:cs typeface="+mn-cs"/>
                <a:hlinkClick r:id="rId6"/>
              </a:rPr>
              <a:t>Beta Attenuation Monitor</a:t>
            </a:r>
            <a:r>
              <a:rPr lang="en-US" sz="1200" b="0" u="none" strike="noStrike" kern="1200" dirty="0">
                <a:solidFill>
                  <a:schemeClr val="tx1"/>
                </a:solidFill>
                <a:effectLst/>
                <a:latin typeface="+mn-lt"/>
                <a:ea typeface="+mn-ea"/>
                <a:cs typeface="+mn-cs"/>
              </a:rPr>
              <a:t> draws air through a specialized filter tape. It uses beta radiation to measure the attenuation (absorption) of beta rays as dust accumulates on the tape. As more particles block the beta particles, the attenuation changes, allowing the device to calculate particulate mass. [</a:t>
            </a:r>
            <a:r>
              <a:rPr lang="en-US" sz="1200" b="0" u="none" strike="noStrike" kern="1200" dirty="0">
                <a:solidFill>
                  <a:schemeClr val="tx1"/>
                </a:solidFill>
                <a:effectLst/>
                <a:latin typeface="+mn-lt"/>
                <a:ea typeface="+mn-ea"/>
                <a:cs typeface="+mn-cs"/>
                <a:hlinkClick r:id="rId7"/>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TEOM Technology:</a:t>
            </a:r>
            <a:r>
              <a:rPr lang="en-US" sz="1200" b="0" u="none" strike="noStrike" kern="1200" dirty="0">
                <a:solidFill>
                  <a:schemeClr val="tx1"/>
                </a:solidFill>
                <a:effectLst/>
                <a:latin typeface="+mn-lt"/>
                <a:ea typeface="+mn-ea"/>
                <a:cs typeface="+mn-cs"/>
              </a:rPr>
              <a:t> The </a:t>
            </a:r>
            <a:r>
              <a:rPr lang="en-US" sz="1200" b="0" u="none" strike="noStrike" kern="1200" dirty="0">
                <a:solidFill>
                  <a:schemeClr val="tx1"/>
                </a:solidFill>
                <a:effectLst/>
                <a:latin typeface="+mn-lt"/>
                <a:ea typeface="+mn-ea"/>
                <a:cs typeface="+mn-cs"/>
                <a:hlinkClick r:id="rId3"/>
              </a:rPr>
              <a:t>Tapered Element Oscillating Microbalance</a:t>
            </a:r>
            <a:r>
              <a:rPr lang="en-US" sz="1200" b="0" u="none" strike="noStrike" kern="1200" dirty="0">
                <a:solidFill>
                  <a:schemeClr val="tx1"/>
                </a:solidFill>
                <a:effectLst/>
                <a:latin typeface="+mn-lt"/>
                <a:ea typeface="+mn-ea"/>
                <a:cs typeface="+mn-cs"/>
              </a:rPr>
              <a:t> draws air through a filter mounted on the tip of a hollow, oscillating glass tube. As particulate matter collects on the filter, the added weight changes the natural oscillation frequency of the tube. The device measures these exact frequency shifts to continuously calculate the mass of the trapped dust. [</a:t>
            </a:r>
            <a:r>
              <a:rPr lang="en-US" sz="1200" b="0" u="none" strike="noStrike" kern="1200" dirty="0">
                <a:solidFill>
                  <a:schemeClr val="tx1"/>
                </a:solidFill>
                <a:effectLst/>
                <a:latin typeface="+mn-lt"/>
                <a:ea typeface="+mn-ea"/>
                <a:cs typeface="+mn-cs"/>
                <a:hlinkClick r:id="rId8"/>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AQS parameter codes are how EPA (and TCEQ, and our pipeline) uniquely identify what chemical species a row of data measures. 5-digit integers, assigned by EPA, series-prefixed by category. The tricky part is that the same physical species can have multiple parameter codes if it's measured by different methods — this is most acute for PM2.5, where 88101 covers the FRM/Class-I-FEM subset (design-value eligible) while 88502 covers Class II/III continuous data (near-real-time only). Our pipeline preserves the code untouched from TCEQ TAMIS so we can filter on this distinction. For anyone building a query: query aq.parameter_reference first to see the full list of codes we actually hold, along with pollutant_group, chemical family, units, and HAP flag.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codes = the layer BELOW parameter codes. Parameter code says WHAT was measured (PM2.5, benzene, ozone); method code says WITH WHICH INSTRUMENT. TCEQ files carry both. The last 3 digits of the EPA FRM/FEM designation typically become the method code — that's the convention. So Met One BAM 1020 designated EQPM-0798-122 shows up as method 122; the same manufacturer's later BAM 1020 designation EQPM-0308-170 becomes method 170 (though that specific number is TEOM in AQS — the convention isn't perfect). Always cross-check the AQS methods HAP list. What we care about: knowing which methods are Class I vs Class III, and detecting when a method code CHANGES mid-record for a single site. That change moment is often a sensor swap that could bias our multi-year time series.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duration codes come from field 8 of the AQS RD Transaction format. Code 1 is our workhorse — most FEM continuous monitors report hourly. Code 7 is the classic 24-hour block from midnight to midnight, used by FRM filter samplers (weighed for the full day) and by canister-based VOC sampling. Codes W and Z are how ozone 8-hour rolling averages get stored — you'll see these downstream when we compute NAAQS design values, though our raw ingest doesn't typically write them (step 03 computes 8-hr max from hourly ozone). Our step_01b routes anything with duration 7 or X to aq.pollutant_daily_24hr instead of pollutant_hourly — that keeps the hourly table conceptually clean (only actual hourly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are largely aligned between EPA and TCEQ for our purposes — with one exception: OZONE. TCEQ reports ozone in ppb; EPA's NAAQS is stated in ppm. Our step_01b applies a ×0.001 conversion once, at ingest, so downstream code always works in ppm. For everything else Aidan's working on: PM2.5 and PM10 are in µg/m³ (no conversion), VOCs are in ppbC (Parts Per Billion Carbon — a standard PAMS convention that normalizes hydrocarbons of different chain length to their carbon content, which is the reactive currency in ozone chemistry). If you see a benzene reading of 6 ppbC, that means 6/6 = 1 ppbv (6 carbons in benzene). VOC concentrations in mass units (µg/m³) are computed as ppbv × MW / 24.45 at 25°C — we do NOT apply this conversion in the pipeline; users do it in analysis code when needed.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of the most consequential sensor / regulation changes over our 2015-2025 window. Most impactful for Aidan's pollutants: (a) the TEOM 1400 losing FEM status around 2018 because of semi-volatile organic aerosol loss in warm climates like the Coastal Bend — many sites transitioned to BAM 1020 or upgraded to TEOM 1405-F with FDMS; (b) the Feb 2024 PM2.5 annual NAAQS tightening from 12 to 9 µg/m³, which changes what our sites look like on the exceedance map (Corpus Christi Holly and Dona Park now exceed the annual standard where they didn't before); (c) low-cost sensors like PurpleAir proliferated 2020+ but they are NOT FEM-eligible and have documented accuracy issues at coastal high-RH conditions — we don't ingest them but users should know the landscape.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caveats to keep in mind for every downstream analysis. These are all surfaced BEFORE we get pollutant-specific so nobody skips them. The biggest three: (1) method-code changes mid-record for a single site (we must audit for these); (2) the 88101 / 88502 split for PM2.5 (design-value calculations must filter to 88101 only); (3) the 1-hr / 24-hr AutoGC distinction for VOCs (aggregation windows are apples-to-oranges if you're not careful). Each pollutant section will re-raise the relevant caveats in context.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PM2.5 is our biggest pollutant by row-count in Coastal Bend and the one with the tightest 2024 regulatory changes. This section covers: what PM2.5 is (chemistry + size), where it comes from, why health effects drove the Feb 2024 NAAQS tightening from 12 to 9 µg/m³, the FRM/FEM landscape (filter vs BAM vs TEOM-FDMS), the 88101 vs 88502 parameter code distinction that matters for design values, weather relationships, and finally what our Coastal Bend sites actually show in 2024.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definition. Two key concepts: (1) 'aerodynamic diameter' is not the physical size — it's the equivalent unit-density sphere with the same settling velocity, which is what determines respiratory deposition. (2) PM2.5 is a MIXTURE, not a molecule. Sulfate, organic carbon, elemental carbon, nitrate, sea salt, crustal dust, ammonium, and trace metals all contribute. Coastal Bend composition is heavy on organic carbon (from refinery VOC oxidation → SOA), sulfate (SO2 oxidation from refineries + shipping bunker fuel), and sea salt (dominant natural component). This matters because different constituents drive different health effects — sulfate and secondary organic aerosols are more strongly linked to cardiovascular endpoints than crustal dust.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PM2.5 in the Coastal Bend has three simultaneous source classes. Primary anthropogenic is dominated by the Port of Corpus Christi and the refinery row — diesel exhaust from marine + trucking, plus primary EC/OC and metals from the six major Nueces refineries. Primary natural is dominated by sea salt (baseline year-round) and Saharan dust (June-August). Secondary formation matters more here than most people realize: refinery SO2 → sulfate, NOx → nitrate, and aromatic + olefinic VOCs → SOA. The Ship Channel plume aged over a few hours downwind produces measurable SOA at Hillcrest/Dona Park/Holly. Because of the sea breeze/land breeze cycle, sites near the shore can see dramatic diurnal swings — the sea breeze at 12-3 PM can recirculate morning Ship Channel emissions right back over residential neighborhoods.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PM2.5 health literature is the largest and most consistent body of environmental epidemiology. Chronologically: Dockery 1993 was the landmark small-N study; Pope 2002 scaled to 1.2M adults; Krewski 2009 was the HEI reanalysis that validated the Pope findings under intense scrutiny; Di 2017 used the Medicare cohort (60.9M) and — most importantly for the 2024 NAAQS revision — demonstrated significant mortality effects BELOW the then-current annual standard of 12 µg/m³. That's the study EPA cited most heavily when proposing the tightening to 9 µg/m³. IARC's 2013 classification of outdoor air as Group 1 carcinogen (lung cancer, sufficient evidence) is the standing regulatory-toxicology anchor. GBD 2019 gives the global scale.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organ-system domains. Cardiovascular has the strongest causal evidence — AHA formally declared causation in 2010. Respiratory + lung cancer is the classical pathway (IARC Group 1 since 2013). Neurological is emerging — 2017 Lancet paper, 2023 BMJ meta-analysis both find dementia incidence increases per µg/m³. Prenatal is especially relevant here: Bekkar 2020 explicitly identified Black mothers and asthmatic populations as high-risk, which maps onto the Hispanic/Latino populations near the Corpus Christi Ship Channel (Hillcrest, Dona Park, Holly) that our sites monitor. This is where the health justice angle sits — even without doing health analysis in this manuscript, it's context to be aware of.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Feb 2024 tightening from 12 to 9 µg/m³ is the most consequential regulatory change of our study window. It moved multiple South Texas sites — including Corpus Christi Holly (11.61) and Dona Park (10.34) — from attainment to exceedance for the annual standard. Cameron County's Port Isabel (21.02) was already exceeding the old 12 standard but is now far above the new 9. First area designations were scheduled for 2026 with compliance deadlines beginning 2032. Note the WHO guideline is already at 5 µg/m³ — essentially every Coastal Bend site exceeds WHO. Note also EPA in 2025 announced reconsideration of the 9 µg/m³ standard; as of mid-2026 the 9.0 standard remains in effect pending outcome of that rulemaking. If we present this deck to a broader audience, flag that this is a live regulatory moment.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FRM is the compliance-grade truth-teller for PM2.5. Filter-based gravimetric — you pull air through a size-selective inlet, deposit particulate on a Teflon filter, equilibrate it at controlled temperature and humidity, and weigh the filter before and after. Simple, direct, hard to bias. The tradeoffs are that it's SLOW (24-hr integrated) and MANUAL (people go collect filters, drive them to a lab, weigh them). EPA schedules FRM sampling at typically 1-in-3 or 1-in-6 days at each site. That's fine for NAAQS compliance — you don't need diurnal data to compute an annual mean or 98th percentile 24-hr value. But it's insufficient for episode analysis, real-time public warning, or meteorological correlation at hourly scale — which is why FEM continuous methods exist.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BAM 1020 is our workhorse for hourly PM2.5 in Coastal Bend. The physics: particulate deposits on a filter tape, a C-14 beta source on one side and a Geiger detector on the other measure how much the loaded spot attenuates beta particles — more particulate = more attenuation. Beer-Lambert converts that to mass concentration. TCEQ adopted BAM 1020 across CAMS in the early 2010s replacing the failed TEOM 1400. The important nuance in Corpus Christi is that high humidity + sea-salt aerosol causes hygroscopic growth that can inflate BAM readings 10-15% relative to what a co-located gravimetric FRM would report. TCEQ applies a correction at the CAMS level; users of aq.pollutant_hourly are seeing the corrected values. Method codes 122, 145, 170, 209, 227, 266, and 736 all point to some BAM 1020/1022 configuration.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FEM alternatives worth knowing for Coastal Bend. TEOM 1405-F with FDMS is the top-tier continuous FEM — it directly addresses the semi-volatile organic aerosol loss problem that killed the older TEOM 1400. But it's expensive (~3× BAM cost), so TCEQ has selectively deployed it. Optical particle spectrometers (GRIMM, Thermo SHARP) are the third path — size-resolved by laser scattering, Class II FEM. Low-cost sensors (PurpleAir etc.) have proliferated since 2018 but are NOT FEM. For Corpus Christi specifically, PurpleAir data should be viewed with extra caution because of the chronic high humidity — the sensor's positive bias is worst exactly in the meteorological regime we operate in. If we want to use citizen-science PurpleAir data for supplementary spatial coverage, we'd need to apply EPA's PurpleAir correction equation.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slide is the single most important operational takeaway for anyone querying aq.pollutant_hourly for PM2.5. Parameter code 88101 = 'PM2.5 Local Conditions' = the design-value-eligible subset. Includes FRM filter data (24-hr integrated) and any continuous FEM data that TCEQ has validated for regulatory use. Parameter code 88502 = 'Acceptable PM2.5 AQI and Speciation Mass' = continuous BAM/TEOM data intended for near-real-time AQI but NOT eligible for design value calculation. If someone gives you a 'PM2.5 annual mean' derived from 88502 data and claims NAAQS compliance, it's technically not — the official design value is what compliance is measured against, and that comes from 88101 only. Our pipeline holds both codes in aq.pollutant_hourly. Filter accordingly. This is the failure mode Aidan flagged in the last team meeting — we can't publish PM2.5 numbers without knowing which code they came from.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method codes we're likely to encounter for PM2.5. The critical ones: 142 = filter FRM (compliance-grade); 145/209/266 = BAM 1020 continuous; 181 = TEOM-FDMS (semi-vol corrected); 227/736 = BAM 1022 (trace). Method 170 flags a legacy TEOM 1400 — if you see this in a site's history and then it disappears around 2018, that's likely the FEM-designation withdrawal event and the site probably swapped to a BAM. Method 141 is hi-vol PM10 (Appendix J) — it appears in our data at site 480290060 Palo Alto which is a 24-hr-only PM10 site (routed to aq.pollutant_daily_24hr, not the hourly table). The diagnostic query at the bottom of the slide is the quickest way to identify AQSIDs with mid-record sensor changes.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PM2.5 sensor story for our 2010-2025 window. Three transitions matter most for our Coastal Bend sites: (1) The BAM 1020 rollout ~2013 — this affected ALL CAMS sites. Pre-2013 continuous data may be TEOM 1400. (2) The TEOM 1400 FEM-designation withdrawal in 2018 — any site still on 1400 at that point had to swap or its data lost regulatory value. (3) The BAM 1022 upgrades starting 2015-ish (method 227/736) — these have better precision at low concentrations and matter more now that the annual NAAQS is 9 µg/m³ (small biases matter more when the threshold is lower). We should query our data to find the specific transition dates at each of our 5 Coastal Bend PM2.5 sites and document them in the methods section.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 explains up to 50% of daily PM2.5 variance across the US per Tai et al. 2010 — this is the standard reference for weather-PM regression. For the Coastal Bend specifically, the sea-breeze/land-breeze cycle is the dominant mesoscale forcing and it MUST be resolved in any analysis. Wind direction is our single strongest source-attribution lever — conditional bivariate probability functions (CBPF) at CC Hillcrest/Dona Park/Holly should show characteristic rose alignments with the Ship Channel bearing during industrial episodes and ESE alignment during Saharan events. Humidity is a measurement-artifact issue — BAM and optical readings inflate at high RH from sea-salt hygroscopic growth. FRM controls this via 30-40% RH lab equilibration; continuous FEM data in Corpus's chronic 74-78% RH needs careful interpretation.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deck lands on actual data. Three sites in our region exceed the new 9 µg/m³ annual standard for 2024 alone: Port Isabel (Cameron; 21 µg/m³ — extreme, needs investigation), Corpus Christi Holly (Nueces; 11.61 — the most consequential for population exposure), and Corpus Christi Dona Park (Nueces; 10.34). Two sites exceed the 24-hr 98th percentile: Port Isabel and CC Holly with Brownsville Roca at 36.56 also over 35. The important interpretive move: NAAQS compliance is judged on a 3-YEAR ROLLING AVERAGE, not a single year, so a single-year exceedance is not automatically a violation. We need to compute 3-yr rolling design values before making compliance claims. And critically — verify these values were computed from parameter code 88101 only, not from 88502. This is exactly the type of analysis that should live in Aidan's manuscript.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PM10 in the Coastal Bend has SPARSE coverage compared to PM2.5 — that's a genuine data-availability limitation. But it stays scientifically important because (a) sea salt is a first-order coarse source that PM2.5 misses, (b) Saharan dust events deliver biological + metal cargo with documented health effects, (c) recurrent La Niña + drought increases local dust generation. This section is shorter than PM2.5 by design — reflects both the data and the science.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PM10 is defined by aerodynamic diameter ≤ 10 µm — the fraction small enough to pass the larynx and reach the thoracic region. Critically, PM10 CONTAINS PM2.5 within it: the coarse mode is PM10-minus-PM2.5, roughly 2.5-10 µm. Chemistry of the coarse mode is very different from PM2.5 — mostly primary and mechanically-generated: crustal (Al/Si/Ca/Fe from wind-blown dust), sea salt (Na/Cl/Mg from Gulf whitecaps), and biological (pollen, fungal spores, bacteria). The deposition diagram on the right shows why size matters: PM10 deposits mostly in upper airways (nose, throat, upper bronchi) where mucociliary clearance operates; PM2.5 penetrates to alveoli where systemic inflammation and cardiovascular pathways activate. This drives different regulatory approaches (24-hr PM10 vs annual PM2.5) and different epidemiological signals.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PM10 in the Coastal Bend has three dominant classes: (1) sea salt — the year-round baseline, driven by prevailing SE Gulf winds. Bubble bursting in whitecaps produces droplets that evaporate to leave salt particles in the coarse mode. (2) Windblown dust — locally from agricultural belts (sorghum, cotton, corn) and increasingly from drought-induced soil exposure; long-range from the Sahara during June-August. (3) Anthropogenic fugitive — the Port of Corpus Christi (largest US crude oil export port) is a major bulk-materials handler and diesel-traffic hub with associated coarse-PM emissions along the Ship Channel corridor. All three are simultaneously active. Wind direction is the diagnostic tool — ESE = marine + Saharan; NW/N = agricultural/urban; ENE = industrial.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Saharan dust deserves its own slide because it's the single largest episodic driver of PM10 in the Coastal Bend, and because it's meteorologically coupled to hurricane suppression in a way that makes the trend analysis interesting. Peak season is June-August, driven by African easterly wave activity and the Saharan Air Layer. Multi-day pulses can double daily PM10 at coastal sites. Bozlaker's group has quantified the Houston contribution and its biological cargo. Ortiz-Martínez showed the health signal in Puerto Rico (endotoxin → asthma exacerbation) which is mechanistically portable to the Gulf Coast. Prospero &amp; Mayol-Bracero (2013) documented the hurricane suppression coupling — heavy dust weeks reduce cyclogenesis. This means dust-heavy years may show lower hurricane frequency AND higher PM10 simultaneously — a joint climate variable, not two independent ones.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PM10 health effects are DISTINCT from PM2.5's — not just a diluted version. Coarse-fraction toxicology centers on upper-airway inflammation, mucociliary irritation, and biological cargo delivery. The Adar 2014 systematic review is the key coarse-PM epidemiology reference — coarse-PM respiratory associations are as strong as (or stronger than) PM2.5 in that dataset. Cardiovascular signal is weaker than PM2.5 (AHA 2010 said 'suggestive' not causal). The distinctive PM10 health story is BIOLOGICAL CARGO — endotoxin, fungal β-glucans, bacteria delivered by dust events (Ortiz-Martínez 2015, Bozlaker 2024). Even if we don't do health analysis in this manuscript, the story matters for framing why PM10 is worth studying alongside PM2.5 even with our sparse coverage.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facts about PM10 NAAQS. First: only the 24-hr standard remains (150 µg/m³, not to be exceeded more than once per year on average over 3 years). Second: the annual 50 µg/m³ standard was REVOKED in 2006, and EPA's reasoning was that (a) chronic PM10-only effects — as distinct from PM2.5 within PM10 — were epidemiologically weak, and (b) PM10 as an indicator is a poor match to the true coarse fraction. So chronic PM regulation moved to PM2.5, and PM10 stayed as an episodic-event standard. The Exceptional Events Rule matters here: Texas has used it to exclude Saharan dust intrusion exceedances from regulatory determinations. So a single 200 µg/m³ 24-hr value in Corpus during a Godzilla plume doesn't automatically create a violation — TCEQ can petition EPA to exclude it as an exceptional event.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PM10 measurement mirrors PM2.5 with a few key differences. FRM is 40 CFR Part 50 Appendix J — 24-hr gravimetric filter through a 10-µm size-selective inlet, mass reported at STP (25°C, 1 atm — this is different from PM2.5 which is reported at local conditions). Hi-vol samplers like Wedding, Andersen SA-2000, and Graseby GMW-321 are the classical hardware. Continuous FEM options are BAM 1020 (same physics as PM2.5 BAM, different inlet), TEOM 1400/1405 (frequency-shift; importantly, the semi-volatile loss issue that killed PM2.5 TEOM designations is much smaller for PM10 because coarse aerosol is less volatile), and optical spectrometers (GRIMM, Thermo SHARP). Low-cost sensors are essentially useless for PM10 — Kaur &amp; Kelly 2023 documented 5-6× underestimation during dust events, which is exactly when you'd want to use PurpleAir for supplementary coverage.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PM10, three parameter codes and five method codes matter for our data. Parameter 81102 (PM10 STP) is the dominant one — it's what the 24-hr NAAQS is judged against. 85101 (PM10 LC) is less common. 86101 is the derived PM10-2.5 coarse fraction — only computable where paired PM10 and PM2.5 exist, which in the Coastal Bend is rare enough that coarse-mode analysis will be spatially patchy. Method codes: 141 is the hi-vol FRM (24-hr filter); 145 and 209 are BAM 1020 continuous; 149 is a BAM variant; 122 is legacy TEOM. Units note: PM10 at STP vs LC is a small difference (~1.7%) at Coastal Bend elevations but should be tracked in metadata for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PM10 has stronger and more mechanistically interpretable meteorological dependencies than PM2.5. Wind speed is critical (u*³ scaling for wind-blown dust; also drives sea spray). Wind direction gives source attribution. Precipitation strongly scavenges via below-cloud impaction — coarse particles are highly efficient scavengers. RH matters through sea-salt hygroscopic growth. Two large-scale climate modes: ENSO (La Niña → South Texas drought → dust) and Saharan-dust/hurricane coupling (heavy dust years suppress cyclogenesis AND deliver PM burden). The 2020-2025 Southern Plains drought under consecutive La Niña years is documented in the NOAA 2025 assessment — this drove recent PM10 dust events in Texas.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Wrapping the PM10 section. Two important takeaways: (1) Coastal Bend PM10 coverage is genuinely sparse — TCEQ has historically prioritized PM2.5, ozone, and VOCs over PM10 in this region. Our ~87,990 total PM10 rows are spread across the state; Coastal Bend candidates are CC Holly and CC Dona Park (needs audit) plus the 24-hr Palo Alto FRM (outside Coastal Bend). No 2024 NAAQS exceedances, consistent with background behavior. (2) But PM10 remains scientifically important in the Coastal Bend for four reasons: sea salt (missed by PM2.5), Saharan dust with biological cargo, La Niña-driven local dust, and port fugitive dust with environmental-justice implications. Our recommendation for the manuscript framing: acknowledge the coverage limitation, but argue for its retention and expansion — don't treat PM10 as a legacy metric to be dropped.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VOCs are the most complex pollutant class in our data — no single NAAQS, 47 distinct chemical species in our pipeline, two different sampling paradigms (continuous AutoGC vs 24-hr canister), and multiple regulatory frameworks (HAP §112(b), PAMS, TCEQ ESL). The Coastal Bend has 3.3M rows at just one site — CC Palm — plus smaller 24-hr datasets at Hillcrest, Dona Park, and Holly.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VOCs are defined by EPA as carbon-containing compounds that participate in atmospheric photochemistry — with explicit exemptions for CO, CO2, methane, and a growing list of low-reactivity species (ethane exempted 2005, followed by acetone, HFCs, etc.). The regulatory definition matters for state SIP-VOC accounting but NOT for our pipeline — we ingest every 43xxx and 45xxx species TCEQ measures. Four reasons to track VOCs: they're the primary ozone precursors alongside NOx (which Jasmine handles); they oxidize to secondary organic aerosol (linking to Aidan's PM2.5 work); several are direct-exposure HAPs (benzene = Group 1 human carcinogen); and the speciation lets us fingerprint sources (benzene/toluene ratio distinguishes mobile from refinery emissions).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47 VOC species in our pipeline sort into four chemical families. PARAFFINS (alkanes) are the largest — 21 species from ethane through n-undecane and 2-methylheptane. These are combustion + fugitive fuel vapor. CYCLOALKANES are the smallest family (4 species) but important in refinery signatures. OLEFINS (alkenes, dienes, alkynes) include the very-reactive 1,3-butadiene (HAP + Group 1 carcinogen) and biogenic isoprene (dominant natural source). AROMATICS include BTEX (benzene/toluene/ethylbenzene/xylenes — all HAPs) plus trimethylbenzenes, styrene, and cumene. Ten of the 47 species are HAPs under CAA §112(b); benzene and 1,3-butadiene are IARC Group 1 human carcinogens. The parameter reference table in aq.parameter_reference has the is_hap flag pre-computed.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 health effects are compound-specific. The two biggest concerns for ambient exposure are benzene (Group 1 carcinogen; acute myeloid leukemia) and 1,3-butadiene (Group 1; hematolymphatic cancer). Butadiene is nearly 4× more potent per unit mass. BTEX collectively (benzene, toluene, ethylbenzene, xylenes) are the workhorse industrial air toxics — all HAPs, all measured by AutoGC in the Coastal Bend at CC Palm. n-Hexane is a HAP but for neurotoxicity (peripheral neuropathy) rather than cancer; ambient levels are typically well below occupational thresholds. TCEQ's Effects Screening Levels are the state-level toxicological benchmarks (short-term 1-hr + long-term annual). Ambient carbonyls (formaldehyde etc.) aren't in our current TCEQ pull — noting them because they're required at PAMS Type 2 sites and formaldehyde is Group 1.</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 Air Act §112(b) HAP framework — 188 pollutants regulated by MACT standards under NESHAPs in 40 CFR Part 63. Two big Coastal Bend relevances: (1) Subpart CC and UUU — Petroleum Refineries — the 2015 amendments introduced FENCELINE BENZENE MONITORING with an action level of 9 µg/m³ annual average. This is why Corpus Christi refineries have benzene monitors along their perimeter fences. If a fenceline monitor exceeds action level, the refinery has to take corrective action. (2) Subpart U covers polymers and resins production (butadiene, styrene). Our 10 HAPs sort into three tiers: Group 1 (benzene, butadiene — definitively carcinogenic), Group 2A/2B (ethylbenzene, isopropylbenzene, styrene — probably or possibly), and Group 3 (toluene, xylenes — insufficient evidence). n-Hexane and 2,2,4-TMP are HAPs for reasons other than cancer (neurotoxicity, generic tox).</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VOCs sit in a regulatory space very different from criteria pollutants — NO NAAQS applies to VOCs as a class, but they're regulated three different ways. Federal: (a) indirectly via the ozone NAAQS (VOC + NOx are the O3 precursors), (b) indirectly via PM2.5 NAAQS (SOA from VOCs), (c) directly via NESHAP MACT for HAPs. Texas: TCEQ publishes Effects Screening Levels (ESLs) — screening benchmarks used in permitting and ambient review, but NOT enforceable standards. Short-term ESL = 1-hr acute; long-term = annual chronic. Air Pollutant Watch List flags areas with persistent elevated toxics. Mobile-source: MSAT2 rule capped gasoline benzene at 0.62 vol% annual avg from 2011 — this is why urban ambient benzene has been declining. Mobile sources historically account for 50-60% of ambient benzene exposure nationally.</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PAMS is the federal enhanced-monitoring backbone for ozone nonattainment areas. Established by CAA §182(c)(1) in 1990, expanded in the 2015 NAAQS revision. Nonattainment-triggered — Serious, Severe, or Extreme classifications require it. Post-2015: any NCore site in a CBSA ≥ 1M population must collect PAMS. San Antonio is Serious nonattainment (bumped 2024). Corpus Christi is currently Attainment, so PAMS is not federally required there — BUT TCEQ operates AutoGC sites in Corpus voluntarily (CC Palm is our data source), which is the origin of our 3.3M-row 1-hr VOC dataset. Required measurements include hourly speciated VOCs (the 57-compound PAMS target list), carbonyls every 3 hours at Type 2 sites, hourly O3 + NO + true NO2 + NOy, and full surface meteorology. Site types classify by function: background, max precursor impact, max ozone, downwind.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AutoGC is the technology behind our 3.3M-row 1-hr VOC dataset at CC Palm and the county-level VOC files. The workflow: sample ambient air every hour, preconcentrate on a Peltier-cooled sorbent trap, ballistic-heat to desorb, separate on a dual-column GC (alumina PLOT for light hydrocarbons + non-polar DB-1 for heavier aromatics), detect with dual flame ionization detectors (FID gives carbon response — this is why results are reported in ppbC not ppbv). Cycle time 20-60 min. Commercial systems: Markes TT24-7 (US PAMS reference), Synspec GC955 (EU-common turnkey), Chromatotec airmoVOC (dual-FID, lowest detection limits), PerkinElmer Clarus (legacy), Entech+Agilent (cryogenic, GC-MS confirmation). Calibrated against 57-component PAMS gas standards. TCEQ standardized on some subset of these; the specific system at CC Palm should be documented in TCEQ's Annual Monitoring Network Plans.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TO-15 is the EPA canister-based GC/MS method for ambient VOCs. Two versions matter: the original 1999 TO-15 (EPA/625/R-96/010b) covered ~65-70 HAPs at 200-500 pptv reporting limits, suitable for soil vapor and moderate ambient. The 2019 TO-15A tightened the reporting limit 10× (to 20 pptv), reduced the calibration ceiling to focus on low-level linearity, and added a 30-day canister stability test. TO-15A MDLs for benzene and toluene are ~5-15 pptv. Canisters are SUMMA-passivated stainless steel (standard) or Silonite (more inert). 6L canisters are the NATTS standard for 24-hr integrated samples. Programs using TO-15: NATTS (27 sites nationwide), UATMP, PAMS confirmation, state networks. For our Coastal Bend data: the 24-hr AutoGC at CC Hillcrest, Dona Park, and Holly serves a similar temporal cadence to TO-15 canister sampling.</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AQS parameter code series for VOCs are 43xxx (alkanes, alkenes, alkynes, oxygenates) and 45xxx (aromatics). Special code 43000 is a computed sum of PAMS target compounds; 43102 is total NMOC (bulk sum via TO-12 cryogenic method — not per-species). The table on the right shows a representative sample from our data with HAP flags. Note key species: 45201 = Benzene (Group 1 carcinogen), 43218 = 1,3-Butadiene (Group 1), 43231 = n-Hexane (HAP for neurotoxicity), 43250 = 2,2,4-TMP (isooctane, HAP). Isoprene 43243 is biogenic (dominant natural source, from vegetation) — always visible in summer daytime data. 43202 ethane is regulatory-exempt but we still measure it. Full 57-species list lives in aq.parameter_reference on Neon with is_hap and chemical_family columns pre-computed.</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 method codes break into three categories. AutoGC methods (128, 142, 146) = continuous hourly PAMS-style; these are what generate our 3.3M-row CC Palm dataset. Canister PAMS methods (122, 123) = 6-L canister 24-hr integrated samples analyzed by dual-FID; these are what our 24-hr sites (CC Hillcrest, Dona Park, Holly) most likely use. TO-15 GC/MS methods (109, 110, 127, 129) = canister samples analyzed by mass spectrometry for HAP confirmation — the NATTS reference standard. Query aq.pollutant_hourly (or the vocs_1hr and vocs_24hr tables) with method_code to disambiguate.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 units confusion is one of the most common analysis pitfalls. TCEQ TAMIS and EPA AQS both report VOCs in ppbC (parts per billion Carbon) — NOT ppbv (parts per billion volume). To convert: divide by carbon count of the molecule. A benzene reading of 6 ppbC = 1 ppbv (benzene has 6 carbons). A toluene reading of 7 ppbC = 1 ppbv. This convention exists because ozone-formation potential scales roughly with reactive carbon count, so ppbC gives a natural comparison across species of different chain length in photochemical modeling. For MASS units (µg/m³): µg/m³ = ppbv × MW / 24.45 at 25°C, 1 atm. The conversion table on the right shows worked examples for the key HAPs. Users doing health-risk analysis typically want µg/m³ so they can compare to EPA IRIS RfC values — that requires converting ppbC → ppbv → µg/m³.</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Coastal Bend VOC sources cluster in three geographic regions. In Nueces County immediately: (a) the Corpus Christi Ship Channel refinery corridor — six major refineries with associated fugitive BTEX emissions, fenceline benzene monitoring per 2015 NESHAP CC + UUU amendments (9 µg/m³ action level); (b) the Port of Corpus Christi — largest US crude oil export port with associated tanker loading vapor + diesel bunker emissions. Regional: (c) Eagle Ford Shale — Karnes, Wilson, Atascosa are the production counties; Nueces is downwind. Ubiquitous: mobile sources (diesel + gasoline along I-37, US 77, US 181; declining under MSAT2). Natural: isoprene from vegetation dominates midday summer VOC totals at background sites — this is why any anthropogenic-source-attribution analysis must separate biogenic from anthropogenic signal (typically via the isoprene time series or a chemical mass balance).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our Coastal Bend VOC dataset actually looks like. CC Palm dominates by volume: 3.3M rows of 1-hr AutoGC. The three 24-hr sites (Hillcrest, Dona Park, Holly) contribute ~30k rows each. The 24-hr sites are geographically closer to the Ship Channel residential exposure zone. Two operational reminders: (1) don't compare 1-hr Palm means directly to 24-hr Hillcrest means — different sampling windows produce different-looking distributions because Palm sees the diurnal peaks and Hillcrest averages them out. (2) The rich speciation at CC Palm is a genuine analytical asset — with 47 species hourly for a decade, we can do PMF source apportionment, ratio diagnostics (benzene/toluene ratios distinguish mobile from refinery signatures; isoprene fraction identifies biogenic contribution), and cluster analysis on wind-direction-conditioned VOC profiles.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 diurnal behavior in the Coastal Bend is driven by six mechanisms interacting: (1) temperature — increases biogenic isoprene emissions exponentially AND evaporative fuel losses AND OH reaction rates. Nonlinear net effect: usually a midday reactive-VOC minimum and early-morning peak. (2) Wind direction — the strongest source-attribution lever. CBPF plots at CC Palm by chemical species should reveal Ship Channel, urban, and Eagle Ford transport signatures. (3) Boundary layer height — nocturnal trapping → morning VOC peaks; daytime dilution. (4) OH reactivity — reactive species (butadiene, aromatics) show midday minima; unreactive (ethane) don't. Ratio gives photochemical age. (5) Humidity — matters for aqueous-phase oxidation of polar VOCs. (6) Sea-breeze cycle — critical mesoscale modulator; morning offshore, afternoon onshore, can produce double-peak diurnals at recirculation sites.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Cross-pollutant table for at-a-glance comparison; concrete next-step tasks for our own work; then the peer-reviewed bibliography and contact page.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reference sheet comparing the three pollutants side-by-side across the ten dimensions we've covered. Useful as a printable cheat sheet during analysis. Points worth calling out live: (a) PM2.5 is the only pollutant of the three with recent (2024) NAAQS tightening; (b) PM10 has NO annual standard since 2006; (c) VOCs have no NAAQS at all — regulated through ozone/PM NAAQS and HAP NESHAP instead; (d) our Coastal Bend data volume is dominated by CC Palm's 3.3M VOC rows and the PM2.5 hourly BAM sites — everything else is much smaller.</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next-step tasks for Aidan's PM2.5 + PM10 + VOCs work, flowing directly from the deck's technical content. In priority order: (1) method-code audit — flag every site with mid-record changes; (2) separate 88101 from 88502 for PM2.5 design-value work (and confirm this against the numbers in aq.naaqs_design_values); (3) PM10 site inventory for Coastal Bend specifically; (4) VOC exploratory descriptives at CC Palm — start with monthly medians, CBPFs, and diurnal profiles; (5) weather-station pairing sanity check; (6) draft methods section from this deck. Manasa's ozone/CO work and Jasmine's SO2/NOx work should follow parallel pipelines with their own dossiers.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1 of 2 — foundational regulatory + PM2.5 health literature. Every peer-reviewed citation used in the deck is listed here or on the next slide. APA-formatted with DOIs where available. Users who want to dig into any specific claim can go straight to the primary source. The 89 FR 16202 citation is the 2024 PM2.5 NAAQS revision Federal Register notice — the authoritative reference for the 9 µg/m³ standard.</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2. PM10 / Saharan dust literature — Prospero, Bozlaker, Yu, Ortiz-Martínez, Tong, Kaur &amp; Kelly for the low-cost sensor caveat. Weather-pollutant relationships — Tai 2010 is the standard reference for meteorology-PM regression; Dawson 2007 for climate-sensitivity; Jacob &amp; Winner 2009 for climate-change-AQ interactions. O'Dell 2019 and Burke 2023 for the wildfire-driven PM2.5 reversal. TCEQ regulatory docs (RG-442 for ESLs; Annual Monitoring Network Plans for site + instrument history). This is the working bibliography for the entire deck; a manuscript draft can lift these directly.</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This deck is the shared baseline for our PM2.5 / PM10 / VOC work — feedback welcome, meant to be iterated on. Regenerate from the pptxgenjs sources under 02_Scripts/_deck_build/ any time we need to update numbers, add a slide, or fix a typo. Manasa and Jasmine can adapt the same skeleton for their pollutants (ozone/CO for Manasa; SO2/NOx for Jasmine).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png"/><Relationship Id="rId7"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2.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9.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4.png"/><Relationship Id="rId7"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C4E"/>
        </a:solidFill>
        <a:effectLst/>
      </p:bgPr>
    </p:bg>
    <p:spTree>
      <p:nvGrpSpPr>
        <p:cNvPr id="1" name=""/>
        <p:cNvGrpSpPr/>
        <p:nvPr/>
      </p:nvGrpSpPr>
      <p:grpSpPr>
        <a:xfrm>
          <a:off x="0" y="0"/>
          <a:ext cx="0" cy="0"/>
          <a:chOff x="0" y="0"/>
          <a:chExt cx="0" cy="0"/>
        </a:xfrm>
      </p:grpSpPr>
      <p:sp>
        <p:nvSpPr>
          <p:cNvPr id="3" name="Text 1"/>
          <p:cNvSpPr/>
          <p:nvPr/>
        </p:nvSpPr>
        <p:spPr>
          <a:xfrm>
            <a:off x="548792" y="548640"/>
            <a:ext cx="1097280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Coastal Bend Air Quality</a:t>
            </a:r>
            <a:endParaRPr lang="en-US" sz="5400" dirty="0"/>
          </a:p>
        </p:txBody>
      </p:sp>
      <p:sp>
        <p:nvSpPr>
          <p:cNvPr id="4" name="Text 2"/>
          <p:cNvSpPr/>
          <p:nvPr/>
        </p:nvSpPr>
        <p:spPr>
          <a:xfrm>
            <a:off x="548792" y="1554480"/>
            <a:ext cx="10972800" cy="640080"/>
          </a:xfrm>
          <a:prstGeom prst="rect">
            <a:avLst/>
          </a:prstGeom>
          <a:noFill/>
          <a:ln/>
        </p:spPr>
        <p:txBody>
          <a:bodyPr wrap="square" lIns="0" tIns="0" rIns="0" bIns="0" rtlCol="0" anchor="ctr"/>
          <a:lstStyle/>
          <a:p>
            <a:pPr marL="0" indent="0">
              <a:buNone/>
            </a:pPr>
            <a:r>
              <a:rPr lang="en-US" sz="2600" i="1" dirty="0">
                <a:solidFill>
                  <a:srgbClr val="AABBC8"/>
                </a:solidFill>
                <a:latin typeface="Cambria" pitchFamily="34" charset="0"/>
                <a:ea typeface="Cambria" pitchFamily="34" charset="-122"/>
                <a:cs typeface="Cambria" pitchFamily="34" charset="-120"/>
              </a:rPr>
              <a:t>Particulate Matter &amp; VOCs — a Coastal Bend Briefing</a:t>
            </a:r>
            <a:endParaRPr lang="en-US" sz="2600" dirty="0"/>
          </a:p>
        </p:txBody>
      </p:sp>
      <p:sp>
        <p:nvSpPr>
          <p:cNvPr id="5" name="Shape 3"/>
          <p:cNvSpPr/>
          <p:nvPr/>
        </p:nvSpPr>
        <p:spPr>
          <a:xfrm>
            <a:off x="792480" y="2743200"/>
            <a:ext cx="3291840" cy="1097280"/>
          </a:xfrm>
          <a:prstGeom prst="roundRect">
            <a:avLst>
              <a:gd name="adj" fmla="val 8333"/>
            </a:avLst>
          </a:prstGeom>
          <a:solidFill>
            <a:srgbClr val="162A38"/>
          </a:solidFill>
          <a:ln w="19050">
            <a:solidFill>
              <a:srgbClr val="C2410C"/>
            </a:solidFill>
            <a:prstDash val="solid"/>
          </a:ln>
        </p:spPr>
        <p:txBody>
          <a:bodyPr/>
          <a:lstStyle/>
          <a:p>
            <a:endParaRPr lang="en-US"/>
          </a:p>
        </p:txBody>
      </p:sp>
      <p:sp>
        <p:nvSpPr>
          <p:cNvPr id="6" name="Text 4"/>
          <p:cNvSpPr/>
          <p:nvPr/>
        </p:nvSpPr>
        <p:spPr>
          <a:xfrm>
            <a:off x="792480" y="2880360"/>
            <a:ext cx="329184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PM2.5</a:t>
            </a:r>
            <a:endParaRPr lang="en-US" sz="2600" dirty="0"/>
          </a:p>
        </p:txBody>
      </p:sp>
      <p:sp>
        <p:nvSpPr>
          <p:cNvPr id="7" name="Text 5"/>
          <p:cNvSpPr/>
          <p:nvPr/>
        </p:nvSpPr>
        <p:spPr>
          <a:xfrm>
            <a:off x="792480" y="3383280"/>
            <a:ext cx="3291840" cy="320040"/>
          </a:xfrm>
          <a:prstGeom prst="rect">
            <a:avLst/>
          </a:prstGeom>
          <a:noFill/>
          <a:ln/>
        </p:spPr>
        <p:txBody>
          <a:bodyPr wrap="square" lIns="0" tIns="0" rIns="0" bIns="0" rtlCol="0" anchor="ctr"/>
          <a:lstStyle/>
          <a:p>
            <a:pPr marL="0" indent="0" algn="ctr">
              <a:buNone/>
            </a:pPr>
            <a:r>
              <a:rPr lang="en-US" sz="1100" i="1" dirty="0">
                <a:solidFill>
                  <a:srgbClr val="AABBC8"/>
                </a:solidFill>
                <a:latin typeface="Calibri" pitchFamily="34" charset="0"/>
                <a:ea typeface="Calibri" pitchFamily="34" charset="-122"/>
                <a:cs typeface="Calibri" pitchFamily="34" charset="-120"/>
              </a:rPr>
              <a:t>Fine particulate matter</a:t>
            </a:r>
            <a:endParaRPr lang="en-US" sz="1100" dirty="0"/>
          </a:p>
        </p:txBody>
      </p:sp>
      <p:sp>
        <p:nvSpPr>
          <p:cNvPr id="8" name="Shape 6"/>
          <p:cNvSpPr/>
          <p:nvPr/>
        </p:nvSpPr>
        <p:spPr>
          <a:xfrm>
            <a:off x="4450080" y="2743200"/>
            <a:ext cx="3291840" cy="1097280"/>
          </a:xfrm>
          <a:prstGeom prst="roundRect">
            <a:avLst>
              <a:gd name="adj" fmla="val 8333"/>
            </a:avLst>
          </a:prstGeom>
          <a:solidFill>
            <a:srgbClr val="162A38"/>
          </a:solidFill>
          <a:ln w="19050">
            <a:solidFill>
              <a:srgbClr val="C2410C"/>
            </a:solidFill>
            <a:prstDash val="solid"/>
          </a:ln>
        </p:spPr>
        <p:txBody>
          <a:bodyPr/>
          <a:lstStyle/>
          <a:p>
            <a:endParaRPr lang="en-US"/>
          </a:p>
        </p:txBody>
      </p:sp>
      <p:sp>
        <p:nvSpPr>
          <p:cNvPr id="9" name="Text 7"/>
          <p:cNvSpPr/>
          <p:nvPr/>
        </p:nvSpPr>
        <p:spPr>
          <a:xfrm>
            <a:off x="4450080" y="2880360"/>
            <a:ext cx="329184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PM10</a:t>
            </a:r>
            <a:endParaRPr lang="en-US" sz="2600" dirty="0"/>
          </a:p>
        </p:txBody>
      </p:sp>
      <p:sp>
        <p:nvSpPr>
          <p:cNvPr id="10" name="Text 8"/>
          <p:cNvSpPr/>
          <p:nvPr/>
        </p:nvSpPr>
        <p:spPr>
          <a:xfrm>
            <a:off x="4450080" y="3383280"/>
            <a:ext cx="3291840" cy="320040"/>
          </a:xfrm>
          <a:prstGeom prst="rect">
            <a:avLst/>
          </a:prstGeom>
          <a:noFill/>
          <a:ln/>
        </p:spPr>
        <p:txBody>
          <a:bodyPr wrap="square" lIns="0" tIns="0" rIns="0" bIns="0" rtlCol="0" anchor="ctr"/>
          <a:lstStyle/>
          <a:p>
            <a:pPr marL="0" indent="0" algn="ctr">
              <a:buNone/>
            </a:pPr>
            <a:r>
              <a:rPr lang="en-US" sz="1100" i="1" dirty="0">
                <a:solidFill>
                  <a:srgbClr val="AABBC8"/>
                </a:solidFill>
                <a:latin typeface="Calibri" pitchFamily="34" charset="0"/>
                <a:ea typeface="Calibri" pitchFamily="34" charset="-122"/>
                <a:cs typeface="Calibri" pitchFamily="34" charset="-120"/>
              </a:rPr>
              <a:t>Coarse particulate matter</a:t>
            </a:r>
            <a:endParaRPr lang="en-US" sz="1100" dirty="0"/>
          </a:p>
        </p:txBody>
      </p:sp>
      <p:sp>
        <p:nvSpPr>
          <p:cNvPr id="13" name="Text 11"/>
          <p:cNvSpPr/>
          <p:nvPr/>
        </p:nvSpPr>
        <p:spPr>
          <a:xfrm>
            <a:off x="8107680" y="3383280"/>
            <a:ext cx="3291840" cy="320040"/>
          </a:xfrm>
          <a:prstGeom prst="rect">
            <a:avLst/>
          </a:prstGeom>
          <a:noFill/>
          <a:ln/>
        </p:spPr>
        <p:txBody>
          <a:bodyPr wrap="square" lIns="0" tIns="0" rIns="0" bIns="0" rtlCol="0" anchor="ctr"/>
          <a:lstStyle/>
          <a:p>
            <a:pPr marL="0" indent="0" algn="ctr">
              <a:buNone/>
            </a:pPr>
            <a:endParaRPr lang="en-US" sz="1100" dirty="0"/>
          </a:p>
        </p:txBody>
      </p:sp>
      <p:sp>
        <p:nvSpPr>
          <p:cNvPr id="14" name="Text 12"/>
          <p:cNvSpPr/>
          <p:nvPr/>
        </p:nvSpPr>
        <p:spPr>
          <a:xfrm>
            <a:off x="548640" y="5989320"/>
            <a:ext cx="10972800" cy="320040"/>
          </a:xfrm>
          <a:prstGeom prst="rect">
            <a:avLst/>
          </a:prstGeom>
          <a:noFill/>
          <a:ln/>
        </p:spPr>
        <p:txBody>
          <a:bodyPr wrap="square" lIns="0" tIns="0" rIns="0" bIns="0" rtlCol="0" anchor="ctr"/>
          <a:lstStyle/>
          <a:p>
            <a:pPr marL="0" indent="0">
              <a:buNone/>
            </a:pPr>
            <a:r>
              <a:rPr lang="en-US" sz="1200" dirty="0">
                <a:solidFill>
                  <a:srgbClr val="AABBC8"/>
                </a:solidFill>
                <a:latin typeface="Calibri" pitchFamily="34" charset="0"/>
                <a:ea typeface="Calibri" pitchFamily="34" charset="-122"/>
                <a:cs typeface="Calibri" pitchFamily="34" charset="-120"/>
              </a:rPr>
              <a:t>Prepared by </a:t>
            </a:r>
            <a:r>
              <a:rPr lang="en-US" sz="1200" b="1" dirty="0">
                <a:solidFill>
                  <a:srgbClr val="FFFFFF"/>
                </a:solidFill>
                <a:latin typeface="Calibri" pitchFamily="34" charset="0"/>
                <a:ea typeface="Calibri" pitchFamily="34" charset="-122"/>
                <a:cs typeface="Calibri" pitchFamily="34" charset="-120"/>
              </a:rPr>
              <a:t>Aidan Meyers</a:t>
            </a:r>
            <a:r>
              <a:rPr lang="en-US" sz="1200" dirty="0">
                <a:solidFill>
                  <a:srgbClr val="AABBC8"/>
                </a:solidFill>
                <a:latin typeface="Calibri" pitchFamily="34" charset="0"/>
                <a:ea typeface="Calibri" pitchFamily="34" charset="-122"/>
                <a:cs typeface="Calibri" pitchFamily="34" charset="-120"/>
              </a:rPr>
              <a:t>  ·  Melaram Lab team briefing  ·  For internal use</a:t>
            </a:r>
            <a:endParaRPr lang="en-US" sz="1200" dirty="0"/>
          </a:p>
        </p:txBody>
      </p:sp>
      <p:pic>
        <p:nvPicPr>
          <p:cNvPr id="17" name="Picture 16">
            <a:extLst>
              <a:ext uri="{FF2B5EF4-FFF2-40B4-BE49-F238E27FC236}">
                <a16:creationId xmlns:a16="http://schemas.microsoft.com/office/drawing/2014/main" id="{A69638AC-AA61-1599-2A18-0C1474538314}"/>
              </a:ext>
            </a:extLst>
          </p:cNvPr>
          <p:cNvPicPr>
            <a:picLocks noChangeAspect="1"/>
          </p:cNvPicPr>
          <p:nvPr/>
        </p:nvPicPr>
        <p:blipFill>
          <a:blip r:embed="rId3"/>
          <a:stretch>
            <a:fillRect/>
          </a:stretch>
        </p:blipFill>
        <p:spPr>
          <a:xfrm>
            <a:off x="6942185" y="3703320"/>
            <a:ext cx="5622829" cy="37485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CONTEXT</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Why this briefing exists</a:t>
            </a:r>
            <a:endParaRPr lang="en-US" sz="3000" dirty="0"/>
          </a:p>
        </p:txBody>
      </p:sp>
      <p:sp>
        <p:nvSpPr>
          <p:cNvPr id="4" name="Shape 2"/>
          <p:cNvSpPr/>
          <p:nvPr/>
        </p:nvSpPr>
        <p:spPr>
          <a:xfrm>
            <a:off x="548640" y="1554480"/>
            <a:ext cx="5303520" cy="4663440"/>
          </a:xfrm>
          <a:prstGeom prst="roundRect">
            <a:avLst>
              <a:gd name="adj" fmla="val 1569"/>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Shape 3"/>
          <p:cNvSpPr/>
          <p:nvPr/>
        </p:nvSpPr>
        <p:spPr>
          <a:xfrm>
            <a:off x="6309360" y="1554480"/>
            <a:ext cx="5303520" cy="4663440"/>
          </a:xfrm>
          <a:prstGeom prst="roundRect">
            <a:avLst>
              <a:gd name="adj" fmla="val 1569"/>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4"/>
          <p:cNvSpPr/>
          <p:nvPr/>
        </p:nvSpPr>
        <p:spPr>
          <a:xfrm>
            <a:off x="822960" y="1737360"/>
            <a:ext cx="4754880" cy="365760"/>
          </a:xfrm>
          <a:prstGeom prst="rect">
            <a:avLst/>
          </a:prstGeom>
          <a:noFill/>
          <a:ln/>
        </p:spPr>
        <p:txBody>
          <a:bodyPr wrap="square" lIns="0" tIns="0" rIns="0" bIns="0" rtlCol="0" anchor="ctr"/>
          <a:lstStyle/>
          <a:p>
            <a:pPr marL="0" indent="0">
              <a:buNone/>
            </a:pPr>
            <a:r>
              <a:rPr lang="en-US" sz="1800" b="1" dirty="0">
                <a:solidFill>
                  <a:srgbClr val="213C4E"/>
                </a:solidFill>
                <a:latin typeface="Cambria" pitchFamily="34" charset="0"/>
                <a:ea typeface="Cambria" pitchFamily="34" charset="-122"/>
                <a:cs typeface="Cambria" pitchFamily="34" charset="-120"/>
              </a:rPr>
              <a:t>The problem</a:t>
            </a:r>
            <a:endParaRPr lang="en-US" sz="1800" dirty="0"/>
          </a:p>
        </p:txBody>
      </p:sp>
      <p:sp>
        <p:nvSpPr>
          <p:cNvPr id="7" name="Text 5"/>
          <p:cNvSpPr/>
          <p:nvPr/>
        </p:nvSpPr>
        <p:spPr>
          <a:xfrm>
            <a:off x="822960" y="2194560"/>
            <a:ext cx="4754880" cy="3840480"/>
          </a:xfrm>
          <a:prstGeom prst="rect">
            <a:avLst/>
          </a:prstGeom>
          <a:noFill/>
          <a:ln/>
        </p:spPr>
        <p:txBody>
          <a:bodyPr wrap="square" lIns="0" tIns="0" rIns="0" bIns="0" rtlCol="0" anchor="t"/>
          <a:lstStyle/>
          <a:p>
            <a:pPr marL="0" indent="0">
              <a:spcAft>
                <a:spcPts val="800"/>
              </a:spcAft>
              <a:buNone/>
            </a:pPr>
            <a:r>
              <a:rPr lang="en-US" sz="1600" dirty="0">
                <a:solidFill>
                  <a:srgbClr val="333333"/>
                </a:solidFill>
                <a:latin typeface="Calibri" pitchFamily="34" charset="0"/>
                <a:ea typeface="Calibri" pitchFamily="34" charset="-122"/>
                <a:cs typeface="Calibri" pitchFamily="34" charset="-120"/>
              </a:rPr>
              <a:t>When we wrote up the Corpus Christi time-series manuscript, we </a:t>
            </a:r>
            <a:r>
              <a:rPr lang="en-US" sz="1600" b="1" dirty="0">
                <a:solidFill>
                  <a:srgbClr val="333333"/>
                </a:solidFill>
                <a:latin typeface="Calibri" pitchFamily="34" charset="0"/>
                <a:ea typeface="Calibri" pitchFamily="34" charset="-122"/>
                <a:cs typeface="Calibri" pitchFamily="34" charset="-120"/>
              </a:rPr>
              <a:t>reported FRM/FEM in a table without commenting on what they meant</a:t>
            </a:r>
            <a:r>
              <a:rPr lang="en-US" sz="1600" dirty="0">
                <a:solidFill>
                  <a:srgbClr val="333333"/>
                </a:solidFill>
                <a:latin typeface="Calibri" pitchFamily="34" charset="0"/>
                <a:ea typeface="Calibri" pitchFamily="34" charset="-122"/>
                <a:cs typeface="Calibri" pitchFamily="34" charset="-120"/>
              </a:rPr>
              <a:t> or how they change what we can compare across sites and years.</a:t>
            </a:r>
            <a:endParaRPr lang="en-US" sz="1600" dirty="0"/>
          </a:p>
          <a:p>
            <a:pPr marL="0" indent="0">
              <a:spcAft>
                <a:spcPts val="800"/>
              </a:spcAft>
              <a:buNone/>
            </a:pPr>
            <a:endParaRPr lang="en-US" sz="1600" dirty="0"/>
          </a:p>
          <a:p>
            <a:pPr marL="0" indent="0">
              <a:spcAft>
                <a:spcPts val="800"/>
              </a:spcAft>
              <a:buNone/>
            </a:pPr>
            <a:r>
              <a:rPr lang="en-US" sz="1600" dirty="0">
                <a:solidFill>
                  <a:srgbClr val="333333"/>
                </a:solidFill>
                <a:latin typeface="Calibri" pitchFamily="34" charset="0"/>
                <a:ea typeface="Calibri" pitchFamily="34" charset="-122"/>
                <a:cs typeface="Calibri" pitchFamily="34" charset="-120"/>
              </a:rPr>
              <a:t>Instruments were also being replaced mid-study without our tracking which sites, when, or why. Reviewer comments surfaced this — we don't want that experience again.</a:t>
            </a:r>
            <a:endParaRPr lang="en-US" sz="1600" dirty="0"/>
          </a:p>
        </p:txBody>
      </p:sp>
      <p:sp>
        <p:nvSpPr>
          <p:cNvPr id="8" name="Text 6"/>
          <p:cNvSpPr/>
          <p:nvPr/>
        </p:nvSpPr>
        <p:spPr>
          <a:xfrm>
            <a:off x="6583680" y="1737360"/>
            <a:ext cx="4754880" cy="365760"/>
          </a:xfrm>
          <a:prstGeom prst="rect">
            <a:avLst/>
          </a:prstGeom>
          <a:noFill/>
          <a:ln/>
        </p:spPr>
        <p:txBody>
          <a:bodyPr wrap="square" lIns="0" tIns="0" rIns="0" bIns="0" rtlCol="0" anchor="ctr"/>
          <a:lstStyle/>
          <a:p>
            <a:pPr marL="0" indent="0">
              <a:buNone/>
            </a:pPr>
            <a:r>
              <a:rPr lang="en-US" sz="1800" b="1" dirty="0">
                <a:solidFill>
                  <a:srgbClr val="213C4E"/>
                </a:solidFill>
                <a:latin typeface="Cambria" pitchFamily="34" charset="0"/>
                <a:ea typeface="Cambria" pitchFamily="34" charset="-122"/>
                <a:cs typeface="Cambria" pitchFamily="34" charset="-120"/>
              </a:rPr>
              <a:t>Purpose </a:t>
            </a:r>
            <a:r>
              <a:rPr lang="en-US" b="1" dirty="0">
                <a:solidFill>
                  <a:srgbClr val="213C4E"/>
                </a:solidFill>
                <a:latin typeface="Cambria" pitchFamily="34" charset="0"/>
                <a:ea typeface="Cambria" pitchFamily="34" charset="-122"/>
                <a:cs typeface="Cambria" pitchFamily="34" charset="-120"/>
              </a:rPr>
              <a:t>of this briefing</a:t>
            </a:r>
            <a:endParaRPr lang="en-US" sz="1800" dirty="0"/>
          </a:p>
        </p:txBody>
      </p:sp>
      <p:sp>
        <p:nvSpPr>
          <p:cNvPr id="9" name="Text 7"/>
          <p:cNvSpPr/>
          <p:nvPr/>
        </p:nvSpPr>
        <p:spPr>
          <a:xfrm>
            <a:off x="6583680" y="2194560"/>
            <a:ext cx="4754880" cy="3840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Plain-English definitions of PM2.5, PM10, and VOC species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chemistry &amp; devices behind every FRM and FEM we see</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Every AQS parameter code + method code appearing in our data</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NAAQS values, when they changed, and why</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Peer-reviewed health effects context (not analysis — background)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Sensor changes over 2015–2025 at Coastal Bend sites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Weather–pollutant relationships from the literature</a:t>
            </a:r>
            <a:endParaRPr lang="en-US" sz="1600" dirty="0"/>
          </a:p>
        </p:txBody>
      </p:sp>
      <p:sp>
        <p:nvSpPr>
          <p:cNvPr id="10"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1"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 / 60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AGENDA</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640080" y="1536192"/>
            <a:ext cx="594360" cy="594360"/>
          </a:xfrm>
          <a:prstGeom prst="ellipse">
            <a:avLst/>
          </a:prstGeom>
          <a:solidFill>
            <a:srgbClr val="213C4E"/>
          </a:solidFill>
          <a:ln w="12700">
            <a:solidFill>
              <a:srgbClr val="213C4E"/>
            </a:solidFill>
            <a:prstDash val="solid"/>
          </a:ln>
        </p:spPr>
        <p:txBody>
          <a:bodyPr/>
          <a:lstStyle/>
          <a:p>
            <a:endParaRPr lang="en-US"/>
          </a:p>
        </p:txBody>
      </p:sp>
      <p:sp>
        <p:nvSpPr>
          <p:cNvPr id="5" name="Text 3"/>
          <p:cNvSpPr/>
          <p:nvPr/>
        </p:nvSpPr>
        <p:spPr>
          <a:xfrm>
            <a:off x="640080" y="153619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pic>
        <p:nvPicPr>
          <p:cNvPr id="6" name="Image 0" descr="preencoded.png"/>
          <p:cNvPicPr>
            <a:picLocks noChangeAspect="1"/>
          </p:cNvPicPr>
          <p:nvPr/>
        </p:nvPicPr>
        <p:blipFill>
          <a:blip r:embed="rId3"/>
          <a:stretch>
            <a:fillRect/>
          </a:stretch>
        </p:blipFill>
        <p:spPr>
          <a:xfrm>
            <a:off x="1463040" y="1554480"/>
            <a:ext cx="548640" cy="548640"/>
          </a:xfrm>
          <a:prstGeom prst="rect">
            <a:avLst/>
          </a:prstGeom>
        </p:spPr>
      </p:pic>
      <p:sp>
        <p:nvSpPr>
          <p:cNvPr id="7" name="Text 4"/>
          <p:cNvSpPr/>
          <p:nvPr/>
        </p:nvSpPr>
        <p:spPr>
          <a:xfrm>
            <a:off x="2194560" y="1490472"/>
            <a:ext cx="7315200" cy="365760"/>
          </a:xfrm>
          <a:prstGeom prst="rect">
            <a:avLst/>
          </a:prstGeom>
          <a:noFill/>
          <a:ln/>
        </p:spPr>
        <p:txBody>
          <a:bodyPr wrap="square" lIns="0" tIns="0" rIns="0" bIns="0" rtlCol="0" anchor="ctr"/>
          <a:lstStyle/>
          <a:p>
            <a:pPr marL="0" indent="0">
              <a:buNone/>
            </a:pPr>
            <a:r>
              <a:rPr lang="en-US" sz="1700" b="1" dirty="0">
                <a:solidFill>
                  <a:srgbClr val="213C4E"/>
                </a:solidFill>
                <a:latin typeface="Cambria" pitchFamily="34" charset="0"/>
                <a:ea typeface="Cambria" pitchFamily="34" charset="-122"/>
                <a:cs typeface="Cambria" pitchFamily="34" charset="-120"/>
              </a:rPr>
              <a:t>Study context &amp; pipeline</a:t>
            </a:r>
            <a:endParaRPr lang="en-US" sz="1700" dirty="0"/>
          </a:p>
        </p:txBody>
      </p:sp>
      <p:sp>
        <p:nvSpPr>
          <p:cNvPr id="8" name="Text 5"/>
          <p:cNvSpPr/>
          <p:nvPr/>
        </p:nvSpPr>
        <p:spPr>
          <a:xfrm>
            <a:off x="2194560" y="1847088"/>
            <a:ext cx="7315200" cy="32004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Coastal Bend counties, data flow, sites</a:t>
            </a:r>
            <a:endParaRPr lang="en-US" sz="1100" dirty="0"/>
          </a:p>
        </p:txBody>
      </p:sp>
      <p:sp>
        <p:nvSpPr>
          <p:cNvPr id="9" name="Text 6"/>
          <p:cNvSpPr/>
          <p:nvPr/>
        </p:nvSpPr>
        <p:spPr>
          <a:xfrm>
            <a:off x="10362895" y="1554480"/>
            <a:ext cx="1280160" cy="502920"/>
          </a:xfrm>
          <a:prstGeom prst="rect">
            <a:avLst/>
          </a:prstGeom>
          <a:noFill/>
          <a:ln/>
        </p:spPr>
        <p:txBody>
          <a:bodyPr wrap="square" lIns="0" tIns="0" rIns="0" bIns="0" rtlCol="0" anchor="ctr"/>
          <a:lstStyle/>
          <a:p>
            <a:pPr marL="0" indent="0" algn="r">
              <a:buNone/>
            </a:pPr>
            <a:r>
              <a:rPr lang="en-US" sz="1200" b="1" dirty="0">
                <a:solidFill>
                  <a:srgbClr val="C2410C"/>
                </a:solidFill>
                <a:latin typeface="Calibri" pitchFamily="34" charset="0"/>
                <a:ea typeface="Calibri" pitchFamily="34" charset="-122"/>
                <a:cs typeface="Calibri" pitchFamily="34" charset="-120"/>
              </a:rPr>
              <a:t>4–7</a:t>
            </a:r>
            <a:endParaRPr lang="en-US" sz="1200" dirty="0"/>
          </a:p>
        </p:txBody>
      </p:sp>
      <p:sp>
        <p:nvSpPr>
          <p:cNvPr id="10" name="Shape 7"/>
          <p:cNvSpPr/>
          <p:nvPr/>
        </p:nvSpPr>
        <p:spPr>
          <a:xfrm>
            <a:off x="640080" y="2359152"/>
            <a:ext cx="594360" cy="594360"/>
          </a:xfrm>
          <a:prstGeom prst="ellipse">
            <a:avLst/>
          </a:prstGeom>
          <a:solidFill>
            <a:srgbClr val="213C4E"/>
          </a:solidFill>
          <a:ln w="12700">
            <a:solidFill>
              <a:srgbClr val="213C4E"/>
            </a:solidFill>
            <a:prstDash val="solid"/>
          </a:ln>
        </p:spPr>
        <p:txBody>
          <a:bodyPr/>
          <a:lstStyle/>
          <a:p>
            <a:endParaRPr lang="en-US"/>
          </a:p>
        </p:txBody>
      </p:sp>
      <p:sp>
        <p:nvSpPr>
          <p:cNvPr id="11" name="Text 8"/>
          <p:cNvSpPr/>
          <p:nvPr/>
        </p:nvSpPr>
        <p:spPr>
          <a:xfrm>
            <a:off x="640080" y="235915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pic>
        <p:nvPicPr>
          <p:cNvPr id="12" name="Image 1" descr="preencoded.png"/>
          <p:cNvPicPr>
            <a:picLocks noChangeAspect="1"/>
          </p:cNvPicPr>
          <p:nvPr/>
        </p:nvPicPr>
        <p:blipFill>
          <a:blip r:embed="rId4"/>
          <a:stretch>
            <a:fillRect/>
          </a:stretch>
        </p:blipFill>
        <p:spPr>
          <a:xfrm>
            <a:off x="1463040" y="2377440"/>
            <a:ext cx="548640" cy="548640"/>
          </a:xfrm>
          <a:prstGeom prst="rect">
            <a:avLst/>
          </a:prstGeom>
        </p:spPr>
      </p:pic>
      <p:sp>
        <p:nvSpPr>
          <p:cNvPr id="13" name="Text 9"/>
          <p:cNvSpPr/>
          <p:nvPr/>
        </p:nvSpPr>
        <p:spPr>
          <a:xfrm>
            <a:off x="2194560" y="2313432"/>
            <a:ext cx="7315200" cy="365760"/>
          </a:xfrm>
          <a:prstGeom prst="rect">
            <a:avLst/>
          </a:prstGeom>
          <a:noFill/>
          <a:ln/>
        </p:spPr>
        <p:txBody>
          <a:bodyPr wrap="square" lIns="0" tIns="0" rIns="0" bIns="0" rtlCol="0" anchor="ctr"/>
          <a:lstStyle/>
          <a:p>
            <a:pPr marL="0" indent="0">
              <a:buNone/>
            </a:pPr>
            <a:r>
              <a:rPr lang="en-US" sz="1700" b="1" dirty="0">
                <a:solidFill>
                  <a:srgbClr val="213C4E"/>
                </a:solidFill>
                <a:latin typeface="Cambria" pitchFamily="34" charset="0"/>
                <a:ea typeface="Cambria" pitchFamily="34" charset="-122"/>
                <a:cs typeface="Cambria" pitchFamily="34" charset="-120"/>
              </a:rPr>
              <a:t>Reference-method foundations</a:t>
            </a:r>
            <a:endParaRPr lang="en-US" sz="1700" dirty="0"/>
          </a:p>
        </p:txBody>
      </p:sp>
      <p:sp>
        <p:nvSpPr>
          <p:cNvPr id="14" name="Text 10"/>
          <p:cNvSpPr/>
          <p:nvPr/>
        </p:nvSpPr>
        <p:spPr>
          <a:xfrm>
            <a:off x="2194560" y="2670048"/>
            <a:ext cx="7315200" cy="32004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FRM vs FEM, AQS codes, units, sensor evolution</a:t>
            </a:r>
            <a:endParaRPr lang="en-US" sz="1100" dirty="0"/>
          </a:p>
        </p:txBody>
      </p:sp>
      <p:sp>
        <p:nvSpPr>
          <p:cNvPr id="15" name="Text 11"/>
          <p:cNvSpPr/>
          <p:nvPr/>
        </p:nvSpPr>
        <p:spPr>
          <a:xfrm>
            <a:off x="10362895" y="2377440"/>
            <a:ext cx="1280160" cy="502920"/>
          </a:xfrm>
          <a:prstGeom prst="rect">
            <a:avLst/>
          </a:prstGeom>
          <a:noFill/>
          <a:ln/>
        </p:spPr>
        <p:txBody>
          <a:bodyPr wrap="square" lIns="0" tIns="0" rIns="0" bIns="0" rtlCol="0" anchor="ctr"/>
          <a:lstStyle/>
          <a:p>
            <a:pPr marL="0" indent="0" algn="r">
              <a:buNone/>
            </a:pPr>
            <a:r>
              <a:rPr lang="en-US" sz="1200" b="1" dirty="0">
                <a:solidFill>
                  <a:srgbClr val="C2410C"/>
                </a:solidFill>
                <a:latin typeface="Calibri" pitchFamily="34" charset="0"/>
                <a:ea typeface="Calibri" pitchFamily="34" charset="-122"/>
                <a:cs typeface="Calibri" pitchFamily="34" charset="-120"/>
              </a:rPr>
              <a:t>8–15</a:t>
            </a:r>
            <a:endParaRPr lang="en-US" sz="1200" dirty="0"/>
          </a:p>
        </p:txBody>
      </p:sp>
      <p:sp>
        <p:nvSpPr>
          <p:cNvPr id="16" name="Shape 12"/>
          <p:cNvSpPr/>
          <p:nvPr/>
        </p:nvSpPr>
        <p:spPr>
          <a:xfrm>
            <a:off x="640080" y="3182112"/>
            <a:ext cx="594360" cy="594360"/>
          </a:xfrm>
          <a:prstGeom prst="ellipse">
            <a:avLst/>
          </a:prstGeom>
          <a:solidFill>
            <a:srgbClr val="213C4E"/>
          </a:solidFill>
          <a:ln w="12700">
            <a:solidFill>
              <a:srgbClr val="213C4E"/>
            </a:solidFill>
            <a:prstDash val="solid"/>
          </a:ln>
        </p:spPr>
        <p:txBody>
          <a:bodyPr/>
          <a:lstStyle/>
          <a:p>
            <a:endParaRPr lang="en-US"/>
          </a:p>
        </p:txBody>
      </p:sp>
      <p:sp>
        <p:nvSpPr>
          <p:cNvPr id="17" name="Text 13"/>
          <p:cNvSpPr/>
          <p:nvPr/>
        </p:nvSpPr>
        <p:spPr>
          <a:xfrm>
            <a:off x="640080" y="318211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pic>
        <p:nvPicPr>
          <p:cNvPr id="18" name="Image 2" descr="preencoded.png"/>
          <p:cNvPicPr>
            <a:picLocks noChangeAspect="1"/>
          </p:cNvPicPr>
          <p:nvPr/>
        </p:nvPicPr>
        <p:blipFill>
          <a:blip r:embed="rId5"/>
          <a:stretch>
            <a:fillRect/>
          </a:stretch>
        </p:blipFill>
        <p:spPr>
          <a:xfrm>
            <a:off x="1463040" y="3200400"/>
            <a:ext cx="548640" cy="548640"/>
          </a:xfrm>
          <a:prstGeom prst="rect">
            <a:avLst/>
          </a:prstGeom>
        </p:spPr>
      </p:pic>
      <p:sp>
        <p:nvSpPr>
          <p:cNvPr id="19" name="Text 14"/>
          <p:cNvSpPr/>
          <p:nvPr/>
        </p:nvSpPr>
        <p:spPr>
          <a:xfrm>
            <a:off x="2194560" y="3136392"/>
            <a:ext cx="7315200" cy="365760"/>
          </a:xfrm>
          <a:prstGeom prst="rect">
            <a:avLst/>
          </a:prstGeom>
          <a:noFill/>
          <a:ln/>
        </p:spPr>
        <p:txBody>
          <a:bodyPr wrap="square" lIns="0" tIns="0" rIns="0" bIns="0" rtlCol="0" anchor="ctr"/>
          <a:lstStyle/>
          <a:p>
            <a:pPr marL="0" indent="0">
              <a:buNone/>
            </a:pPr>
            <a:r>
              <a:rPr lang="en-US" sz="1700" b="1" dirty="0">
                <a:solidFill>
                  <a:srgbClr val="213C4E"/>
                </a:solidFill>
                <a:latin typeface="Cambria" pitchFamily="34" charset="0"/>
                <a:ea typeface="Cambria" pitchFamily="34" charset="-122"/>
                <a:cs typeface="Cambria" pitchFamily="34" charset="-120"/>
              </a:rPr>
              <a:t>PM2.5 — fine particulate</a:t>
            </a:r>
            <a:endParaRPr lang="en-US" sz="1700" dirty="0"/>
          </a:p>
        </p:txBody>
      </p:sp>
      <p:sp>
        <p:nvSpPr>
          <p:cNvPr id="20" name="Text 15"/>
          <p:cNvSpPr/>
          <p:nvPr/>
        </p:nvSpPr>
        <p:spPr>
          <a:xfrm>
            <a:off x="2194560" y="3493008"/>
            <a:ext cx="7315200" cy="32004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Composition, health, NAAQS 9 µg/m³, BAM, FDMS</a:t>
            </a:r>
            <a:endParaRPr lang="en-US" sz="1100" dirty="0"/>
          </a:p>
        </p:txBody>
      </p:sp>
      <p:sp>
        <p:nvSpPr>
          <p:cNvPr id="21" name="Text 16"/>
          <p:cNvSpPr/>
          <p:nvPr/>
        </p:nvSpPr>
        <p:spPr>
          <a:xfrm>
            <a:off x="10362895" y="3200400"/>
            <a:ext cx="1280160" cy="502920"/>
          </a:xfrm>
          <a:prstGeom prst="rect">
            <a:avLst/>
          </a:prstGeom>
          <a:noFill/>
          <a:ln/>
        </p:spPr>
        <p:txBody>
          <a:bodyPr wrap="square" lIns="0" tIns="0" rIns="0" bIns="0" rtlCol="0" anchor="ctr"/>
          <a:lstStyle/>
          <a:p>
            <a:pPr marL="0" indent="0" algn="r">
              <a:buNone/>
            </a:pPr>
            <a:r>
              <a:rPr lang="en-US" sz="1200" b="1" dirty="0">
                <a:solidFill>
                  <a:srgbClr val="C2410C"/>
                </a:solidFill>
                <a:latin typeface="Calibri" pitchFamily="34" charset="0"/>
                <a:ea typeface="Calibri" pitchFamily="34" charset="-122"/>
                <a:cs typeface="Calibri" pitchFamily="34" charset="-120"/>
              </a:rPr>
              <a:t>16–30</a:t>
            </a:r>
            <a:endParaRPr lang="en-US" sz="1200" dirty="0"/>
          </a:p>
        </p:txBody>
      </p:sp>
      <p:sp>
        <p:nvSpPr>
          <p:cNvPr id="22" name="Shape 17"/>
          <p:cNvSpPr/>
          <p:nvPr/>
        </p:nvSpPr>
        <p:spPr>
          <a:xfrm>
            <a:off x="640080" y="4005072"/>
            <a:ext cx="594360" cy="594360"/>
          </a:xfrm>
          <a:prstGeom prst="ellipse">
            <a:avLst/>
          </a:prstGeom>
          <a:solidFill>
            <a:srgbClr val="213C4E"/>
          </a:solidFill>
          <a:ln w="12700">
            <a:solidFill>
              <a:srgbClr val="213C4E"/>
            </a:solidFill>
            <a:prstDash val="solid"/>
          </a:ln>
        </p:spPr>
        <p:txBody>
          <a:bodyPr/>
          <a:lstStyle/>
          <a:p>
            <a:endParaRPr lang="en-US"/>
          </a:p>
        </p:txBody>
      </p:sp>
      <p:sp>
        <p:nvSpPr>
          <p:cNvPr id="23" name="Text 18"/>
          <p:cNvSpPr/>
          <p:nvPr/>
        </p:nvSpPr>
        <p:spPr>
          <a:xfrm>
            <a:off x="640080" y="400507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pic>
        <p:nvPicPr>
          <p:cNvPr id="24" name="Image 3" descr="preencoded.png"/>
          <p:cNvPicPr>
            <a:picLocks noChangeAspect="1"/>
          </p:cNvPicPr>
          <p:nvPr/>
        </p:nvPicPr>
        <p:blipFill>
          <a:blip r:embed="rId6"/>
          <a:stretch>
            <a:fillRect/>
          </a:stretch>
        </p:blipFill>
        <p:spPr>
          <a:xfrm>
            <a:off x="1463040" y="4023360"/>
            <a:ext cx="548640" cy="548640"/>
          </a:xfrm>
          <a:prstGeom prst="rect">
            <a:avLst/>
          </a:prstGeom>
        </p:spPr>
      </p:pic>
      <p:sp>
        <p:nvSpPr>
          <p:cNvPr id="25" name="Text 19"/>
          <p:cNvSpPr/>
          <p:nvPr/>
        </p:nvSpPr>
        <p:spPr>
          <a:xfrm>
            <a:off x="2194560" y="3959352"/>
            <a:ext cx="7315200" cy="365760"/>
          </a:xfrm>
          <a:prstGeom prst="rect">
            <a:avLst/>
          </a:prstGeom>
          <a:noFill/>
          <a:ln/>
        </p:spPr>
        <p:txBody>
          <a:bodyPr wrap="square" lIns="0" tIns="0" rIns="0" bIns="0" rtlCol="0" anchor="ctr"/>
          <a:lstStyle/>
          <a:p>
            <a:pPr marL="0" indent="0">
              <a:buNone/>
            </a:pPr>
            <a:r>
              <a:rPr lang="en-US" sz="1700" b="1" dirty="0">
                <a:solidFill>
                  <a:srgbClr val="213C4E"/>
                </a:solidFill>
                <a:latin typeface="Cambria" pitchFamily="34" charset="0"/>
                <a:ea typeface="Cambria" pitchFamily="34" charset="-122"/>
                <a:cs typeface="Cambria" pitchFamily="34" charset="-120"/>
              </a:rPr>
              <a:t>PM10 — coarse particulate</a:t>
            </a:r>
            <a:endParaRPr lang="en-US" sz="1700" dirty="0"/>
          </a:p>
        </p:txBody>
      </p:sp>
      <p:sp>
        <p:nvSpPr>
          <p:cNvPr id="26" name="Text 20"/>
          <p:cNvSpPr/>
          <p:nvPr/>
        </p:nvSpPr>
        <p:spPr>
          <a:xfrm>
            <a:off x="2194560" y="4315968"/>
            <a:ext cx="7315200" cy="32004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Sea salt, Saharan dust, 150 µg/m³ 24-hr, hi-vol</a:t>
            </a:r>
            <a:endParaRPr lang="en-US" sz="1100" dirty="0"/>
          </a:p>
        </p:txBody>
      </p:sp>
      <p:sp>
        <p:nvSpPr>
          <p:cNvPr id="27" name="Text 21"/>
          <p:cNvSpPr/>
          <p:nvPr/>
        </p:nvSpPr>
        <p:spPr>
          <a:xfrm>
            <a:off x="10362895" y="4023360"/>
            <a:ext cx="1280160" cy="502920"/>
          </a:xfrm>
          <a:prstGeom prst="rect">
            <a:avLst/>
          </a:prstGeom>
          <a:noFill/>
          <a:ln/>
        </p:spPr>
        <p:txBody>
          <a:bodyPr wrap="square" lIns="0" tIns="0" rIns="0" bIns="0" rtlCol="0" anchor="ctr"/>
          <a:lstStyle/>
          <a:p>
            <a:pPr marL="0" indent="0" algn="r">
              <a:buNone/>
            </a:pPr>
            <a:r>
              <a:rPr lang="en-US" sz="1200" b="1" dirty="0">
                <a:solidFill>
                  <a:srgbClr val="C2410C"/>
                </a:solidFill>
                <a:latin typeface="Calibri" pitchFamily="34" charset="0"/>
                <a:ea typeface="Calibri" pitchFamily="34" charset="-122"/>
                <a:cs typeface="Calibri" pitchFamily="34" charset="-120"/>
              </a:rPr>
              <a:t>31–40</a:t>
            </a:r>
            <a:endParaRPr lang="en-US" sz="1200" dirty="0"/>
          </a:p>
        </p:txBody>
      </p:sp>
      <p:sp>
        <p:nvSpPr>
          <p:cNvPr id="28" name="Shape 22"/>
          <p:cNvSpPr/>
          <p:nvPr/>
        </p:nvSpPr>
        <p:spPr>
          <a:xfrm>
            <a:off x="640080" y="4828032"/>
            <a:ext cx="594360" cy="594360"/>
          </a:xfrm>
          <a:prstGeom prst="ellipse">
            <a:avLst/>
          </a:prstGeom>
          <a:solidFill>
            <a:srgbClr val="213C4E"/>
          </a:solidFill>
          <a:ln w="12700">
            <a:solidFill>
              <a:srgbClr val="213C4E"/>
            </a:solidFill>
            <a:prstDash val="solid"/>
          </a:ln>
        </p:spPr>
        <p:txBody>
          <a:bodyPr/>
          <a:lstStyle/>
          <a:p>
            <a:endParaRPr lang="en-US"/>
          </a:p>
        </p:txBody>
      </p:sp>
      <p:sp>
        <p:nvSpPr>
          <p:cNvPr id="29" name="Text 23"/>
          <p:cNvSpPr/>
          <p:nvPr/>
        </p:nvSpPr>
        <p:spPr>
          <a:xfrm>
            <a:off x="640080" y="482803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pic>
        <p:nvPicPr>
          <p:cNvPr id="30" name="Image 4" descr="preencoded.png"/>
          <p:cNvPicPr>
            <a:picLocks noChangeAspect="1"/>
          </p:cNvPicPr>
          <p:nvPr/>
        </p:nvPicPr>
        <p:blipFill>
          <a:blip r:embed="rId7"/>
          <a:stretch>
            <a:fillRect/>
          </a:stretch>
        </p:blipFill>
        <p:spPr>
          <a:xfrm>
            <a:off x="1463040" y="4846320"/>
            <a:ext cx="548640" cy="548640"/>
          </a:xfrm>
          <a:prstGeom prst="rect">
            <a:avLst/>
          </a:prstGeom>
        </p:spPr>
      </p:pic>
      <p:sp>
        <p:nvSpPr>
          <p:cNvPr id="31" name="Text 24"/>
          <p:cNvSpPr/>
          <p:nvPr/>
        </p:nvSpPr>
        <p:spPr>
          <a:xfrm>
            <a:off x="2194560" y="4782312"/>
            <a:ext cx="7315200" cy="365760"/>
          </a:xfrm>
          <a:prstGeom prst="rect">
            <a:avLst/>
          </a:prstGeom>
          <a:noFill/>
          <a:ln/>
        </p:spPr>
        <p:txBody>
          <a:bodyPr wrap="square" lIns="0" tIns="0" rIns="0" bIns="0" rtlCol="0" anchor="ctr"/>
          <a:lstStyle/>
          <a:p>
            <a:pPr marL="0" indent="0">
              <a:buNone/>
            </a:pPr>
            <a:r>
              <a:rPr lang="en-US" sz="1700" b="1" dirty="0">
                <a:solidFill>
                  <a:srgbClr val="213C4E"/>
                </a:solidFill>
                <a:latin typeface="Cambria" pitchFamily="34" charset="0"/>
                <a:ea typeface="Cambria" pitchFamily="34" charset="-122"/>
                <a:cs typeface="Cambria" pitchFamily="34" charset="-120"/>
              </a:rPr>
              <a:t>VOCs — volatile organics</a:t>
            </a:r>
            <a:endParaRPr lang="en-US" sz="1700" dirty="0"/>
          </a:p>
        </p:txBody>
      </p:sp>
      <p:sp>
        <p:nvSpPr>
          <p:cNvPr id="32" name="Text 25"/>
          <p:cNvSpPr/>
          <p:nvPr/>
        </p:nvSpPr>
        <p:spPr>
          <a:xfrm>
            <a:off x="2194560" y="5138928"/>
            <a:ext cx="7315200" cy="32004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PAMS, AutoGC, TO-15, HAPs, ozone precursors</a:t>
            </a:r>
            <a:endParaRPr lang="en-US" sz="1100" dirty="0"/>
          </a:p>
        </p:txBody>
      </p:sp>
      <p:sp>
        <p:nvSpPr>
          <p:cNvPr id="33" name="Text 26"/>
          <p:cNvSpPr/>
          <p:nvPr/>
        </p:nvSpPr>
        <p:spPr>
          <a:xfrm>
            <a:off x="10362895" y="4846320"/>
            <a:ext cx="1280160" cy="502920"/>
          </a:xfrm>
          <a:prstGeom prst="rect">
            <a:avLst/>
          </a:prstGeom>
          <a:noFill/>
          <a:ln/>
        </p:spPr>
        <p:txBody>
          <a:bodyPr wrap="square" lIns="0" tIns="0" rIns="0" bIns="0" rtlCol="0" anchor="ctr"/>
          <a:lstStyle/>
          <a:p>
            <a:pPr marL="0" indent="0" algn="r">
              <a:buNone/>
            </a:pPr>
            <a:r>
              <a:rPr lang="en-US" sz="1200" b="1" dirty="0">
                <a:solidFill>
                  <a:srgbClr val="C2410C"/>
                </a:solidFill>
                <a:latin typeface="Calibri" pitchFamily="34" charset="0"/>
                <a:ea typeface="Calibri" pitchFamily="34" charset="-122"/>
                <a:cs typeface="Calibri" pitchFamily="34" charset="-120"/>
              </a:rPr>
              <a:t>41–54</a:t>
            </a:r>
            <a:endParaRPr lang="en-US" sz="1200" dirty="0"/>
          </a:p>
        </p:txBody>
      </p:sp>
      <p:sp>
        <p:nvSpPr>
          <p:cNvPr id="34" name="Shape 27"/>
          <p:cNvSpPr/>
          <p:nvPr/>
        </p:nvSpPr>
        <p:spPr>
          <a:xfrm>
            <a:off x="640080" y="5650992"/>
            <a:ext cx="594360" cy="594360"/>
          </a:xfrm>
          <a:prstGeom prst="ellipse">
            <a:avLst/>
          </a:prstGeom>
          <a:solidFill>
            <a:srgbClr val="213C4E"/>
          </a:solidFill>
          <a:ln w="12700">
            <a:solidFill>
              <a:srgbClr val="213C4E"/>
            </a:solidFill>
            <a:prstDash val="solid"/>
          </a:ln>
        </p:spPr>
        <p:txBody>
          <a:bodyPr/>
          <a:lstStyle/>
          <a:p>
            <a:endParaRPr lang="en-US"/>
          </a:p>
        </p:txBody>
      </p:sp>
      <p:sp>
        <p:nvSpPr>
          <p:cNvPr id="35" name="Text 28"/>
          <p:cNvSpPr/>
          <p:nvPr/>
        </p:nvSpPr>
        <p:spPr>
          <a:xfrm>
            <a:off x="640080" y="565099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pic>
        <p:nvPicPr>
          <p:cNvPr id="36" name="Image 5" descr="preencoded.png"/>
          <p:cNvPicPr>
            <a:picLocks noChangeAspect="1"/>
          </p:cNvPicPr>
          <p:nvPr/>
        </p:nvPicPr>
        <p:blipFill>
          <a:blip r:embed="rId8"/>
          <a:stretch>
            <a:fillRect/>
          </a:stretch>
        </p:blipFill>
        <p:spPr>
          <a:xfrm>
            <a:off x="1463040" y="5669280"/>
            <a:ext cx="548640" cy="548640"/>
          </a:xfrm>
          <a:prstGeom prst="rect">
            <a:avLst/>
          </a:prstGeom>
        </p:spPr>
      </p:pic>
      <p:sp>
        <p:nvSpPr>
          <p:cNvPr id="37" name="Text 29"/>
          <p:cNvSpPr/>
          <p:nvPr/>
        </p:nvSpPr>
        <p:spPr>
          <a:xfrm>
            <a:off x="2194560" y="5605272"/>
            <a:ext cx="7315200" cy="365760"/>
          </a:xfrm>
          <a:prstGeom prst="rect">
            <a:avLst/>
          </a:prstGeom>
          <a:noFill/>
          <a:ln/>
        </p:spPr>
        <p:txBody>
          <a:bodyPr wrap="square" lIns="0" tIns="0" rIns="0" bIns="0" rtlCol="0" anchor="ctr"/>
          <a:lstStyle/>
          <a:p>
            <a:pPr marL="0" indent="0">
              <a:buNone/>
            </a:pPr>
            <a:r>
              <a:rPr lang="en-US" sz="1700" b="1" dirty="0">
                <a:solidFill>
                  <a:srgbClr val="213C4E"/>
                </a:solidFill>
                <a:latin typeface="Cambria" pitchFamily="34" charset="0"/>
                <a:ea typeface="Cambria" pitchFamily="34" charset="-122"/>
                <a:cs typeface="Cambria" pitchFamily="34" charset="-120"/>
              </a:rPr>
              <a:t>Synthesis &amp; references</a:t>
            </a:r>
            <a:endParaRPr lang="en-US" sz="1700" dirty="0"/>
          </a:p>
        </p:txBody>
      </p:sp>
      <p:sp>
        <p:nvSpPr>
          <p:cNvPr id="38" name="Text 30"/>
          <p:cNvSpPr/>
          <p:nvPr/>
        </p:nvSpPr>
        <p:spPr>
          <a:xfrm>
            <a:off x="2194560" y="5961888"/>
            <a:ext cx="7315200" cy="32004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Cross-pollutant table, next steps, bibliography</a:t>
            </a:r>
            <a:endParaRPr lang="en-US" sz="1100" dirty="0"/>
          </a:p>
        </p:txBody>
      </p:sp>
      <p:sp>
        <p:nvSpPr>
          <p:cNvPr id="39" name="Text 31"/>
          <p:cNvSpPr/>
          <p:nvPr/>
        </p:nvSpPr>
        <p:spPr>
          <a:xfrm>
            <a:off x="10362895" y="5669280"/>
            <a:ext cx="1280160" cy="502920"/>
          </a:xfrm>
          <a:prstGeom prst="rect">
            <a:avLst/>
          </a:prstGeom>
          <a:noFill/>
          <a:ln/>
        </p:spPr>
        <p:txBody>
          <a:bodyPr wrap="square" lIns="0" tIns="0" rIns="0" bIns="0" rtlCol="0" anchor="ctr"/>
          <a:lstStyle/>
          <a:p>
            <a:pPr marL="0" indent="0" algn="r">
              <a:buNone/>
            </a:pPr>
            <a:r>
              <a:rPr lang="en-US" sz="1200" b="1" dirty="0">
                <a:solidFill>
                  <a:srgbClr val="C2410C"/>
                </a:solidFill>
                <a:latin typeface="Calibri" pitchFamily="34" charset="0"/>
                <a:ea typeface="Calibri" pitchFamily="34" charset="-122"/>
                <a:cs typeface="Calibri" pitchFamily="34" charset="-120"/>
              </a:rPr>
              <a:t>55–60</a:t>
            </a:r>
            <a:endParaRPr lang="en-US" sz="1200" dirty="0"/>
          </a:p>
        </p:txBody>
      </p:sp>
      <p:sp>
        <p:nvSpPr>
          <p:cNvPr id="40" name="Text 32"/>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41" name="Text 33"/>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 / 60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SCOPE</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Coastal Bend — the pivot from full South Texas</a:t>
            </a:r>
            <a:endParaRPr lang="en-US" sz="3000" dirty="0"/>
          </a:p>
        </p:txBody>
      </p:sp>
      <p:sp>
        <p:nvSpPr>
          <p:cNvPr id="4" name="Shape 2"/>
          <p:cNvSpPr/>
          <p:nvPr/>
        </p:nvSpPr>
        <p:spPr>
          <a:xfrm>
            <a:off x="548640" y="1417320"/>
            <a:ext cx="5852160" cy="4846320"/>
          </a:xfrm>
          <a:prstGeom prst="roundRect">
            <a:avLst>
              <a:gd name="adj" fmla="val 1509"/>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1600" b="1" dirty="0">
                <a:solidFill>
                  <a:srgbClr val="213C4E"/>
                </a:solidFill>
                <a:latin typeface="Cambria" pitchFamily="34" charset="0"/>
                <a:ea typeface="Cambria" pitchFamily="34" charset="-122"/>
                <a:cs typeface="Cambria" pitchFamily="34" charset="-120"/>
              </a:rPr>
              <a:t>From 13 counties → 7-county Coastal Bend focus</a:t>
            </a:r>
            <a:endParaRPr lang="en-US" sz="1600" dirty="0"/>
          </a:p>
        </p:txBody>
      </p:sp>
      <p:sp>
        <p:nvSpPr>
          <p:cNvPr id="6" name="Text 4"/>
          <p:cNvSpPr/>
          <p:nvPr/>
        </p:nvSpPr>
        <p:spPr>
          <a:xfrm>
            <a:off x="777240" y="2011680"/>
            <a:ext cx="5486400" cy="4114800"/>
          </a:xfrm>
          <a:prstGeom prst="rect">
            <a:avLst/>
          </a:prstGeom>
          <a:noFill/>
          <a:ln/>
        </p:spPr>
        <p:txBody>
          <a:bodyPr wrap="square" lIns="0" tIns="0" rIns="0" bIns="0" rtlCol="0" anchor="t"/>
          <a:lstStyle/>
          <a:p>
            <a:pPr marL="0" indent="0">
              <a:spcAft>
                <a:spcPts val="400"/>
              </a:spcAft>
              <a:buNone/>
            </a:pPr>
            <a:r>
              <a:rPr lang="en-US" dirty="0">
                <a:solidFill>
                  <a:srgbClr val="333333"/>
                </a:solidFill>
                <a:latin typeface="Calibri" pitchFamily="34" charset="0"/>
                <a:ea typeface="Calibri" pitchFamily="34" charset="-122"/>
                <a:cs typeface="Calibri" pitchFamily="34" charset="-120"/>
              </a:rPr>
              <a:t>The v0.4.0 pipeline still stores all 13 South Texas counties for future work (Atascosa, Bexar, Cameron, Comal, Guadalupe, Hidalgo, Karnes, Kleberg, Maverick, Nueces, Victoria, Webb, Wilson).</a:t>
            </a:r>
            <a:endParaRPr lang="en-US" dirty="0"/>
          </a:p>
          <a:p>
            <a:pPr marL="0" indent="0">
              <a:spcAft>
                <a:spcPts val="400"/>
              </a:spcAft>
              <a:buNone/>
            </a:pPr>
            <a:endParaRPr lang="en-US" dirty="0"/>
          </a:p>
          <a:p>
            <a:pPr marL="0" indent="0">
              <a:spcAft>
                <a:spcPts val="400"/>
              </a:spcAft>
              <a:buNone/>
            </a:pPr>
            <a:r>
              <a:rPr lang="en-US" dirty="0">
                <a:solidFill>
                  <a:srgbClr val="333333"/>
                </a:solidFill>
                <a:latin typeface="Calibri" pitchFamily="34" charset="0"/>
                <a:ea typeface="Calibri" pitchFamily="34" charset="-122"/>
                <a:cs typeface="Calibri" pitchFamily="34" charset="-120"/>
              </a:rPr>
              <a:t>Dr. Melaram scoped the next manuscript to the </a:t>
            </a:r>
            <a:endParaRPr lang="en-US" dirty="0"/>
          </a:p>
          <a:p>
            <a:pPr marL="0" indent="0">
              <a:spcAft>
                <a:spcPts val="400"/>
              </a:spcAft>
              <a:buNone/>
            </a:pPr>
            <a:r>
              <a:rPr lang="en-US" b="1" dirty="0">
                <a:solidFill>
                  <a:srgbClr val="333333"/>
                </a:solidFill>
                <a:latin typeface="Calibri" pitchFamily="34" charset="0"/>
                <a:ea typeface="Calibri" pitchFamily="34" charset="-122"/>
                <a:cs typeface="Calibri" pitchFamily="34" charset="-120"/>
              </a:rPr>
              <a:t>Coastal Bend region only</a:t>
            </a:r>
            <a:r>
              <a:rPr lang="en-US" dirty="0">
                <a:solidFill>
                  <a:srgbClr val="333333"/>
                </a:solidFill>
                <a:latin typeface="Calibri" pitchFamily="34" charset="0"/>
                <a:ea typeface="Calibri" pitchFamily="34" charset="-122"/>
                <a:cs typeface="Calibri" pitchFamily="34" charset="-120"/>
              </a:rPr>
              <a:t> — TCEQ Region 14 — so we can:</a:t>
            </a:r>
            <a:endParaRPr lang="en-US" dirty="0"/>
          </a:p>
          <a:p>
            <a:pPr marL="342900" indent="-342900">
              <a:spcAft>
                <a:spcPts val="400"/>
              </a:spcAft>
              <a:buSzPct val="100000"/>
              <a:buChar char="•"/>
            </a:pPr>
            <a:r>
              <a:rPr lang="en-US" dirty="0">
                <a:solidFill>
                  <a:srgbClr val="333333"/>
                </a:solidFill>
                <a:latin typeface="Calibri" pitchFamily="34" charset="0"/>
                <a:ea typeface="Calibri" pitchFamily="34" charset="-122"/>
                <a:cs typeface="Calibri" pitchFamily="34" charset="-120"/>
              </a:rPr>
              <a:t>Do site-by-site method interrogation without the Bexar site count exploding</a:t>
            </a:r>
            <a:endParaRPr lang="en-US" dirty="0"/>
          </a:p>
          <a:p>
            <a:pPr marL="342900" indent="-342900">
              <a:spcAft>
                <a:spcPts val="400"/>
              </a:spcAft>
              <a:buSzPct val="100000"/>
              <a:buChar char="•"/>
            </a:pPr>
            <a:r>
              <a:rPr lang="en-US" dirty="0">
                <a:solidFill>
                  <a:srgbClr val="333333"/>
                </a:solidFill>
                <a:latin typeface="Calibri" pitchFamily="34" charset="0"/>
                <a:ea typeface="Calibri" pitchFamily="34" charset="-122"/>
                <a:cs typeface="Calibri" pitchFamily="34" charset="-120"/>
              </a:rPr>
              <a:t>Interpolate over a manageable geographic footprint</a:t>
            </a:r>
            <a:endParaRPr lang="en-US" dirty="0"/>
          </a:p>
          <a:p>
            <a:pPr marL="342900" indent="-342900">
              <a:spcAft>
                <a:spcPts val="400"/>
              </a:spcAft>
              <a:buSzPct val="100000"/>
              <a:buChar char="•"/>
            </a:pPr>
            <a:r>
              <a:rPr lang="en-US" dirty="0">
                <a:solidFill>
                  <a:srgbClr val="333333"/>
                </a:solidFill>
                <a:latin typeface="Calibri" pitchFamily="34" charset="0"/>
                <a:ea typeface="Calibri" pitchFamily="34" charset="-122"/>
                <a:cs typeface="Calibri" pitchFamily="34" charset="-120"/>
              </a:rPr>
              <a:t>Use TCEQ hourly consistently (EPA daily forms don't work for us)</a:t>
            </a:r>
            <a:endParaRPr lang="en-US" dirty="0"/>
          </a:p>
          <a:p>
            <a:pPr marL="342900" indent="-342900">
              <a:spcAft>
                <a:spcPts val="400"/>
              </a:spcAft>
              <a:buSzPct val="100000"/>
              <a:buChar char="•"/>
            </a:pPr>
            <a:r>
              <a:rPr lang="en-US" dirty="0">
                <a:solidFill>
                  <a:srgbClr val="333333"/>
                </a:solidFill>
                <a:latin typeface="Calibri" pitchFamily="34" charset="0"/>
                <a:ea typeface="Calibri" pitchFamily="34" charset="-122"/>
                <a:cs typeface="Calibri" pitchFamily="34" charset="-120"/>
              </a:rPr>
              <a:t>Reserve broader-scope work for follow-on papers</a:t>
            </a:r>
            <a:endParaRPr lang="en-US"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417320"/>
          <a:ext cx="5120640" cy="4023360"/>
        </p:xfrm>
        <a:graphic>
          <a:graphicData uri="http://schemas.openxmlformats.org/drawingml/2006/table">
            <a:tbl>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0292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County</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MSA / region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Aidan's sites*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5029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Nueces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Corpus Christi</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6 (incl. Palm VOC)</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Kleberg</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Kingsville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5029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San Patricio</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Corpus Christi–Portland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TCEQ CAMS (limited AQ)</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Aransas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Rockport / Aransas Pass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TCEQ CAMS (limited AQ)</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5029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Refugio</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Refugio</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sparse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Bee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Beeville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sparse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5029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Jim Wells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Alice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sparse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6583680" y="5532120"/>
            <a:ext cx="5120640" cy="640080"/>
          </a:xfrm>
          <a:prstGeom prst="rect">
            <a:avLst/>
          </a:prstGeom>
          <a:noFill/>
          <a:ln/>
        </p:spPr>
        <p:txBody>
          <a:bodyPr wrap="square" lIns="0" tIns="0" rIns="0" bIns="0" rtlCol="0" anchor="t"/>
          <a:lstStyle/>
          <a:p>
            <a:pPr marL="0" indent="0">
              <a:buNone/>
            </a:pPr>
            <a:r>
              <a:rPr lang="en-US" sz="900" i="1" dirty="0">
                <a:solidFill>
                  <a:srgbClr val="6B7A85"/>
                </a:solidFill>
                <a:latin typeface="Calibri" pitchFamily="34" charset="0"/>
                <a:ea typeface="Calibri" pitchFamily="34" charset="-122"/>
                <a:cs typeface="Calibri" pitchFamily="34" charset="-120"/>
              </a:rPr>
              <a:t>* Sites reporting PM2.5, PM10, or VOCs in v0.4.0 pipeline. Ozone / CO / SO2 / NOx also present at many of these sites but not part of Aidan's assigned pollutants.</a:t>
            </a:r>
            <a:endParaRPr lang="en-US" sz="900" dirty="0"/>
          </a:p>
        </p:txBody>
      </p:sp>
      <p:sp>
        <p:nvSpPr>
          <p:cNvPr id="9" name="Text 6"/>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0" name="Text 7"/>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 / 60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PIPELINE</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How the data gets to us</a:t>
            </a:r>
            <a:endParaRPr lang="en-US" sz="3000" dirty="0"/>
          </a:p>
        </p:txBody>
      </p:sp>
      <p:sp>
        <p:nvSpPr>
          <p:cNvPr id="4" name="Shape 2"/>
          <p:cNvSpPr/>
          <p:nvPr/>
        </p:nvSpPr>
        <p:spPr>
          <a:xfrm>
            <a:off x="586588" y="1828800"/>
            <a:ext cx="2377440" cy="1737360"/>
          </a:xfrm>
          <a:prstGeom prst="roundRect">
            <a:avLst>
              <a:gd name="adj" fmla="val 421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1455268" y="2057400"/>
            <a:ext cx="640080" cy="640080"/>
          </a:xfrm>
          <a:prstGeom prst="rect">
            <a:avLst/>
          </a:prstGeom>
        </p:spPr>
      </p:pic>
      <p:sp>
        <p:nvSpPr>
          <p:cNvPr id="6" name="Text 3"/>
          <p:cNvSpPr/>
          <p:nvPr/>
        </p:nvSpPr>
        <p:spPr>
          <a:xfrm>
            <a:off x="586588" y="2788920"/>
            <a:ext cx="2377440" cy="365760"/>
          </a:xfrm>
          <a:prstGeom prst="rect">
            <a:avLst/>
          </a:prstGeom>
          <a:noFill/>
          <a:ln/>
        </p:spPr>
        <p:txBody>
          <a:bodyPr wrap="square" lIns="0" tIns="0" rIns="0" bIns="0" rtlCol="0" anchor="ctr"/>
          <a:lstStyle/>
          <a:p>
            <a:pPr marL="0" indent="0" algn="ctr">
              <a:buNone/>
            </a:pPr>
            <a:r>
              <a:rPr lang="en-US" sz="1400" b="1" dirty="0">
                <a:solidFill>
                  <a:srgbClr val="213C4E"/>
                </a:solidFill>
                <a:latin typeface="Cambria" pitchFamily="34" charset="0"/>
                <a:ea typeface="Cambria" pitchFamily="34" charset="-122"/>
                <a:cs typeface="Cambria" pitchFamily="34" charset="-120"/>
              </a:rPr>
              <a:t>TCEQ TAMIS</a:t>
            </a:r>
            <a:endParaRPr lang="en-US" sz="1400" dirty="0"/>
          </a:p>
        </p:txBody>
      </p:sp>
      <p:sp>
        <p:nvSpPr>
          <p:cNvPr id="7" name="Text 4"/>
          <p:cNvSpPr/>
          <p:nvPr/>
        </p:nvSpPr>
        <p:spPr>
          <a:xfrm>
            <a:off x="586588" y="3108960"/>
            <a:ext cx="2377440" cy="502920"/>
          </a:xfrm>
          <a:prstGeom prst="rect">
            <a:avLst/>
          </a:prstGeom>
          <a:noFill/>
          <a:ln/>
        </p:spPr>
        <p:txBody>
          <a:bodyPr wrap="square" lIns="0" tIns="0" rIns="0" bIns="0" rtlCol="0" anchor="ctr"/>
          <a:lstStyle/>
          <a:p>
            <a:pPr marL="0" indent="0" algn="ctr">
              <a:buNone/>
            </a:pPr>
            <a:r>
              <a:rPr lang="en-US" sz="1000" dirty="0">
                <a:solidFill>
                  <a:srgbClr val="6B7A85"/>
                </a:solidFill>
                <a:latin typeface="Calibri" pitchFamily="34" charset="0"/>
                <a:ea typeface="Calibri" pitchFamily="34" charset="-122"/>
                <a:cs typeface="Calibri" pitchFamily="34" charset="-120"/>
              </a:rPr>
              <a:t>51 raw .txt files</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(AQS RD v1.6)</a:t>
            </a:r>
            <a:endParaRPr lang="en-US" sz="1000" dirty="0"/>
          </a:p>
        </p:txBody>
      </p:sp>
      <p:sp>
        <p:nvSpPr>
          <p:cNvPr id="8" name="Shape 5"/>
          <p:cNvSpPr/>
          <p:nvPr/>
        </p:nvSpPr>
        <p:spPr>
          <a:xfrm>
            <a:off x="3018892" y="2560320"/>
            <a:ext cx="393192" cy="274320"/>
          </a:xfrm>
          <a:prstGeom prst="rightArrow">
            <a:avLst/>
          </a:prstGeom>
          <a:solidFill>
            <a:srgbClr val="C2410C"/>
          </a:solidFill>
          <a:ln w="12700">
            <a:solidFill>
              <a:srgbClr val="C2410C"/>
            </a:solidFill>
            <a:prstDash val="solid"/>
          </a:ln>
        </p:spPr>
        <p:txBody>
          <a:bodyPr/>
          <a:lstStyle/>
          <a:p>
            <a:endParaRPr lang="en-US"/>
          </a:p>
        </p:txBody>
      </p:sp>
      <p:sp>
        <p:nvSpPr>
          <p:cNvPr id="9" name="Shape 6"/>
          <p:cNvSpPr/>
          <p:nvPr/>
        </p:nvSpPr>
        <p:spPr>
          <a:xfrm>
            <a:off x="3466948" y="1828800"/>
            <a:ext cx="2377440" cy="1737360"/>
          </a:xfrm>
          <a:prstGeom prst="roundRect">
            <a:avLst>
              <a:gd name="adj" fmla="val 4211"/>
            </a:avLst>
          </a:prstGeom>
          <a:solidFill>
            <a:srgbClr val="FFFFFF"/>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335628" y="2057400"/>
            <a:ext cx="640080" cy="640080"/>
          </a:xfrm>
          <a:prstGeom prst="rect">
            <a:avLst/>
          </a:prstGeom>
        </p:spPr>
      </p:pic>
      <p:sp>
        <p:nvSpPr>
          <p:cNvPr id="11" name="Text 7"/>
          <p:cNvSpPr/>
          <p:nvPr/>
        </p:nvSpPr>
        <p:spPr>
          <a:xfrm>
            <a:off x="3466948" y="2788920"/>
            <a:ext cx="2377440" cy="365760"/>
          </a:xfrm>
          <a:prstGeom prst="rect">
            <a:avLst/>
          </a:prstGeom>
          <a:noFill/>
          <a:ln/>
        </p:spPr>
        <p:txBody>
          <a:bodyPr wrap="square" lIns="0" tIns="0" rIns="0" bIns="0" rtlCol="0" anchor="ctr"/>
          <a:lstStyle/>
          <a:p>
            <a:pPr marL="0" indent="0" algn="ctr">
              <a:buNone/>
            </a:pPr>
            <a:r>
              <a:rPr lang="en-US" sz="1400" b="1" dirty="0">
                <a:solidFill>
                  <a:srgbClr val="213C4E"/>
                </a:solidFill>
                <a:latin typeface="Cambria" pitchFamily="34" charset="0"/>
                <a:ea typeface="Cambria" pitchFamily="34" charset="-122"/>
                <a:cs typeface="Cambria" pitchFamily="34" charset="-120"/>
              </a:rPr>
              <a:t>step_01b ingest</a:t>
            </a:r>
            <a:endParaRPr lang="en-US" sz="1400" dirty="0"/>
          </a:p>
        </p:txBody>
      </p:sp>
      <p:sp>
        <p:nvSpPr>
          <p:cNvPr id="12" name="Text 8"/>
          <p:cNvSpPr/>
          <p:nvPr/>
        </p:nvSpPr>
        <p:spPr>
          <a:xfrm>
            <a:off x="3466948" y="3108960"/>
            <a:ext cx="2377440" cy="502920"/>
          </a:xfrm>
          <a:prstGeom prst="rect">
            <a:avLst/>
          </a:prstGeom>
          <a:noFill/>
          <a:ln/>
        </p:spPr>
        <p:txBody>
          <a:bodyPr wrap="square" lIns="0" tIns="0" rIns="0" bIns="0" rtlCol="0" anchor="ctr"/>
          <a:lstStyle/>
          <a:p>
            <a:pPr marL="0" indent="0" algn="ctr">
              <a:buNone/>
            </a:pPr>
            <a:r>
              <a:rPr lang="en-US" sz="1000" dirty="0">
                <a:solidFill>
                  <a:srgbClr val="6B7A85"/>
                </a:solidFill>
                <a:latin typeface="Calibri" pitchFamily="34" charset="0"/>
                <a:ea typeface="Calibri" pitchFamily="34" charset="-122"/>
                <a:cs typeface="Calibri" pitchFamily="34" charset="-120"/>
              </a:rPr>
              <a:t>Concat A/B, ppb→ppm,</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route by dur code</a:t>
            </a:r>
            <a:endParaRPr lang="en-US" sz="1000" dirty="0"/>
          </a:p>
        </p:txBody>
      </p:sp>
      <p:sp>
        <p:nvSpPr>
          <p:cNvPr id="13" name="Shape 9"/>
          <p:cNvSpPr/>
          <p:nvPr/>
        </p:nvSpPr>
        <p:spPr>
          <a:xfrm>
            <a:off x="5899252" y="2560320"/>
            <a:ext cx="393192" cy="274320"/>
          </a:xfrm>
          <a:prstGeom prst="rightArrow">
            <a:avLst/>
          </a:prstGeom>
          <a:solidFill>
            <a:srgbClr val="C2410C"/>
          </a:solidFill>
          <a:ln w="12700">
            <a:solidFill>
              <a:srgbClr val="C2410C"/>
            </a:solidFill>
            <a:prstDash val="solid"/>
          </a:ln>
        </p:spPr>
        <p:txBody>
          <a:bodyPr/>
          <a:lstStyle/>
          <a:p>
            <a:endParaRPr lang="en-US"/>
          </a:p>
        </p:txBody>
      </p:sp>
      <p:sp>
        <p:nvSpPr>
          <p:cNvPr id="14" name="Shape 10"/>
          <p:cNvSpPr/>
          <p:nvPr/>
        </p:nvSpPr>
        <p:spPr>
          <a:xfrm>
            <a:off x="6347308" y="1828800"/>
            <a:ext cx="2377440" cy="1737360"/>
          </a:xfrm>
          <a:prstGeom prst="roundRect">
            <a:avLst>
              <a:gd name="adj" fmla="val 421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7215988" y="2057400"/>
            <a:ext cx="640080" cy="640080"/>
          </a:xfrm>
          <a:prstGeom prst="rect">
            <a:avLst/>
          </a:prstGeom>
        </p:spPr>
      </p:pic>
      <p:sp>
        <p:nvSpPr>
          <p:cNvPr id="16" name="Text 11"/>
          <p:cNvSpPr/>
          <p:nvPr/>
        </p:nvSpPr>
        <p:spPr>
          <a:xfrm>
            <a:off x="6347308" y="2788920"/>
            <a:ext cx="2377440" cy="365760"/>
          </a:xfrm>
          <a:prstGeom prst="rect">
            <a:avLst/>
          </a:prstGeom>
          <a:noFill/>
          <a:ln/>
        </p:spPr>
        <p:txBody>
          <a:bodyPr wrap="square" lIns="0" tIns="0" rIns="0" bIns="0" rtlCol="0" anchor="ctr"/>
          <a:lstStyle/>
          <a:p>
            <a:pPr marL="0" indent="0" algn="ctr">
              <a:buNone/>
            </a:pPr>
            <a:r>
              <a:rPr lang="en-US" sz="1400" b="1" dirty="0">
                <a:solidFill>
                  <a:srgbClr val="213C4E"/>
                </a:solidFill>
                <a:latin typeface="Cambria" pitchFamily="34" charset="0"/>
                <a:ea typeface="Cambria" pitchFamily="34" charset="-122"/>
                <a:cs typeface="Cambria" pitchFamily="34" charset="-120"/>
              </a:rPr>
              <a:t>Parquet + Postgres</a:t>
            </a:r>
            <a:endParaRPr lang="en-US" sz="1400" dirty="0"/>
          </a:p>
        </p:txBody>
      </p:sp>
      <p:sp>
        <p:nvSpPr>
          <p:cNvPr id="17" name="Text 12"/>
          <p:cNvSpPr/>
          <p:nvPr/>
        </p:nvSpPr>
        <p:spPr>
          <a:xfrm>
            <a:off x="6347308" y="3108960"/>
            <a:ext cx="2377440" cy="502920"/>
          </a:xfrm>
          <a:prstGeom prst="rect">
            <a:avLst/>
          </a:prstGeom>
          <a:noFill/>
          <a:ln/>
        </p:spPr>
        <p:txBody>
          <a:bodyPr wrap="square" lIns="0" tIns="0" rIns="0" bIns="0" rtlCol="0" anchor="ctr"/>
          <a:lstStyle/>
          <a:p>
            <a:pPr marL="0" indent="0" algn="ctr">
              <a:buNone/>
            </a:pPr>
            <a:r>
              <a:rPr lang="en-US" sz="1000" dirty="0">
                <a:solidFill>
                  <a:srgbClr val="6B7A85"/>
                </a:solidFill>
                <a:latin typeface="Calibri" pitchFamily="34" charset="0"/>
                <a:ea typeface="Calibri" pitchFamily="34" charset="-122"/>
                <a:cs typeface="Calibri" pitchFamily="34" charset="-120"/>
              </a:rPr>
              <a:t>10 tables in aq.*</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(2.4 GB Neon)</a:t>
            </a:r>
            <a:endParaRPr lang="en-US" sz="1000" dirty="0"/>
          </a:p>
        </p:txBody>
      </p:sp>
      <p:sp>
        <p:nvSpPr>
          <p:cNvPr id="18" name="Shape 13"/>
          <p:cNvSpPr/>
          <p:nvPr/>
        </p:nvSpPr>
        <p:spPr>
          <a:xfrm>
            <a:off x="8779612" y="2560320"/>
            <a:ext cx="393192" cy="274320"/>
          </a:xfrm>
          <a:prstGeom prst="rightArrow">
            <a:avLst/>
          </a:prstGeom>
          <a:solidFill>
            <a:srgbClr val="C2410C"/>
          </a:solidFill>
          <a:ln w="12700">
            <a:solidFill>
              <a:srgbClr val="C2410C"/>
            </a:solidFill>
            <a:prstDash val="solid"/>
          </a:ln>
        </p:spPr>
        <p:txBody>
          <a:bodyPr/>
          <a:lstStyle/>
          <a:p>
            <a:endParaRPr lang="en-US"/>
          </a:p>
        </p:txBody>
      </p:sp>
      <p:sp>
        <p:nvSpPr>
          <p:cNvPr id="19" name="Shape 14"/>
          <p:cNvSpPr/>
          <p:nvPr/>
        </p:nvSpPr>
        <p:spPr>
          <a:xfrm>
            <a:off x="9227668" y="1828800"/>
            <a:ext cx="2377440" cy="1737360"/>
          </a:xfrm>
          <a:prstGeom prst="roundRect">
            <a:avLst>
              <a:gd name="adj" fmla="val 4211"/>
            </a:avLst>
          </a:prstGeom>
          <a:solidFill>
            <a:srgbClr val="FFFFFF"/>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0" name="Image 3" descr="preencoded.png"/>
          <p:cNvPicPr>
            <a:picLocks noChangeAspect="1"/>
          </p:cNvPicPr>
          <p:nvPr/>
        </p:nvPicPr>
        <p:blipFill>
          <a:blip r:embed="rId6"/>
          <a:stretch>
            <a:fillRect/>
          </a:stretch>
        </p:blipFill>
        <p:spPr>
          <a:xfrm>
            <a:off x="10096348" y="2057400"/>
            <a:ext cx="640080" cy="640080"/>
          </a:xfrm>
          <a:prstGeom prst="rect">
            <a:avLst/>
          </a:prstGeom>
        </p:spPr>
      </p:pic>
      <p:sp>
        <p:nvSpPr>
          <p:cNvPr id="21" name="Text 15"/>
          <p:cNvSpPr/>
          <p:nvPr/>
        </p:nvSpPr>
        <p:spPr>
          <a:xfrm>
            <a:off x="9227668" y="2788920"/>
            <a:ext cx="2377440" cy="365760"/>
          </a:xfrm>
          <a:prstGeom prst="rect">
            <a:avLst/>
          </a:prstGeom>
          <a:noFill/>
          <a:ln/>
        </p:spPr>
        <p:txBody>
          <a:bodyPr wrap="square" lIns="0" tIns="0" rIns="0" bIns="0" rtlCol="0" anchor="ctr"/>
          <a:lstStyle/>
          <a:p>
            <a:pPr marL="0" indent="0" algn="ctr">
              <a:buNone/>
            </a:pPr>
            <a:r>
              <a:rPr lang="en-US" sz="1400" b="1" dirty="0">
                <a:solidFill>
                  <a:srgbClr val="213C4E"/>
                </a:solidFill>
                <a:latin typeface="Cambria" pitchFamily="34" charset="0"/>
                <a:ea typeface="Cambria" pitchFamily="34" charset="-122"/>
                <a:cs typeface="Cambria" pitchFamily="34" charset="-120"/>
              </a:rPr>
              <a:t>Colab / R / Python</a:t>
            </a:r>
            <a:endParaRPr lang="en-US" sz="1400" dirty="0"/>
          </a:p>
        </p:txBody>
      </p:sp>
      <p:sp>
        <p:nvSpPr>
          <p:cNvPr id="22" name="Text 16"/>
          <p:cNvSpPr/>
          <p:nvPr/>
        </p:nvSpPr>
        <p:spPr>
          <a:xfrm>
            <a:off x="9227668" y="3108960"/>
            <a:ext cx="2377440" cy="502920"/>
          </a:xfrm>
          <a:prstGeom prst="rect">
            <a:avLst/>
          </a:prstGeom>
          <a:noFill/>
          <a:ln/>
        </p:spPr>
        <p:txBody>
          <a:bodyPr wrap="square" lIns="0" tIns="0" rIns="0" bIns="0" rtlCol="0" anchor="ctr"/>
          <a:lstStyle/>
          <a:p>
            <a:pPr marL="0" indent="0" algn="ctr">
              <a:buNone/>
            </a:pPr>
            <a:r>
              <a:rPr lang="en-US" sz="1000" dirty="0">
                <a:solidFill>
                  <a:srgbClr val="6B7A85"/>
                </a:solidFill>
                <a:latin typeface="Calibri" pitchFamily="34" charset="0"/>
                <a:ea typeface="Calibri" pitchFamily="34" charset="-122"/>
                <a:cs typeface="Calibri" pitchFamily="34" charset="-120"/>
              </a:rPr>
              <a:t>Query, analyze,</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interpret</a:t>
            </a:r>
            <a:endParaRPr lang="en-US" sz="1000" dirty="0"/>
          </a:p>
        </p:txBody>
      </p:sp>
      <p:sp>
        <p:nvSpPr>
          <p:cNvPr id="23" name="Shape 17"/>
          <p:cNvSpPr/>
          <p:nvPr/>
        </p:nvSpPr>
        <p:spPr>
          <a:xfrm>
            <a:off x="548640" y="4023360"/>
            <a:ext cx="11094415" cy="1828800"/>
          </a:xfrm>
          <a:prstGeom prst="roundRect">
            <a:avLst>
              <a:gd name="adj" fmla="val 4000"/>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24" name="Text 18"/>
          <p:cNvSpPr/>
          <p:nvPr/>
        </p:nvSpPr>
        <p:spPr>
          <a:xfrm>
            <a:off x="548640" y="4251960"/>
            <a:ext cx="2773604" cy="822960"/>
          </a:xfrm>
          <a:prstGeom prst="rect">
            <a:avLst/>
          </a:prstGeom>
          <a:noFill/>
          <a:ln/>
        </p:spPr>
        <p:txBody>
          <a:bodyPr wrap="square" lIns="0" tIns="0" rIns="0" bIns="0" rtlCol="0" anchor="ctr"/>
          <a:lstStyle/>
          <a:p>
            <a:pPr marL="0" indent="0" algn="ctr">
              <a:buNone/>
            </a:pPr>
            <a:r>
              <a:rPr lang="en-US" sz="3400" b="1" dirty="0">
                <a:solidFill>
                  <a:srgbClr val="C2410C"/>
                </a:solidFill>
                <a:latin typeface="Cambria" pitchFamily="34" charset="0"/>
                <a:ea typeface="Cambria" pitchFamily="34" charset="-122"/>
                <a:cs typeface="Cambria" pitchFamily="34" charset="-120"/>
              </a:rPr>
              <a:t>9.77 M</a:t>
            </a:r>
            <a:endParaRPr lang="en-US" sz="3400" dirty="0"/>
          </a:p>
        </p:txBody>
      </p:sp>
      <p:sp>
        <p:nvSpPr>
          <p:cNvPr id="25" name="Text 19"/>
          <p:cNvSpPr/>
          <p:nvPr/>
        </p:nvSpPr>
        <p:spPr>
          <a:xfrm>
            <a:off x="548640" y="5074920"/>
            <a:ext cx="2773604" cy="685800"/>
          </a:xfrm>
          <a:prstGeom prst="rect">
            <a:avLst/>
          </a:prstGeom>
          <a:noFill/>
          <a:ln/>
        </p:spPr>
        <p:txBody>
          <a:bodyPr wrap="square" lIns="0" tIns="0" rIns="0" bIns="0" rtlCol="0" anchor="t"/>
          <a:lstStyle/>
          <a:p>
            <a:pPr marL="0" indent="0" algn="ctr">
              <a:buNone/>
            </a:pPr>
            <a:r>
              <a:rPr lang="en-US" sz="1000" dirty="0">
                <a:solidFill>
                  <a:srgbClr val="6B7A85"/>
                </a:solidFill>
                <a:latin typeface="Calibri" pitchFamily="34" charset="0"/>
                <a:ea typeface="Calibri" pitchFamily="34" charset="-122"/>
                <a:cs typeface="Calibri" pitchFamily="34" charset="-120"/>
              </a:rPr>
              <a:t>Raw TCEQ rows ingested</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from 51 .txt files</a:t>
            </a:r>
            <a:endParaRPr lang="en-US" sz="1000" dirty="0"/>
          </a:p>
        </p:txBody>
      </p:sp>
      <p:sp>
        <p:nvSpPr>
          <p:cNvPr id="26" name="Text 20"/>
          <p:cNvSpPr/>
          <p:nvPr/>
        </p:nvSpPr>
        <p:spPr>
          <a:xfrm>
            <a:off x="3322244" y="4251960"/>
            <a:ext cx="2773604" cy="822960"/>
          </a:xfrm>
          <a:prstGeom prst="rect">
            <a:avLst/>
          </a:prstGeom>
          <a:noFill/>
          <a:ln/>
        </p:spPr>
        <p:txBody>
          <a:bodyPr wrap="square" lIns="0" tIns="0" rIns="0" bIns="0" rtlCol="0" anchor="ctr"/>
          <a:lstStyle/>
          <a:p>
            <a:pPr marL="0" indent="0" algn="ctr">
              <a:buNone/>
            </a:pPr>
            <a:r>
              <a:rPr lang="en-US" sz="3400" b="1" dirty="0">
                <a:solidFill>
                  <a:srgbClr val="C2410C"/>
                </a:solidFill>
                <a:latin typeface="Cambria" pitchFamily="34" charset="0"/>
                <a:ea typeface="Cambria" pitchFamily="34" charset="-122"/>
                <a:cs typeface="Cambria" pitchFamily="34" charset="-120"/>
              </a:rPr>
              <a:t>10</a:t>
            </a:r>
            <a:endParaRPr lang="en-US" sz="3400" dirty="0"/>
          </a:p>
        </p:txBody>
      </p:sp>
      <p:sp>
        <p:nvSpPr>
          <p:cNvPr id="27" name="Text 21"/>
          <p:cNvSpPr/>
          <p:nvPr/>
        </p:nvSpPr>
        <p:spPr>
          <a:xfrm>
            <a:off x="3322244" y="5074920"/>
            <a:ext cx="2773604" cy="685800"/>
          </a:xfrm>
          <a:prstGeom prst="rect">
            <a:avLst/>
          </a:prstGeom>
          <a:noFill/>
          <a:ln/>
        </p:spPr>
        <p:txBody>
          <a:bodyPr wrap="square" lIns="0" tIns="0" rIns="0" bIns="0" rtlCol="0" anchor="t"/>
          <a:lstStyle/>
          <a:p>
            <a:pPr marL="0" indent="0" algn="ctr">
              <a:buNone/>
            </a:pPr>
            <a:r>
              <a:rPr lang="en-US" sz="1000" dirty="0">
                <a:solidFill>
                  <a:srgbClr val="6B7A85"/>
                </a:solidFill>
                <a:latin typeface="Calibri" pitchFamily="34" charset="0"/>
                <a:ea typeface="Calibri" pitchFamily="34" charset="-122"/>
                <a:cs typeface="Calibri" pitchFamily="34" charset="-120"/>
              </a:rPr>
              <a:t>Tables in Neon aq schema</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(criteria, VOCs, weather)</a:t>
            </a:r>
            <a:endParaRPr lang="en-US" sz="1000" dirty="0"/>
          </a:p>
        </p:txBody>
      </p:sp>
      <p:sp>
        <p:nvSpPr>
          <p:cNvPr id="28" name="Text 22"/>
          <p:cNvSpPr/>
          <p:nvPr/>
        </p:nvSpPr>
        <p:spPr>
          <a:xfrm>
            <a:off x="6095848" y="4251960"/>
            <a:ext cx="2773604" cy="822960"/>
          </a:xfrm>
          <a:prstGeom prst="rect">
            <a:avLst/>
          </a:prstGeom>
          <a:noFill/>
          <a:ln/>
        </p:spPr>
        <p:txBody>
          <a:bodyPr wrap="square" lIns="0" tIns="0" rIns="0" bIns="0" rtlCol="0" anchor="ctr"/>
          <a:lstStyle/>
          <a:p>
            <a:pPr marL="0" indent="0" algn="ctr">
              <a:buNone/>
            </a:pPr>
            <a:r>
              <a:rPr lang="en-US" sz="3400" b="1" dirty="0">
                <a:solidFill>
                  <a:srgbClr val="C2410C"/>
                </a:solidFill>
                <a:latin typeface="Cambria" pitchFamily="34" charset="0"/>
                <a:ea typeface="Cambria" pitchFamily="34" charset="-122"/>
                <a:cs typeface="Cambria" pitchFamily="34" charset="-120"/>
              </a:rPr>
              <a:t>57</a:t>
            </a:r>
            <a:endParaRPr lang="en-US" sz="3400" dirty="0"/>
          </a:p>
        </p:txBody>
      </p:sp>
      <p:sp>
        <p:nvSpPr>
          <p:cNvPr id="29" name="Text 23"/>
          <p:cNvSpPr/>
          <p:nvPr/>
        </p:nvSpPr>
        <p:spPr>
          <a:xfrm>
            <a:off x="6095848" y="5074920"/>
            <a:ext cx="2773604" cy="685800"/>
          </a:xfrm>
          <a:prstGeom prst="rect">
            <a:avLst/>
          </a:prstGeom>
          <a:noFill/>
          <a:ln/>
        </p:spPr>
        <p:txBody>
          <a:bodyPr wrap="square" lIns="0" tIns="0" rIns="0" bIns="0" rtlCol="0" anchor="t"/>
          <a:lstStyle/>
          <a:p>
            <a:pPr marL="0" indent="0" algn="ctr">
              <a:buNone/>
            </a:pPr>
            <a:r>
              <a:rPr lang="en-US" sz="1000" dirty="0">
                <a:solidFill>
                  <a:srgbClr val="6B7A85"/>
                </a:solidFill>
                <a:latin typeface="Calibri" pitchFamily="34" charset="0"/>
                <a:ea typeface="Calibri" pitchFamily="34" charset="-122"/>
                <a:cs typeface="Calibri" pitchFamily="34" charset="-120"/>
              </a:rPr>
              <a:t>Distinct AQS parameter codes</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(9 criteria + 47 VOC + 1 sparse)</a:t>
            </a:r>
            <a:endParaRPr lang="en-US" sz="1000" dirty="0"/>
          </a:p>
        </p:txBody>
      </p:sp>
      <p:sp>
        <p:nvSpPr>
          <p:cNvPr id="30" name="Text 24"/>
          <p:cNvSpPr/>
          <p:nvPr/>
        </p:nvSpPr>
        <p:spPr>
          <a:xfrm>
            <a:off x="8869451" y="4251960"/>
            <a:ext cx="2773604" cy="822960"/>
          </a:xfrm>
          <a:prstGeom prst="rect">
            <a:avLst/>
          </a:prstGeom>
          <a:noFill/>
          <a:ln/>
        </p:spPr>
        <p:txBody>
          <a:bodyPr wrap="square" lIns="0" tIns="0" rIns="0" bIns="0" rtlCol="0" anchor="ctr"/>
          <a:lstStyle/>
          <a:p>
            <a:pPr marL="0" indent="0" algn="ctr">
              <a:buNone/>
            </a:pPr>
            <a:r>
              <a:rPr lang="en-US" sz="3400" b="1" dirty="0">
                <a:solidFill>
                  <a:srgbClr val="C2410C"/>
                </a:solidFill>
                <a:latin typeface="Cambria" pitchFamily="34" charset="0"/>
                <a:ea typeface="Cambria" pitchFamily="34" charset="-122"/>
                <a:cs typeface="Cambria" pitchFamily="34" charset="-120"/>
              </a:rPr>
              <a:t>~9 min</a:t>
            </a:r>
            <a:endParaRPr lang="en-US" sz="3400" dirty="0"/>
          </a:p>
        </p:txBody>
      </p:sp>
      <p:sp>
        <p:nvSpPr>
          <p:cNvPr id="31" name="Text 25"/>
          <p:cNvSpPr/>
          <p:nvPr/>
        </p:nvSpPr>
        <p:spPr>
          <a:xfrm>
            <a:off x="8869451" y="5074920"/>
            <a:ext cx="2773604" cy="685800"/>
          </a:xfrm>
          <a:prstGeom prst="rect">
            <a:avLst/>
          </a:prstGeom>
          <a:noFill/>
          <a:ln/>
        </p:spPr>
        <p:txBody>
          <a:bodyPr wrap="square" lIns="0" tIns="0" rIns="0" bIns="0" rtlCol="0" anchor="t"/>
          <a:lstStyle/>
          <a:p>
            <a:pPr marL="0" indent="0" algn="ctr">
              <a:buNone/>
            </a:pPr>
            <a:r>
              <a:rPr lang="en-US" sz="1000" dirty="0">
                <a:solidFill>
                  <a:srgbClr val="6B7A85"/>
                </a:solidFill>
                <a:latin typeface="Calibri" pitchFamily="34" charset="0"/>
                <a:ea typeface="Calibri" pitchFamily="34" charset="-122"/>
                <a:cs typeface="Calibri" pitchFamily="34" charset="-120"/>
              </a:rPr>
              <a:t>Full pipeline rebuild</a:t>
            </a:r>
            <a:endParaRPr lang="en-US" sz="1000" dirty="0"/>
          </a:p>
          <a:p>
            <a:pPr marL="0" indent="0" algn="ctr">
              <a:buNone/>
            </a:pPr>
            <a:r>
              <a:rPr lang="en-US" sz="1000" dirty="0">
                <a:solidFill>
                  <a:srgbClr val="6B7A85"/>
                </a:solidFill>
                <a:latin typeface="Calibri" pitchFamily="34" charset="0"/>
                <a:ea typeface="Calibri" pitchFamily="34" charset="-122"/>
                <a:cs typeface="Calibri" pitchFamily="34" charset="-120"/>
              </a:rPr>
              <a:t>local → parquet → CSV</a:t>
            </a:r>
            <a:endParaRPr lang="en-US" sz="1000" dirty="0"/>
          </a:p>
        </p:txBody>
      </p:sp>
      <p:sp>
        <p:nvSpPr>
          <p:cNvPr id="32" name="Text 26"/>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33" name="Text 27"/>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 / 60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SITES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Coastal Bend AQ sites in our v0.4.0 pipeline</a:t>
            </a:r>
            <a:endParaRPr lang="en-US" sz="3000" dirty="0"/>
          </a:p>
        </p:txBody>
      </p:sp>
      <p:sp>
        <p:nvSpPr>
          <p:cNvPr id="4" name="Shape 2"/>
          <p:cNvSpPr/>
          <p:nvPr/>
        </p:nvSpPr>
        <p:spPr>
          <a:xfrm>
            <a:off x="548640" y="1429846"/>
            <a:ext cx="4846320" cy="4937760"/>
          </a:xfrm>
          <a:prstGeom prst="roundRect">
            <a:avLst>
              <a:gd name="adj" fmla="val 1509"/>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554480"/>
            <a:ext cx="4572000" cy="320040"/>
          </a:xfrm>
          <a:prstGeom prst="rect">
            <a:avLst/>
          </a:prstGeom>
          <a:noFill/>
          <a:ln/>
        </p:spPr>
        <p:txBody>
          <a:bodyPr wrap="square" lIns="0" tIns="0" rIns="0" bIns="0" rtlCol="0" anchor="ctr"/>
          <a:lstStyle/>
          <a:p>
            <a:pPr marL="0" indent="0">
              <a:buNone/>
            </a:pPr>
            <a:r>
              <a:rPr lang="en-US" sz="1300" b="1" dirty="0">
                <a:solidFill>
                  <a:srgbClr val="213C4E"/>
                </a:solidFill>
                <a:latin typeface="Cambria" pitchFamily="34" charset="0"/>
                <a:ea typeface="Cambria" pitchFamily="34" charset="-122"/>
                <a:cs typeface="Cambria" pitchFamily="34" charset="-120"/>
              </a:rPr>
              <a:t>Nueces + Kleberg (schematic)</a:t>
            </a:r>
            <a:endParaRPr lang="en-US" sz="1300" dirty="0"/>
          </a:p>
        </p:txBody>
      </p:sp>
      <p:sp>
        <p:nvSpPr>
          <p:cNvPr id="6" name="Text 4"/>
          <p:cNvSpPr/>
          <p:nvPr/>
        </p:nvSpPr>
        <p:spPr>
          <a:xfrm>
            <a:off x="777240" y="1874520"/>
            <a:ext cx="4572000" cy="274320"/>
          </a:xfrm>
          <a:prstGeom prst="rect">
            <a:avLst/>
          </a:prstGeom>
          <a:noFill/>
          <a:ln/>
        </p:spPr>
        <p:txBody>
          <a:bodyPr wrap="square" lIns="0" tIns="0" rIns="0" bIns="0" rtlCol="0" anchor="ctr"/>
          <a:lstStyle/>
          <a:p>
            <a:pPr marL="0" indent="0">
              <a:buNone/>
            </a:pPr>
            <a:r>
              <a:rPr lang="en-US" sz="900" i="1" dirty="0">
                <a:solidFill>
                  <a:srgbClr val="6B7A85"/>
                </a:solidFill>
                <a:latin typeface="Calibri" pitchFamily="34" charset="0"/>
                <a:ea typeface="Calibri" pitchFamily="34" charset="-122"/>
                <a:cs typeface="Calibri" pitchFamily="34" charset="-120"/>
              </a:rPr>
              <a:t>Not to geographic scale — see docs site for real map.</a:t>
            </a:r>
            <a:endParaRPr lang="en-US" sz="900" dirty="0"/>
          </a:p>
        </p:txBody>
      </p:sp>
      <p:sp>
        <p:nvSpPr>
          <p:cNvPr id="7" name="Shape 5"/>
          <p:cNvSpPr/>
          <p:nvPr/>
        </p:nvSpPr>
        <p:spPr>
          <a:xfrm>
            <a:off x="4114800" y="2286000"/>
            <a:ext cx="1188720" cy="3840480"/>
          </a:xfrm>
          <a:prstGeom prst="rect">
            <a:avLst/>
          </a:prstGeom>
          <a:solidFill>
            <a:srgbClr val="C7D9E5"/>
          </a:solidFill>
          <a:ln w="12700">
            <a:solidFill>
              <a:srgbClr val="C7D9E5"/>
            </a:solidFill>
            <a:prstDash val="solid"/>
          </a:ln>
        </p:spPr>
        <p:txBody>
          <a:bodyPr/>
          <a:lstStyle/>
          <a:p>
            <a:endParaRPr lang="en-US"/>
          </a:p>
        </p:txBody>
      </p:sp>
      <p:sp>
        <p:nvSpPr>
          <p:cNvPr id="8" name="Text 6"/>
          <p:cNvSpPr/>
          <p:nvPr/>
        </p:nvSpPr>
        <p:spPr>
          <a:xfrm>
            <a:off x="4114800" y="3840480"/>
            <a:ext cx="1188720" cy="731520"/>
          </a:xfrm>
          <a:prstGeom prst="rect">
            <a:avLst/>
          </a:prstGeom>
          <a:noFill/>
          <a:ln/>
        </p:spPr>
        <p:txBody>
          <a:bodyPr wrap="square" lIns="0" tIns="0" rIns="0" bIns="0" rtlCol="0" anchor="ctr"/>
          <a:lstStyle/>
          <a:p>
            <a:pPr marL="0" indent="0" algn="ctr">
              <a:buNone/>
            </a:pPr>
            <a:r>
              <a:rPr lang="en-US" sz="1000" i="1" dirty="0">
                <a:solidFill>
                  <a:srgbClr val="5B7A93"/>
                </a:solidFill>
                <a:latin typeface="Calibri" pitchFamily="34" charset="0"/>
                <a:ea typeface="Calibri" pitchFamily="34" charset="-122"/>
                <a:cs typeface="Calibri" pitchFamily="34" charset="-120"/>
              </a:rPr>
              <a:t>Gulf of</a:t>
            </a:r>
            <a:endParaRPr lang="en-US" sz="1000" dirty="0"/>
          </a:p>
          <a:p>
            <a:pPr marL="0" indent="0" algn="ctr">
              <a:buNone/>
            </a:pPr>
            <a:r>
              <a:rPr lang="en-US" sz="1000" i="1" dirty="0">
                <a:solidFill>
                  <a:srgbClr val="5B7A93"/>
                </a:solidFill>
                <a:latin typeface="Calibri" pitchFamily="34" charset="0"/>
                <a:ea typeface="Calibri" pitchFamily="34" charset="-122"/>
                <a:cs typeface="Calibri" pitchFamily="34" charset="-120"/>
              </a:rPr>
              <a:t>Mexico</a:t>
            </a:r>
            <a:endParaRPr lang="en-US" sz="1000" dirty="0"/>
          </a:p>
        </p:txBody>
      </p:sp>
      <p:sp>
        <p:nvSpPr>
          <p:cNvPr id="9" name="Shape 7"/>
          <p:cNvSpPr/>
          <p:nvPr/>
        </p:nvSpPr>
        <p:spPr>
          <a:xfrm>
            <a:off x="3538728" y="3310128"/>
            <a:ext cx="146304" cy="146304"/>
          </a:xfrm>
          <a:prstGeom prst="ellipse">
            <a:avLst/>
          </a:prstGeom>
          <a:solidFill>
            <a:srgbClr val="C2410C"/>
          </a:solidFill>
          <a:ln w="12700">
            <a:solidFill>
              <a:srgbClr val="213C4E"/>
            </a:solidFill>
            <a:prstDash val="solid"/>
          </a:ln>
        </p:spPr>
        <p:txBody>
          <a:bodyPr/>
          <a:lstStyle/>
          <a:p>
            <a:endParaRPr lang="en-US"/>
          </a:p>
        </p:txBody>
      </p:sp>
      <p:sp>
        <p:nvSpPr>
          <p:cNvPr id="10" name="Text 8"/>
          <p:cNvSpPr/>
          <p:nvPr/>
        </p:nvSpPr>
        <p:spPr>
          <a:xfrm>
            <a:off x="2788920" y="3493008"/>
            <a:ext cx="1645920" cy="228600"/>
          </a:xfrm>
          <a:prstGeom prst="rect">
            <a:avLst/>
          </a:prstGeom>
          <a:noFill/>
          <a:ln/>
        </p:spPr>
        <p:txBody>
          <a:bodyPr wrap="square" lIns="0" tIns="0" rIns="0" bIns="0" rtlCol="0" anchor="ctr"/>
          <a:lstStyle/>
          <a:p>
            <a:pPr marL="0" indent="0" algn="ctr">
              <a:buNone/>
            </a:pPr>
            <a:r>
              <a:rPr lang="en-US" sz="850" b="1" dirty="0">
                <a:solidFill>
                  <a:srgbClr val="213C4E"/>
                </a:solidFill>
                <a:latin typeface="Calibri" pitchFamily="34" charset="0"/>
                <a:ea typeface="Calibri" pitchFamily="34" charset="-122"/>
                <a:cs typeface="Calibri" pitchFamily="34" charset="-120"/>
              </a:rPr>
              <a:t>CC Palm</a:t>
            </a:r>
            <a:endParaRPr lang="en-US" sz="850" dirty="0"/>
          </a:p>
        </p:txBody>
      </p:sp>
      <p:sp>
        <p:nvSpPr>
          <p:cNvPr id="11" name="Text 9"/>
          <p:cNvSpPr/>
          <p:nvPr/>
        </p:nvSpPr>
        <p:spPr>
          <a:xfrm>
            <a:off x="2788920" y="3675888"/>
            <a:ext cx="1645920" cy="201168"/>
          </a:xfrm>
          <a:prstGeom prst="rect">
            <a:avLst/>
          </a:prstGeom>
          <a:noFill/>
          <a:ln/>
        </p:spPr>
        <p:txBody>
          <a:bodyPr wrap="square" lIns="0" tIns="0" rIns="0" bIns="0" rtlCol="0" anchor="ctr"/>
          <a:lstStyle/>
          <a:p>
            <a:pPr marL="0" indent="0" algn="ctr">
              <a:buNone/>
            </a:pPr>
            <a:r>
              <a:rPr lang="en-US" sz="750" i="1" dirty="0">
                <a:solidFill>
                  <a:srgbClr val="6B7A85"/>
                </a:solidFill>
                <a:latin typeface="Calibri" pitchFamily="34" charset="0"/>
                <a:ea typeface="Calibri" pitchFamily="34" charset="-122"/>
                <a:cs typeface="Calibri" pitchFamily="34" charset="-120"/>
              </a:rPr>
              <a:t>VOC 1hr</a:t>
            </a:r>
            <a:endParaRPr lang="en-US" sz="750" dirty="0"/>
          </a:p>
        </p:txBody>
      </p:sp>
      <p:sp>
        <p:nvSpPr>
          <p:cNvPr id="12" name="Shape 10"/>
          <p:cNvSpPr/>
          <p:nvPr/>
        </p:nvSpPr>
        <p:spPr>
          <a:xfrm>
            <a:off x="2624328" y="2852928"/>
            <a:ext cx="146304" cy="146304"/>
          </a:xfrm>
          <a:prstGeom prst="ellipse">
            <a:avLst/>
          </a:prstGeom>
          <a:solidFill>
            <a:srgbClr val="C2410C"/>
          </a:solidFill>
          <a:ln w="12700">
            <a:solidFill>
              <a:srgbClr val="213C4E"/>
            </a:solidFill>
            <a:prstDash val="solid"/>
          </a:ln>
        </p:spPr>
        <p:txBody>
          <a:bodyPr/>
          <a:lstStyle/>
          <a:p>
            <a:endParaRPr lang="en-US"/>
          </a:p>
        </p:txBody>
      </p:sp>
      <p:sp>
        <p:nvSpPr>
          <p:cNvPr id="13" name="Text 11"/>
          <p:cNvSpPr/>
          <p:nvPr/>
        </p:nvSpPr>
        <p:spPr>
          <a:xfrm>
            <a:off x="1874520" y="3035808"/>
            <a:ext cx="1645920" cy="228600"/>
          </a:xfrm>
          <a:prstGeom prst="rect">
            <a:avLst/>
          </a:prstGeom>
          <a:noFill/>
          <a:ln/>
        </p:spPr>
        <p:txBody>
          <a:bodyPr wrap="square" lIns="0" tIns="0" rIns="0" bIns="0" rtlCol="0" anchor="ctr"/>
          <a:lstStyle/>
          <a:p>
            <a:pPr marL="0" indent="0" algn="ctr">
              <a:buNone/>
            </a:pPr>
            <a:r>
              <a:rPr lang="en-US" sz="850" b="1" dirty="0">
                <a:solidFill>
                  <a:srgbClr val="213C4E"/>
                </a:solidFill>
                <a:latin typeface="Calibri" pitchFamily="34" charset="0"/>
                <a:ea typeface="Calibri" pitchFamily="34" charset="-122"/>
                <a:cs typeface="Calibri" pitchFamily="34" charset="-120"/>
              </a:rPr>
              <a:t>CC Hillcrest</a:t>
            </a:r>
            <a:endParaRPr lang="en-US" sz="850" dirty="0"/>
          </a:p>
        </p:txBody>
      </p:sp>
      <p:sp>
        <p:nvSpPr>
          <p:cNvPr id="14" name="Text 12"/>
          <p:cNvSpPr/>
          <p:nvPr/>
        </p:nvSpPr>
        <p:spPr>
          <a:xfrm>
            <a:off x="1874520" y="3218688"/>
            <a:ext cx="1645920" cy="201168"/>
          </a:xfrm>
          <a:prstGeom prst="rect">
            <a:avLst/>
          </a:prstGeom>
          <a:noFill/>
          <a:ln/>
        </p:spPr>
        <p:txBody>
          <a:bodyPr wrap="square" lIns="0" tIns="0" rIns="0" bIns="0" rtlCol="0" anchor="ctr"/>
          <a:lstStyle/>
          <a:p>
            <a:pPr marL="0" indent="0" algn="ctr">
              <a:buNone/>
            </a:pPr>
            <a:r>
              <a:rPr lang="en-US" sz="750" i="1" dirty="0">
                <a:solidFill>
                  <a:srgbClr val="6B7A85"/>
                </a:solidFill>
                <a:latin typeface="Calibri" pitchFamily="34" charset="0"/>
                <a:ea typeface="Calibri" pitchFamily="34" charset="-122"/>
                <a:cs typeface="Calibri" pitchFamily="34" charset="-120"/>
              </a:rPr>
              <a:t>VOC 24hr</a:t>
            </a:r>
            <a:endParaRPr lang="en-US" sz="750" dirty="0"/>
          </a:p>
        </p:txBody>
      </p:sp>
      <p:sp>
        <p:nvSpPr>
          <p:cNvPr id="15" name="Shape 13"/>
          <p:cNvSpPr/>
          <p:nvPr/>
        </p:nvSpPr>
        <p:spPr>
          <a:xfrm>
            <a:off x="2898648" y="4041648"/>
            <a:ext cx="146304" cy="146304"/>
          </a:xfrm>
          <a:prstGeom prst="ellipse">
            <a:avLst/>
          </a:prstGeom>
          <a:solidFill>
            <a:srgbClr val="C2410C"/>
          </a:solidFill>
          <a:ln w="12700">
            <a:solidFill>
              <a:srgbClr val="213C4E"/>
            </a:solidFill>
            <a:prstDash val="solid"/>
          </a:ln>
        </p:spPr>
        <p:txBody>
          <a:bodyPr/>
          <a:lstStyle/>
          <a:p>
            <a:endParaRPr lang="en-US"/>
          </a:p>
        </p:txBody>
      </p:sp>
      <p:sp>
        <p:nvSpPr>
          <p:cNvPr id="16" name="Text 14"/>
          <p:cNvSpPr/>
          <p:nvPr/>
        </p:nvSpPr>
        <p:spPr>
          <a:xfrm>
            <a:off x="2148840" y="4224528"/>
            <a:ext cx="1645920" cy="228600"/>
          </a:xfrm>
          <a:prstGeom prst="rect">
            <a:avLst/>
          </a:prstGeom>
          <a:noFill/>
          <a:ln/>
        </p:spPr>
        <p:txBody>
          <a:bodyPr wrap="square" lIns="0" tIns="0" rIns="0" bIns="0" rtlCol="0" anchor="ctr"/>
          <a:lstStyle/>
          <a:p>
            <a:pPr marL="0" indent="0" algn="ctr">
              <a:buNone/>
            </a:pPr>
            <a:r>
              <a:rPr lang="en-US" sz="850" b="1" dirty="0">
                <a:solidFill>
                  <a:srgbClr val="213C4E"/>
                </a:solidFill>
                <a:latin typeface="Calibri" pitchFamily="34" charset="0"/>
                <a:ea typeface="Calibri" pitchFamily="34" charset="-122"/>
                <a:cs typeface="Calibri" pitchFamily="34" charset="-120"/>
              </a:rPr>
              <a:t>CC Holly</a:t>
            </a:r>
            <a:endParaRPr lang="en-US" sz="850" dirty="0"/>
          </a:p>
        </p:txBody>
      </p:sp>
      <p:sp>
        <p:nvSpPr>
          <p:cNvPr id="17" name="Text 15"/>
          <p:cNvSpPr/>
          <p:nvPr/>
        </p:nvSpPr>
        <p:spPr>
          <a:xfrm>
            <a:off x="2148840" y="4407408"/>
            <a:ext cx="1645920" cy="201168"/>
          </a:xfrm>
          <a:prstGeom prst="rect">
            <a:avLst/>
          </a:prstGeom>
          <a:noFill/>
          <a:ln/>
        </p:spPr>
        <p:txBody>
          <a:bodyPr wrap="square" lIns="0" tIns="0" rIns="0" bIns="0" rtlCol="0" anchor="ctr"/>
          <a:lstStyle/>
          <a:p>
            <a:pPr marL="0" indent="0" algn="ctr">
              <a:buNone/>
            </a:pPr>
            <a:r>
              <a:rPr lang="en-US" sz="750" i="1" dirty="0">
                <a:solidFill>
                  <a:srgbClr val="6B7A85"/>
                </a:solidFill>
                <a:latin typeface="Calibri" pitchFamily="34" charset="0"/>
                <a:ea typeface="Calibri" pitchFamily="34" charset="-122"/>
                <a:cs typeface="Calibri" pitchFamily="34" charset="-120"/>
              </a:rPr>
              <a:t>PM2.5</a:t>
            </a:r>
            <a:endParaRPr lang="en-US" sz="750" dirty="0"/>
          </a:p>
        </p:txBody>
      </p:sp>
      <p:sp>
        <p:nvSpPr>
          <p:cNvPr id="18" name="Shape 16"/>
          <p:cNvSpPr/>
          <p:nvPr/>
        </p:nvSpPr>
        <p:spPr>
          <a:xfrm>
            <a:off x="1892808" y="3767328"/>
            <a:ext cx="146304" cy="146304"/>
          </a:xfrm>
          <a:prstGeom prst="ellipse">
            <a:avLst/>
          </a:prstGeom>
          <a:solidFill>
            <a:srgbClr val="C2410C"/>
          </a:solidFill>
          <a:ln w="12700">
            <a:solidFill>
              <a:srgbClr val="213C4E"/>
            </a:solidFill>
            <a:prstDash val="solid"/>
          </a:ln>
        </p:spPr>
        <p:txBody>
          <a:bodyPr/>
          <a:lstStyle/>
          <a:p>
            <a:endParaRPr lang="en-US"/>
          </a:p>
        </p:txBody>
      </p:sp>
      <p:sp>
        <p:nvSpPr>
          <p:cNvPr id="19" name="Text 17"/>
          <p:cNvSpPr/>
          <p:nvPr/>
        </p:nvSpPr>
        <p:spPr>
          <a:xfrm>
            <a:off x="1143000" y="3950208"/>
            <a:ext cx="1645920" cy="228600"/>
          </a:xfrm>
          <a:prstGeom prst="rect">
            <a:avLst/>
          </a:prstGeom>
          <a:noFill/>
          <a:ln/>
        </p:spPr>
        <p:txBody>
          <a:bodyPr wrap="square" lIns="0" tIns="0" rIns="0" bIns="0" rtlCol="0" anchor="ctr"/>
          <a:lstStyle/>
          <a:p>
            <a:pPr marL="0" indent="0" algn="ctr">
              <a:buNone/>
            </a:pPr>
            <a:r>
              <a:rPr lang="en-US" sz="850" b="1" dirty="0">
                <a:solidFill>
                  <a:srgbClr val="213C4E"/>
                </a:solidFill>
                <a:latin typeface="Calibri" pitchFamily="34" charset="0"/>
                <a:ea typeface="Calibri" pitchFamily="34" charset="-122"/>
                <a:cs typeface="Calibri" pitchFamily="34" charset="-120"/>
              </a:rPr>
              <a:t>CC West</a:t>
            </a:r>
            <a:endParaRPr lang="en-US" sz="850" dirty="0"/>
          </a:p>
        </p:txBody>
      </p:sp>
      <p:sp>
        <p:nvSpPr>
          <p:cNvPr id="20" name="Text 18"/>
          <p:cNvSpPr/>
          <p:nvPr/>
        </p:nvSpPr>
        <p:spPr>
          <a:xfrm>
            <a:off x="1143000" y="4133088"/>
            <a:ext cx="1645920" cy="201168"/>
          </a:xfrm>
          <a:prstGeom prst="rect">
            <a:avLst/>
          </a:prstGeom>
          <a:noFill/>
          <a:ln/>
        </p:spPr>
        <p:txBody>
          <a:bodyPr wrap="square" lIns="0" tIns="0" rIns="0" bIns="0" rtlCol="0" anchor="ctr"/>
          <a:lstStyle/>
          <a:p>
            <a:pPr marL="0" indent="0" algn="ctr">
              <a:buNone/>
            </a:pPr>
            <a:r>
              <a:rPr lang="en-US" sz="750" i="1" dirty="0">
                <a:solidFill>
                  <a:srgbClr val="6B7A85"/>
                </a:solidFill>
                <a:latin typeface="Calibri" pitchFamily="34" charset="0"/>
                <a:ea typeface="Calibri" pitchFamily="34" charset="-122"/>
                <a:cs typeface="Calibri" pitchFamily="34" charset="-120"/>
              </a:rPr>
              <a:t>PM/O3</a:t>
            </a:r>
            <a:endParaRPr lang="en-US" sz="750" dirty="0"/>
          </a:p>
        </p:txBody>
      </p:sp>
      <p:sp>
        <p:nvSpPr>
          <p:cNvPr id="21" name="Shape 19"/>
          <p:cNvSpPr/>
          <p:nvPr/>
        </p:nvSpPr>
        <p:spPr>
          <a:xfrm>
            <a:off x="3995928" y="4224528"/>
            <a:ext cx="146304" cy="146304"/>
          </a:xfrm>
          <a:prstGeom prst="ellipse">
            <a:avLst/>
          </a:prstGeom>
          <a:solidFill>
            <a:srgbClr val="C2410C"/>
          </a:solidFill>
          <a:ln w="12700">
            <a:solidFill>
              <a:srgbClr val="213C4E"/>
            </a:solidFill>
            <a:prstDash val="solid"/>
          </a:ln>
        </p:spPr>
        <p:txBody>
          <a:bodyPr/>
          <a:lstStyle/>
          <a:p>
            <a:endParaRPr lang="en-US"/>
          </a:p>
        </p:txBody>
      </p:sp>
      <p:sp>
        <p:nvSpPr>
          <p:cNvPr id="22" name="Text 20"/>
          <p:cNvSpPr/>
          <p:nvPr/>
        </p:nvSpPr>
        <p:spPr>
          <a:xfrm>
            <a:off x="3246120" y="4407408"/>
            <a:ext cx="1645920" cy="228600"/>
          </a:xfrm>
          <a:prstGeom prst="rect">
            <a:avLst/>
          </a:prstGeom>
          <a:noFill/>
          <a:ln/>
        </p:spPr>
        <p:txBody>
          <a:bodyPr wrap="square" lIns="0" tIns="0" rIns="0" bIns="0" rtlCol="0" anchor="ctr"/>
          <a:lstStyle/>
          <a:p>
            <a:pPr marL="0" indent="0" algn="ctr">
              <a:buNone/>
            </a:pPr>
            <a:r>
              <a:rPr lang="en-US" sz="850" b="1" dirty="0">
                <a:solidFill>
                  <a:srgbClr val="213C4E"/>
                </a:solidFill>
                <a:latin typeface="Calibri" pitchFamily="34" charset="0"/>
                <a:ea typeface="Calibri" pitchFamily="34" charset="-122"/>
                <a:cs typeface="Calibri" pitchFamily="34" charset="-120"/>
              </a:rPr>
              <a:t>CC Dona Park</a:t>
            </a:r>
            <a:endParaRPr lang="en-US" sz="850" dirty="0"/>
          </a:p>
        </p:txBody>
      </p:sp>
      <p:sp>
        <p:nvSpPr>
          <p:cNvPr id="23" name="Text 21"/>
          <p:cNvSpPr/>
          <p:nvPr/>
        </p:nvSpPr>
        <p:spPr>
          <a:xfrm>
            <a:off x="3246120" y="4590288"/>
            <a:ext cx="1645920" cy="201168"/>
          </a:xfrm>
          <a:prstGeom prst="rect">
            <a:avLst/>
          </a:prstGeom>
          <a:noFill/>
          <a:ln/>
        </p:spPr>
        <p:txBody>
          <a:bodyPr wrap="square" lIns="0" tIns="0" rIns="0" bIns="0" rtlCol="0" anchor="ctr"/>
          <a:lstStyle/>
          <a:p>
            <a:pPr marL="0" indent="0" algn="ctr">
              <a:buNone/>
            </a:pPr>
            <a:r>
              <a:rPr lang="en-US" sz="750" i="1" dirty="0">
                <a:solidFill>
                  <a:srgbClr val="6B7A85"/>
                </a:solidFill>
                <a:latin typeface="Calibri" pitchFamily="34" charset="0"/>
                <a:ea typeface="Calibri" pitchFamily="34" charset="-122"/>
                <a:cs typeface="Calibri" pitchFamily="34" charset="-120"/>
              </a:rPr>
              <a:t>PM/VOC</a:t>
            </a:r>
            <a:endParaRPr lang="en-US" sz="750" dirty="0"/>
          </a:p>
        </p:txBody>
      </p:sp>
      <p:sp>
        <p:nvSpPr>
          <p:cNvPr id="24" name="Shape 22"/>
          <p:cNvSpPr/>
          <p:nvPr/>
        </p:nvSpPr>
        <p:spPr>
          <a:xfrm>
            <a:off x="2258568" y="3310128"/>
            <a:ext cx="146304" cy="146304"/>
          </a:xfrm>
          <a:prstGeom prst="ellipse">
            <a:avLst/>
          </a:prstGeom>
          <a:solidFill>
            <a:srgbClr val="C2410C"/>
          </a:solidFill>
          <a:ln w="12700">
            <a:solidFill>
              <a:srgbClr val="213C4E"/>
            </a:solidFill>
            <a:prstDash val="solid"/>
          </a:ln>
        </p:spPr>
        <p:txBody>
          <a:bodyPr/>
          <a:lstStyle/>
          <a:p>
            <a:endParaRPr lang="en-US"/>
          </a:p>
        </p:txBody>
      </p:sp>
      <p:sp>
        <p:nvSpPr>
          <p:cNvPr id="25" name="Text 23"/>
          <p:cNvSpPr/>
          <p:nvPr/>
        </p:nvSpPr>
        <p:spPr>
          <a:xfrm>
            <a:off x="1508760" y="3493008"/>
            <a:ext cx="1645920" cy="228600"/>
          </a:xfrm>
          <a:prstGeom prst="rect">
            <a:avLst/>
          </a:prstGeom>
          <a:noFill/>
          <a:ln/>
        </p:spPr>
        <p:txBody>
          <a:bodyPr wrap="square" lIns="0" tIns="0" rIns="0" bIns="0" rtlCol="0" anchor="ctr"/>
          <a:lstStyle/>
          <a:p>
            <a:pPr marL="0" indent="0" algn="ctr">
              <a:buNone/>
            </a:pPr>
            <a:r>
              <a:rPr lang="en-US" sz="850" b="1" dirty="0">
                <a:solidFill>
                  <a:srgbClr val="213C4E"/>
                </a:solidFill>
                <a:latin typeface="Calibri" pitchFamily="34" charset="0"/>
                <a:ea typeface="Calibri" pitchFamily="34" charset="-122"/>
                <a:cs typeface="Calibri" pitchFamily="34" charset="-120"/>
              </a:rPr>
              <a:t>CC Tuloso</a:t>
            </a:r>
            <a:endParaRPr lang="en-US" sz="850" dirty="0"/>
          </a:p>
        </p:txBody>
      </p:sp>
      <p:sp>
        <p:nvSpPr>
          <p:cNvPr id="26" name="Text 24"/>
          <p:cNvSpPr/>
          <p:nvPr/>
        </p:nvSpPr>
        <p:spPr>
          <a:xfrm>
            <a:off x="1508760" y="3675888"/>
            <a:ext cx="1645920" cy="201168"/>
          </a:xfrm>
          <a:prstGeom prst="rect">
            <a:avLst/>
          </a:prstGeom>
          <a:noFill/>
          <a:ln/>
        </p:spPr>
        <p:txBody>
          <a:bodyPr wrap="square" lIns="0" tIns="0" rIns="0" bIns="0" rtlCol="0" anchor="ctr"/>
          <a:lstStyle/>
          <a:p>
            <a:pPr marL="0" indent="0" algn="ctr">
              <a:buNone/>
            </a:pPr>
            <a:r>
              <a:rPr lang="en-US" sz="750" i="1" dirty="0">
                <a:solidFill>
                  <a:srgbClr val="6B7A85"/>
                </a:solidFill>
                <a:latin typeface="Calibri" pitchFamily="34" charset="0"/>
                <a:ea typeface="Calibri" pitchFamily="34" charset="-122"/>
                <a:cs typeface="Calibri" pitchFamily="34" charset="-120"/>
              </a:rPr>
              <a:t>PM/O3</a:t>
            </a:r>
            <a:endParaRPr lang="en-US" sz="750" dirty="0"/>
          </a:p>
        </p:txBody>
      </p:sp>
      <p:sp>
        <p:nvSpPr>
          <p:cNvPr id="27" name="Shape 25"/>
          <p:cNvSpPr/>
          <p:nvPr/>
        </p:nvSpPr>
        <p:spPr>
          <a:xfrm>
            <a:off x="2075688" y="5687568"/>
            <a:ext cx="146304" cy="146304"/>
          </a:xfrm>
          <a:prstGeom prst="ellipse">
            <a:avLst/>
          </a:prstGeom>
          <a:solidFill>
            <a:srgbClr val="C2410C"/>
          </a:solidFill>
          <a:ln w="12700">
            <a:solidFill>
              <a:srgbClr val="213C4E"/>
            </a:solidFill>
            <a:prstDash val="solid"/>
          </a:ln>
        </p:spPr>
        <p:txBody>
          <a:bodyPr/>
          <a:lstStyle/>
          <a:p>
            <a:endParaRPr lang="en-US"/>
          </a:p>
        </p:txBody>
      </p:sp>
      <p:sp>
        <p:nvSpPr>
          <p:cNvPr id="28" name="Text 26"/>
          <p:cNvSpPr/>
          <p:nvPr/>
        </p:nvSpPr>
        <p:spPr>
          <a:xfrm>
            <a:off x="1325880" y="5870448"/>
            <a:ext cx="1645920" cy="228600"/>
          </a:xfrm>
          <a:prstGeom prst="rect">
            <a:avLst/>
          </a:prstGeom>
          <a:noFill/>
          <a:ln/>
        </p:spPr>
        <p:txBody>
          <a:bodyPr wrap="square" lIns="0" tIns="0" rIns="0" bIns="0" rtlCol="0" anchor="ctr"/>
          <a:lstStyle/>
          <a:p>
            <a:pPr marL="0" indent="0" algn="ctr">
              <a:buNone/>
            </a:pPr>
            <a:r>
              <a:rPr lang="en-US" sz="850" b="1" dirty="0">
                <a:solidFill>
                  <a:srgbClr val="213C4E"/>
                </a:solidFill>
                <a:latin typeface="Calibri" pitchFamily="34" charset="0"/>
                <a:ea typeface="Calibri" pitchFamily="34" charset="-122"/>
                <a:cs typeface="Calibri" pitchFamily="34" charset="-120"/>
              </a:rPr>
              <a:t>Kingsville</a:t>
            </a:r>
            <a:endParaRPr lang="en-US" sz="850" dirty="0"/>
          </a:p>
        </p:txBody>
      </p:sp>
      <p:sp>
        <p:nvSpPr>
          <p:cNvPr id="29" name="Text 27"/>
          <p:cNvSpPr/>
          <p:nvPr/>
        </p:nvSpPr>
        <p:spPr>
          <a:xfrm>
            <a:off x="1325880" y="6053328"/>
            <a:ext cx="1645920" cy="201168"/>
          </a:xfrm>
          <a:prstGeom prst="rect">
            <a:avLst/>
          </a:prstGeom>
          <a:noFill/>
          <a:ln/>
        </p:spPr>
        <p:txBody>
          <a:bodyPr wrap="square" lIns="0" tIns="0" rIns="0" bIns="0" rtlCol="0" anchor="ctr"/>
          <a:lstStyle/>
          <a:p>
            <a:pPr marL="0" indent="0" algn="ctr">
              <a:buNone/>
            </a:pPr>
            <a:r>
              <a:rPr lang="en-US" sz="750" i="1" dirty="0">
                <a:solidFill>
                  <a:srgbClr val="6B7A85"/>
                </a:solidFill>
                <a:latin typeface="Calibri" pitchFamily="34" charset="0"/>
                <a:ea typeface="Calibri" pitchFamily="34" charset="-122"/>
                <a:cs typeface="Calibri" pitchFamily="34" charset="-120"/>
              </a:rPr>
              <a:t>O3/PM</a:t>
            </a:r>
            <a:endParaRPr lang="en-US" sz="7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60720" y="1417320"/>
          <a:ext cx="5943600" cy="3383280"/>
        </p:xfrm>
        <a:graphic>
          <a:graphicData uri="http://schemas.openxmlformats.org/drawingml/2006/table">
            <a:tbl>
              <a:tblPr/>
              <a:tblGrid>
                <a:gridCol w="12801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2291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AQSID</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Site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PM2.5</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PM10</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VOC</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2291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483550025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West Pollution Control</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291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483550026</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Tuloso Midway</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2291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483550029</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Hillcrest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291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483550032</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Dona Park</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2291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483550034</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Holly Rd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291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483550083</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Palm Ave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1hr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2291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482730314</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Kingsville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1" name="Shape 28"/>
          <p:cNvSpPr/>
          <p:nvPr/>
        </p:nvSpPr>
        <p:spPr>
          <a:xfrm>
            <a:off x="5760720" y="5029200"/>
            <a:ext cx="5943600" cy="1280160"/>
          </a:xfrm>
          <a:prstGeom prst="roundRect">
            <a:avLst>
              <a:gd name="adj" fmla="val 5714"/>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32" name="Text 29"/>
          <p:cNvSpPr/>
          <p:nvPr/>
        </p:nvSpPr>
        <p:spPr>
          <a:xfrm>
            <a:off x="5943600" y="5120640"/>
            <a:ext cx="5577840" cy="32004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Volume in Coastal Bend (rows in v0.4.0 pipeline)</a:t>
            </a:r>
            <a:endParaRPr lang="en-US" sz="1200" dirty="0"/>
          </a:p>
        </p:txBody>
      </p:sp>
      <p:sp>
        <p:nvSpPr>
          <p:cNvPr id="33" name="Text 30"/>
          <p:cNvSpPr/>
          <p:nvPr/>
        </p:nvSpPr>
        <p:spPr>
          <a:xfrm>
            <a:off x="5943600" y="5440680"/>
            <a:ext cx="5577840" cy="914400"/>
          </a:xfrm>
          <a:prstGeom prst="rect">
            <a:avLst/>
          </a:prstGeom>
          <a:noFill/>
          <a:ln/>
        </p:spPr>
        <p:txBody>
          <a:bodyPr wrap="square" lIns="0" tIns="0" rIns="0" bIns="0" rtlCol="0" anchor="t"/>
          <a:lstStyle/>
          <a:p>
            <a:pPr marL="0" indent="0">
              <a:buNone/>
            </a:pPr>
            <a:r>
              <a:rPr lang="en-US" sz="1050" b="1" dirty="0">
                <a:solidFill>
                  <a:srgbClr val="333333"/>
                </a:solidFill>
                <a:latin typeface="Calibri" pitchFamily="34" charset="0"/>
                <a:ea typeface="Calibri" pitchFamily="34" charset="-122"/>
                <a:cs typeface="Calibri" pitchFamily="34" charset="-120"/>
              </a:rPr>
              <a:t>PM2.5: </a:t>
            </a:r>
            <a:r>
              <a:rPr lang="en-US" sz="1050" dirty="0">
                <a:solidFill>
                  <a:srgbClr val="333333"/>
                </a:solidFill>
                <a:latin typeface="Calibri" pitchFamily="34" charset="0"/>
                <a:ea typeface="Calibri" pitchFamily="34" charset="-122"/>
                <a:cs typeface="Calibri" pitchFamily="34" charset="-120"/>
              </a:rPr>
              <a:t>~450k rows across 5 sites (2015–2025 hourly BAM)  </a:t>
            </a:r>
            <a:r>
              <a:rPr lang="en-US" sz="1050" b="1" dirty="0">
                <a:solidFill>
                  <a:srgbClr val="333333"/>
                </a:solidFill>
                <a:latin typeface="Calibri" pitchFamily="34" charset="0"/>
                <a:ea typeface="Calibri" pitchFamily="34" charset="-122"/>
                <a:cs typeface="Calibri" pitchFamily="34" charset="-120"/>
              </a:rPr>
              <a:t>PM10: </a:t>
            </a:r>
            <a:r>
              <a:rPr lang="en-US" sz="1050" dirty="0">
                <a:solidFill>
                  <a:srgbClr val="333333"/>
                </a:solidFill>
                <a:latin typeface="Calibri" pitchFamily="34" charset="0"/>
                <a:ea typeface="Calibri" pitchFamily="34" charset="-122"/>
                <a:cs typeface="Calibri" pitchFamily="34" charset="-120"/>
              </a:rPr>
              <a:t>sparse — mostly at CC Holly &amp; Dona Park  </a:t>
            </a:r>
            <a:endParaRPr lang="en-US" sz="1050" dirty="0"/>
          </a:p>
          <a:p>
            <a:pPr marL="0" indent="0">
              <a:buNone/>
            </a:pPr>
            <a:r>
              <a:rPr lang="en-US" sz="1050" b="1" dirty="0">
                <a:solidFill>
                  <a:srgbClr val="333333"/>
                </a:solidFill>
                <a:latin typeface="Calibri" pitchFamily="34" charset="0"/>
                <a:ea typeface="Calibri" pitchFamily="34" charset="-122"/>
                <a:cs typeface="Calibri" pitchFamily="34" charset="-120"/>
              </a:rPr>
              <a:t>VOCs: </a:t>
            </a:r>
            <a:endParaRPr lang="en-US" sz="1050" dirty="0"/>
          </a:p>
          <a:p>
            <a:pPr marL="0" indent="0">
              <a:buNone/>
            </a:pPr>
            <a:r>
              <a:rPr lang="en-US" sz="1050" dirty="0">
                <a:solidFill>
                  <a:srgbClr val="333333"/>
                </a:solidFill>
                <a:latin typeface="Calibri" pitchFamily="34" charset="0"/>
                <a:ea typeface="Calibri" pitchFamily="34" charset="-122"/>
                <a:cs typeface="Calibri" pitchFamily="34" charset="-120"/>
              </a:rPr>
              <a:t>3.3M rows at CC Palm 1hr AutoGC; 30k rows at CC Hillcrest 24hr AutoGC + Dona Park + Holly</a:t>
            </a:r>
            <a:endParaRPr lang="en-US" sz="1050" dirty="0"/>
          </a:p>
        </p:txBody>
      </p:sp>
      <p:sp>
        <p:nvSpPr>
          <p:cNvPr id="34" name="Text 31"/>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35" name="Text 32"/>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6 / 60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A38"/>
        </a:solidFill>
        <a:effectLst/>
      </p:bgPr>
    </p:bg>
    <p:spTree>
      <p:nvGrpSpPr>
        <p:cNvPr id="1" name=""/>
        <p:cNvGrpSpPr/>
        <p:nvPr/>
      </p:nvGrpSpPr>
      <p:grpSpPr>
        <a:xfrm>
          <a:off x="0" y="0"/>
          <a:ext cx="0" cy="0"/>
          <a:chOff x="0" y="0"/>
          <a:chExt cx="0" cy="0"/>
        </a:xfrm>
      </p:grpSpPr>
      <p:sp>
        <p:nvSpPr>
          <p:cNvPr id="2" name="Text 0"/>
          <p:cNvSpPr/>
          <p:nvPr/>
        </p:nvSpPr>
        <p:spPr>
          <a:xfrm>
            <a:off x="548640" y="2743200"/>
            <a:ext cx="10972800" cy="365760"/>
          </a:xfrm>
          <a:prstGeom prst="rect">
            <a:avLst/>
          </a:prstGeom>
          <a:noFill/>
          <a:ln/>
        </p:spPr>
        <p:txBody>
          <a:bodyPr wrap="square" lIns="0" tIns="0" rIns="0" bIns="0" rtlCol="0" anchor="ctr"/>
          <a:lstStyle/>
          <a:p>
            <a:pPr marL="0" indent="0">
              <a:buNone/>
            </a:pPr>
            <a:r>
              <a:rPr lang="en-US" sz="1200" b="1" kern="0" spc="400" dirty="0">
                <a:solidFill>
                  <a:srgbClr val="C2410C"/>
                </a:solidFill>
                <a:latin typeface="Calibri" pitchFamily="34" charset="0"/>
                <a:ea typeface="Calibri" pitchFamily="34" charset="-122"/>
                <a:cs typeface="Calibri" pitchFamily="34" charset="-120"/>
              </a:rPr>
              <a:t>SECTION 2</a:t>
            </a:r>
            <a:endParaRPr lang="en-US" sz="1200" dirty="0"/>
          </a:p>
        </p:txBody>
      </p:sp>
      <p:sp>
        <p:nvSpPr>
          <p:cNvPr id="3" name="Text 1"/>
          <p:cNvSpPr/>
          <p:nvPr/>
        </p:nvSpPr>
        <p:spPr>
          <a:xfrm>
            <a:off x="548640" y="3108960"/>
            <a:ext cx="10972800" cy="14630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Reference-method foundations</a:t>
            </a:r>
            <a:endParaRPr lang="en-US" sz="5400" dirty="0"/>
          </a:p>
        </p:txBody>
      </p:sp>
      <p:sp>
        <p:nvSpPr>
          <p:cNvPr id="4" name="Text 2"/>
          <p:cNvSpPr/>
          <p:nvPr/>
        </p:nvSpPr>
        <p:spPr>
          <a:xfrm>
            <a:off x="548640" y="4480560"/>
            <a:ext cx="10972800" cy="457200"/>
          </a:xfrm>
          <a:prstGeom prst="rect">
            <a:avLst/>
          </a:prstGeom>
          <a:noFill/>
          <a:ln/>
        </p:spPr>
        <p:txBody>
          <a:bodyPr wrap="square" lIns="0" tIns="0" rIns="0" bIns="0" rtlCol="0" anchor="ctr"/>
          <a:lstStyle/>
          <a:p>
            <a:pPr marL="0" indent="0">
              <a:buNone/>
            </a:pPr>
            <a:r>
              <a:rPr lang="en-US" sz="1600" i="1" dirty="0">
                <a:solidFill>
                  <a:srgbClr val="AABBC8"/>
                </a:solidFill>
                <a:latin typeface="Calibri" pitchFamily="34" charset="0"/>
                <a:ea typeface="Calibri" pitchFamily="34" charset="-122"/>
                <a:cs typeface="Calibri" pitchFamily="34" charset="-120"/>
              </a:rPr>
              <a:t>FRM · FEM · AQS parameter codes · method codes · units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REFERENCE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FRM vs FEM — the two federal categories</a:t>
            </a:r>
            <a:endParaRPr lang="en-US" sz="3000" dirty="0"/>
          </a:p>
        </p:txBody>
      </p:sp>
      <p:sp>
        <p:nvSpPr>
          <p:cNvPr id="4" name="Shape 2"/>
          <p:cNvSpPr/>
          <p:nvPr/>
        </p:nvSpPr>
        <p:spPr>
          <a:xfrm>
            <a:off x="548640" y="1417320"/>
            <a:ext cx="11064240" cy="777240"/>
          </a:xfrm>
          <a:prstGeom prst="roundRect">
            <a:avLst>
              <a:gd name="adj" fmla="val 5714"/>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10607040" cy="960120"/>
          </a:xfrm>
          <a:prstGeom prst="rect">
            <a:avLst/>
          </a:prstGeom>
          <a:noFill/>
          <a:ln/>
        </p:spPr>
        <p:txBody>
          <a:bodyPr wrap="square" lIns="0" tIns="0" rIns="0" bIns="0" rtlCol="0" anchor="t"/>
          <a:lstStyle/>
          <a:p>
            <a:pPr marL="0" indent="0">
              <a:buNone/>
            </a:pPr>
            <a:r>
              <a:rPr lang="en-US" sz="1300" dirty="0">
                <a:solidFill>
                  <a:srgbClr val="333333"/>
                </a:solidFill>
                <a:latin typeface="Calibri" pitchFamily="34" charset="0"/>
                <a:ea typeface="Calibri" pitchFamily="34" charset="-122"/>
                <a:cs typeface="Calibri" pitchFamily="34" charset="-120"/>
              </a:rPr>
              <a:t>Every criteria pollutant monitor deployed in the US falls into </a:t>
            </a:r>
            <a:r>
              <a:rPr lang="en-US" sz="1300" b="1" dirty="0">
                <a:solidFill>
                  <a:srgbClr val="333333"/>
                </a:solidFill>
                <a:latin typeface="Calibri" pitchFamily="34" charset="0"/>
                <a:ea typeface="Calibri" pitchFamily="34" charset="-122"/>
                <a:cs typeface="Calibri" pitchFamily="34" charset="-120"/>
              </a:rPr>
              <a:t>one of two federal categories.</a:t>
            </a:r>
            <a:endParaRPr lang="en-US" sz="1300" dirty="0"/>
          </a:p>
          <a:p>
            <a:pPr marL="0" indent="0">
              <a:buNone/>
            </a:pPr>
            <a:r>
              <a:rPr lang="en-US" sz="1300" i="1" dirty="0">
                <a:solidFill>
                  <a:srgbClr val="6B7A85"/>
                </a:solidFill>
                <a:latin typeface="Calibri" pitchFamily="34" charset="0"/>
                <a:ea typeface="Calibri" pitchFamily="34" charset="-122"/>
                <a:cs typeface="Calibri" pitchFamily="34" charset="-120"/>
              </a:rPr>
              <a:t>They are DEFINED by EPA, NOT by the sensor manufacturer, and any change in method category creates a comparability question for our multi-year datasets.</a:t>
            </a:r>
            <a:endParaRPr lang="en-US" sz="1300" dirty="0"/>
          </a:p>
        </p:txBody>
      </p:sp>
      <p:sp>
        <p:nvSpPr>
          <p:cNvPr id="6" name="Shape 4"/>
          <p:cNvSpPr/>
          <p:nvPr/>
        </p:nvSpPr>
        <p:spPr>
          <a:xfrm>
            <a:off x="548640" y="2308860"/>
            <a:ext cx="5349240" cy="3520440"/>
          </a:xfrm>
          <a:prstGeom prst="roundRect">
            <a:avLst>
              <a:gd name="adj" fmla="val 2078"/>
            </a:avLst>
          </a:prstGeom>
          <a:solidFill>
            <a:srgbClr val="FFFFFF"/>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7" name="Shape 5"/>
          <p:cNvSpPr/>
          <p:nvPr/>
        </p:nvSpPr>
        <p:spPr>
          <a:xfrm>
            <a:off x="6309360" y="2308860"/>
            <a:ext cx="5349240" cy="3863340"/>
          </a:xfrm>
          <a:prstGeom prst="roundRect">
            <a:avLst>
              <a:gd name="adj" fmla="val 2078"/>
            </a:avLst>
          </a:prstGeom>
          <a:solidFill>
            <a:srgbClr val="FFFFFF"/>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Shape 6"/>
          <p:cNvSpPr/>
          <p:nvPr/>
        </p:nvSpPr>
        <p:spPr>
          <a:xfrm>
            <a:off x="777240" y="2537460"/>
            <a:ext cx="2286000" cy="502920"/>
          </a:xfrm>
          <a:prstGeom prst="roundRect">
            <a:avLst>
              <a:gd name="adj" fmla="val 14545"/>
            </a:avLst>
          </a:prstGeom>
          <a:solidFill>
            <a:srgbClr val="213C4E"/>
          </a:solidFill>
          <a:ln w="12700">
            <a:solidFill>
              <a:srgbClr val="213C4E"/>
            </a:solidFill>
            <a:prstDash val="solid"/>
          </a:ln>
        </p:spPr>
        <p:txBody>
          <a:bodyPr/>
          <a:lstStyle/>
          <a:p>
            <a:endParaRPr lang="en-US"/>
          </a:p>
        </p:txBody>
      </p:sp>
      <p:sp>
        <p:nvSpPr>
          <p:cNvPr id="9" name="Text 7"/>
          <p:cNvSpPr/>
          <p:nvPr/>
        </p:nvSpPr>
        <p:spPr>
          <a:xfrm>
            <a:off x="777240" y="2537460"/>
            <a:ext cx="228600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FRM</a:t>
            </a:r>
            <a:endParaRPr lang="en-US" sz="2200" dirty="0"/>
          </a:p>
        </p:txBody>
      </p:sp>
      <p:sp>
        <p:nvSpPr>
          <p:cNvPr id="10" name="Text 8"/>
          <p:cNvSpPr/>
          <p:nvPr/>
        </p:nvSpPr>
        <p:spPr>
          <a:xfrm>
            <a:off x="777240" y="3086100"/>
            <a:ext cx="4892040" cy="365760"/>
          </a:xfrm>
          <a:prstGeom prst="rect">
            <a:avLst/>
          </a:prstGeom>
          <a:noFill/>
          <a:ln/>
        </p:spPr>
        <p:txBody>
          <a:bodyPr wrap="square" lIns="0" tIns="0" rIns="0" bIns="0" rtlCol="0" anchor="ctr"/>
          <a:lstStyle/>
          <a:p>
            <a:pPr marL="0" indent="0">
              <a:buNone/>
            </a:pPr>
            <a:r>
              <a:rPr lang="en-US" sz="1500" b="1" dirty="0">
                <a:solidFill>
                  <a:srgbClr val="213C4E"/>
                </a:solidFill>
                <a:latin typeface="Cambria" pitchFamily="34" charset="0"/>
                <a:ea typeface="Cambria" pitchFamily="34" charset="-122"/>
                <a:cs typeface="Cambria" pitchFamily="34" charset="-120"/>
              </a:rPr>
              <a:t>Federal Reference Method</a:t>
            </a:r>
            <a:endParaRPr lang="en-US" sz="1500" dirty="0"/>
          </a:p>
        </p:txBody>
      </p:sp>
      <p:sp>
        <p:nvSpPr>
          <p:cNvPr id="11" name="Text 9"/>
          <p:cNvSpPr/>
          <p:nvPr/>
        </p:nvSpPr>
        <p:spPr>
          <a:xfrm>
            <a:off x="777240" y="3543300"/>
            <a:ext cx="4892040" cy="2103120"/>
          </a:xfrm>
          <a:prstGeom prst="rect">
            <a:avLst/>
          </a:prstGeom>
          <a:noFill/>
          <a:ln/>
        </p:spPr>
        <p:txBody>
          <a:bodyPr wrap="square" lIns="0" tIns="0" rIns="0" bIns="0" rtlCol="0" anchor="t"/>
          <a:lstStyle/>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Defined by </a:t>
            </a:r>
            <a:r>
              <a:rPr lang="en-US" sz="1100" b="1" dirty="0">
                <a:solidFill>
                  <a:srgbClr val="C2410C"/>
                </a:solidFill>
                <a:latin typeface="Calibri" pitchFamily="34" charset="0"/>
                <a:ea typeface="Calibri" pitchFamily="34" charset="-122"/>
                <a:cs typeface="Calibri" pitchFamily="34" charset="-120"/>
              </a:rPr>
              <a:t>40 CFR Part 50 Appendices</a:t>
            </a:r>
            <a:endParaRPr lang="en-US" sz="1100" dirty="0"/>
          </a:p>
          <a:p>
            <a:pPr marL="0" indent="0">
              <a:spcAft>
                <a:spcPts val="300"/>
              </a:spcAft>
              <a:buNone/>
            </a:pP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A specific chemistry + hardware combination EPA has designated as THE regulatory yardstick for a pollutant. If EPA disagrees about a compliance value, FRM data wins.</a:t>
            </a:r>
            <a:endParaRPr lang="en-US" sz="1100" dirty="0"/>
          </a:p>
          <a:p>
            <a:pPr marL="0" indent="0">
              <a:spcAft>
                <a:spcPts val="300"/>
              </a:spcAft>
              <a:buNone/>
            </a:pPr>
            <a:endParaRPr lang="en-US" sz="1100" dirty="0"/>
          </a:p>
          <a:p>
            <a:pPr marL="0" indent="0">
              <a:spcAft>
                <a:spcPts val="300"/>
              </a:spcAft>
              <a:buNone/>
            </a:pPr>
            <a:r>
              <a:rPr lang="en-US" sz="1100" b="1" dirty="0">
                <a:solidFill>
                  <a:srgbClr val="333333"/>
                </a:solidFill>
                <a:latin typeface="Calibri" pitchFamily="34" charset="0"/>
                <a:ea typeface="Calibri" pitchFamily="34" charset="-122"/>
                <a:cs typeface="Calibri" pitchFamily="34" charset="-120"/>
              </a:rPr>
              <a:t>Examples:</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PM2.5: gravimetric filter (Appendix L)</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PM10: gravimetric filter (Appendix J)</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NO2: gas-phase chemiluminescence (Appendix F)</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Ozone: UV photometry (Appendix D)</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SO2: pulsed fluorescence (Appendix A-1/A-2)</a:t>
            </a:r>
            <a:endParaRPr lang="en-US" sz="1100" dirty="0"/>
          </a:p>
        </p:txBody>
      </p:sp>
      <p:sp>
        <p:nvSpPr>
          <p:cNvPr id="12" name="Shape 10"/>
          <p:cNvSpPr/>
          <p:nvPr/>
        </p:nvSpPr>
        <p:spPr>
          <a:xfrm>
            <a:off x="6537960" y="2537460"/>
            <a:ext cx="2286000" cy="502920"/>
          </a:xfrm>
          <a:prstGeom prst="roundRect">
            <a:avLst>
              <a:gd name="adj" fmla="val 14545"/>
            </a:avLst>
          </a:prstGeom>
          <a:solidFill>
            <a:srgbClr val="C2410C"/>
          </a:solidFill>
          <a:ln w="12700">
            <a:solidFill>
              <a:srgbClr val="C2410C"/>
            </a:solidFill>
            <a:prstDash val="solid"/>
          </a:ln>
        </p:spPr>
        <p:txBody>
          <a:bodyPr/>
          <a:lstStyle/>
          <a:p>
            <a:endParaRPr lang="en-US"/>
          </a:p>
        </p:txBody>
      </p:sp>
      <p:sp>
        <p:nvSpPr>
          <p:cNvPr id="13" name="Text 11"/>
          <p:cNvSpPr/>
          <p:nvPr/>
        </p:nvSpPr>
        <p:spPr>
          <a:xfrm>
            <a:off x="6537960" y="2537460"/>
            <a:ext cx="228600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FEM</a:t>
            </a:r>
            <a:endParaRPr lang="en-US" sz="2200" dirty="0"/>
          </a:p>
        </p:txBody>
      </p:sp>
      <p:sp>
        <p:nvSpPr>
          <p:cNvPr id="14" name="Text 12"/>
          <p:cNvSpPr/>
          <p:nvPr/>
        </p:nvSpPr>
        <p:spPr>
          <a:xfrm>
            <a:off x="6537960" y="3086100"/>
            <a:ext cx="4892040" cy="365760"/>
          </a:xfrm>
          <a:prstGeom prst="rect">
            <a:avLst/>
          </a:prstGeom>
          <a:noFill/>
          <a:ln/>
        </p:spPr>
        <p:txBody>
          <a:bodyPr wrap="square" lIns="0" tIns="0" rIns="0" bIns="0" rtlCol="0" anchor="ctr"/>
          <a:lstStyle/>
          <a:p>
            <a:pPr marL="0" indent="0">
              <a:buNone/>
            </a:pPr>
            <a:r>
              <a:rPr lang="en-US" sz="1500" b="1" dirty="0">
                <a:solidFill>
                  <a:srgbClr val="213C4E"/>
                </a:solidFill>
                <a:latin typeface="Cambria" pitchFamily="34" charset="0"/>
                <a:ea typeface="Cambria" pitchFamily="34" charset="-122"/>
                <a:cs typeface="Cambria" pitchFamily="34" charset="-120"/>
              </a:rPr>
              <a:t>Federal Equivalent Method</a:t>
            </a:r>
            <a:endParaRPr lang="en-US" sz="1500" dirty="0"/>
          </a:p>
        </p:txBody>
      </p:sp>
      <p:sp>
        <p:nvSpPr>
          <p:cNvPr id="15" name="Text 13"/>
          <p:cNvSpPr/>
          <p:nvPr/>
        </p:nvSpPr>
        <p:spPr>
          <a:xfrm>
            <a:off x="6537960" y="3543300"/>
            <a:ext cx="4892040" cy="2103120"/>
          </a:xfrm>
          <a:prstGeom prst="rect">
            <a:avLst/>
          </a:prstGeom>
          <a:noFill/>
          <a:ln/>
        </p:spPr>
        <p:txBody>
          <a:bodyPr wrap="square" lIns="0" tIns="0" rIns="0" bIns="0" rtlCol="0" anchor="t"/>
          <a:lstStyle/>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Defined by </a:t>
            </a:r>
            <a:r>
              <a:rPr lang="en-US" sz="1100" b="1" dirty="0">
                <a:solidFill>
                  <a:srgbClr val="C2410C"/>
                </a:solidFill>
                <a:latin typeface="Calibri" pitchFamily="34" charset="0"/>
                <a:ea typeface="Calibri" pitchFamily="34" charset="-122"/>
                <a:cs typeface="Calibri" pitchFamily="34" charset="-120"/>
              </a:rPr>
              <a:t>40 CFR Part 53</a:t>
            </a:r>
            <a:endParaRPr lang="en-US" sz="1100" dirty="0"/>
          </a:p>
          <a:p>
            <a:pPr marL="0" indent="0">
              <a:spcAft>
                <a:spcPts val="300"/>
              </a:spcAft>
              <a:buNone/>
            </a:pP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An instrument EPA has </a:t>
            </a:r>
            <a:r>
              <a:rPr lang="en-US" sz="1100" b="1" dirty="0">
                <a:solidFill>
                  <a:srgbClr val="333333"/>
                </a:solidFill>
                <a:latin typeface="Calibri" pitchFamily="34" charset="0"/>
                <a:ea typeface="Calibri" pitchFamily="34" charset="-122"/>
                <a:cs typeface="Calibri" pitchFamily="34" charset="-120"/>
              </a:rPr>
              <a:t>individually tested</a:t>
            </a:r>
            <a:r>
              <a:rPr lang="en-US" sz="1100" dirty="0">
                <a:solidFill>
                  <a:srgbClr val="333333"/>
                </a:solidFill>
                <a:latin typeface="Calibri" pitchFamily="34" charset="0"/>
                <a:ea typeface="Calibri" pitchFamily="34" charset="-122"/>
                <a:cs typeface="Calibri" pitchFamily="34" charset="-120"/>
              </a:rPr>
              <a:t> and designated as producing measurements </a:t>
            </a:r>
            <a:r>
              <a:rPr lang="en-US" sz="1100" i="1" dirty="0">
                <a:solidFill>
                  <a:srgbClr val="333333"/>
                </a:solidFill>
                <a:latin typeface="Calibri" pitchFamily="34" charset="0"/>
                <a:ea typeface="Calibri" pitchFamily="34" charset="-122"/>
                <a:cs typeface="Calibri" pitchFamily="34" charset="-120"/>
              </a:rPr>
              <a:t>statistically equivalent to the FRM.</a:t>
            </a:r>
            <a:endParaRPr lang="en-US" sz="1100" dirty="0"/>
          </a:p>
          <a:p>
            <a:pPr marL="0" indent="0">
              <a:spcAft>
                <a:spcPts val="300"/>
              </a:spcAft>
              <a:buNone/>
            </a:pP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FEM lets us have </a:t>
            </a:r>
            <a:r>
              <a:rPr lang="en-US" sz="1100" b="1" dirty="0">
                <a:solidFill>
                  <a:srgbClr val="0F766E"/>
                </a:solidFill>
                <a:latin typeface="Calibri" pitchFamily="34" charset="0"/>
                <a:ea typeface="Calibri" pitchFamily="34" charset="-122"/>
                <a:cs typeface="Calibri" pitchFamily="34" charset="-120"/>
              </a:rPr>
              <a:t>continuous, hourly, near-real-time data</a:t>
            </a:r>
            <a:r>
              <a:rPr lang="en-US" sz="1100" dirty="0">
                <a:solidFill>
                  <a:srgbClr val="333333"/>
                </a:solidFill>
                <a:latin typeface="Calibri" pitchFamily="34" charset="0"/>
                <a:ea typeface="Calibri" pitchFamily="34" charset="-122"/>
                <a:cs typeface="Calibri" pitchFamily="34" charset="-120"/>
              </a:rPr>
              <a:t> that regulatory reporting can still use.</a:t>
            </a:r>
            <a:endParaRPr lang="en-US" sz="1100" dirty="0"/>
          </a:p>
          <a:p>
            <a:pPr marL="0" indent="0">
              <a:spcAft>
                <a:spcPts val="300"/>
              </a:spcAft>
              <a:buNone/>
            </a:pPr>
            <a:endParaRPr lang="en-US" sz="1100" dirty="0"/>
          </a:p>
          <a:p>
            <a:pPr marL="0" indent="0">
              <a:spcAft>
                <a:spcPts val="300"/>
              </a:spcAft>
              <a:buNone/>
            </a:pPr>
            <a:r>
              <a:rPr lang="en-US" sz="1100" b="1" dirty="0">
                <a:solidFill>
                  <a:srgbClr val="333333"/>
                </a:solidFill>
                <a:latin typeface="Calibri" pitchFamily="34" charset="0"/>
                <a:ea typeface="Calibri" pitchFamily="34" charset="-122"/>
                <a:cs typeface="Calibri" pitchFamily="34" charset="-120"/>
              </a:rPr>
              <a:t>Examples:</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PM2.5: Met One BAM 1020/1022, Thermo 5014i, TEOM 1405-FDMS</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PM10: BAM 1020, TEOM 1405</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Ozone: Teledyne T400, Thermo 49i UV analyzers</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NO2 (Class II): Teledyne T500U CAPS spectroscopy</a:t>
            </a:r>
            <a:endParaRPr lang="en-US" sz="1100" dirty="0"/>
          </a:p>
        </p:txBody>
      </p:sp>
      <p:sp>
        <p:nvSpPr>
          <p:cNvPr id="16"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7" name="Text 1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8 / 60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REFERENCE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FEM classes — I, II, and III</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8361234"/>
              </p:ext>
            </p:extLst>
          </p:nvPr>
        </p:nvGraphicFramePr>
        <p:xfrm>
          <a:off x="548640" y="1417320"/>
          <a:ext cx="11064240" cy="3291840"/>
        </p:xfrm>
        <a:graphic>
          <a:graphicData uri="http://schemas.openxmlformats.org/drawingml/2006/table">
            <a:tbl>
              <a:tblPr/>
              <a:tblGrid>
                <a:gridCol w="10972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82296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Class</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What it means</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PM2.5 examples</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How it can drift from FRM</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82296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Class I</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Manual method 'near-identical' to FRM (different filter model, sampler layout, or brand)</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Rupprecht &amp; Patashnick 2025, Andersen sequential FRM equivalents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Minimal — designed as a drop-in for the FRM</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Class II</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Continuous method with the SAME measurement principle as FRM but automated (e.g., filter-based gravimetric on an automated cycle)</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TEOM 1405-DF (dual-channel + FDMS), some BAM designations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Small — automation adds handling artifacts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82296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Class III</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Continuous method with a SUBSTANTIALLY DIFFERENT measurement principle from FRM</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Met One BAM 1020 (β-attenuation), GRIMM 180 (optical particle counting), Teledyne T640 (light-scattering)</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Can drift 10–30% in warm/humid coastal conditions — need field calibration</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892040"/>
            <a:ext cx="11064240" cy="1417320"/>
          </a:xfrm>
          <a:prstGeom prst="roundRect">
            <a:avLst>
              <a:gd name="adj" fmla="val 516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777240" y="5029200"/>
            <a:ext cx="106070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What this means for our Coastal Bend queries</a:t>
            </a:r>
            <a:endParaRPr lang="en-US" sz="1400" dirty="0"/>
          </a:p>
        </p:txBody>
      </p:sp>
      <p:sp>
        <p:nvSpPr>
          <p:cNvPr id="7" name="Text 4"/>
          <p:cNvSpPr/>
          <p:nvPr/>
        </p:nvSpPr>
        <p:spPr>
          <a:xfrm>
            <a:off x="777240" y="5394960"/>
            <a:ext cx="10607040" cy="914400"/>
          </a:xfrm>
          <a:prstGeom prst="rect">
            <a:avLst/>
          </a:prstGeom>
          <a:noFill/>
          <a:ln/>
        </p:spPr>
        <p:txBody>
          <a:bodyPr wrap="square" lIns="0" tIns="0" rIns="0" bIns="0" rtlCol="0" anchor="t"/>
          <a:lstStyle/>
          <a:p>
            <a:pPr marL="0" indent="0">
              <a:buNone/>
            </a:pPr>
            <a:r>
              <a:rPr lang="en-US" sz="1400" b="1" dirty="0">
                <a:solidFill>
                  <a:srgbClr val="C2410C"/>
                </a:solidFill>
                <a:latin typeface="Calibri" pitchFamily="34" charset="0"/>
                <a:ea typeface="Calibri" pitchFamily="34" charset="-122"/>
                <a:cs typeface="Calibri" pitchFamily="34" charset="-120"/>
              </a:rPr>
              <a:t>→ </a:t>
            </a:r>
            <a:r>
              <a:rPr lang="en-US" sz="1400" dirty="0">
                <a:solidFill>
                  <a:srgbClr val="333333"/>
                </a:solidFill>
                <a:latin typeface="Calibri" pitchFamily="34" charset="0"/>
                <a:ea typeface="Calibri" pitchFamily="34" charset="-122"/>
                <a:cs typeface="Calibri" pitchFamily="34" charset="-120"/>
              </a:rPr>
              <a:t>Parameter code </a:t>
            </a:r>
            <a:r>
              <a:rPr lang="en-US" sz="1400" b="1" dirty="0">
                <a:solidFill>
                  <a:srgbClr val="213C4E"/>
                </a:solidFill>
                <a:latin typeface="Calibri" pitchFamily="34" charset="0"/>
                <a:ea typeface="Calibri" pitchFamily="34" charset="-122"/>
                <a:cs typeface="Calibri" pitchFamily="34" charset="-120"/>
              </a:rPr>
              <a:t>88101</a:t>
            </a:r>
            <a:r>
              <a:rPr lang="en-US" sz="1400" dirty="0">
                <a:solidFill>
                  <a:srgbClr val="333333"/>
                </a:solidFill>
                <a:latin typeface="Calibri" pitchFamily="34" charset="0"/>
                <a:ea typeface="Calibri" pitchFamily="34" charset="-122"/>
                <a:cs typeface="Calibri" pitchFamily="34" charset="-120"/>
              </a:rPr>
              <a:t> ('PM2.5 – Local Conditions') = FRM + Class I FEM data — the </a:t>
            </a:r>
            <a:r>
              <a:rPr lang="en-US" sz="1400" b="1" dirty="0">
                <a:solidFill>
                  <a:srgbClr val="333333"/>
                </a:solidFill>
                <a:latin typeface="Calibri" pitchFamily="34" charset="0"/>
                <a:ea typeface="Calibri" pitchFamily="34" charset="-122"/>
                <a:cs typeface="Calibri" pitchFamily="34" charset="-120"/>
              </a:rPr>
              <a:t>NAAQS-eligible</a:t>
            </a:r>
            <a:r>
              <a:rPr lang="en-US" sz="1400" dirty="0">
                <a:solidFill>
                  <a:srgbClr val="333333"/>
                </a:solidFill>
                <a:latin typeface="Calibri" pitchFamily="34" charset="0"/>
                <a:ea typeface="Calibri" pitchFamily="34" charset="-122"/>
                <a:cs typeface="Calibri" pitchFamily="34" charset="-120"/>
              </a:rPr>
              <a:t> subset. Design values are computed only from 88101.</a:t>
            </a:r>
            <a:endParaRPr lang="en-US" sz="1400" dirty="0"/>
          </a:p>
          <a:p>
            <a:pPr marL="0" indent="0">
              <a:buNone/>
            </a:pPr>
            <a:r>
              <a:rPr lang="en-US" sz="1400" b="1" dirty="0">
                <a:solidFill>
                  <a:srgbClr val="C2410C"/>
                </a:solidFill>
                <a:latin typeface="Calibri" pitchFamily="34" charset="0"/>
                <a:ea typeface="Calibri" pitchFamily="34" charset="-122"/>
                <a:cs typeface="Calibri" pitchFamily="34" charset="-120"/>
              </a:rPr>
              <a:t>→ </a:t>
            </a:r>
            <a:r>
              <a:rPr lang="en-US" sz="1400" dirty="0">
                <a:solidFill>
                  <a:srgbClr val="333333"/>
                </a:solidFill>
                <a:latin typeface="Calibri" pitchFamily="34" charset="0"/>
                <a:ea typeface="Calibri" pitchFamily="34" charset="-122"/>
                <a:cs typeface="Calibri" pitchFamily="34" charset="-120"/>
              </a:rPr>
              <a:t>Parameter code </a:t>
            </a:r>
            <a:r>
              <a:rPr lang="en-US" sz="1400" b="1" dirty="0">
                <a:solidFill>
                  <a:srgbClr val="213C4E"/>
                </a:solidFill>
                <a:latin typeface="Calibri" pitchFamily="34" charset="0"/>
                <a:ea typeface="Calibri" pitchFamily="34" charset="-122"/>
                <a:cs typeface="Calibri" pitchFamily="34" charset="-120"/>
              </a:rPr>
              <a:t>88502</a:t>
            </a:r>
            <a:r>
              <a:rPr lang="en-US" sz="1400" dirty="0">
                <a:solidFill>
                  <a:srgbClr val="333333"/>
                </a:solidFill>
                <a:latin typeface="Calibri" pitchFamily="34" charset="0"/>
                <a:ea typeface="Calibri" pitchFamily="34" charset="-122"/>
                <a:cs typeface="Calibri" pitchFamily="34" charset="-120"/>
              </a:rPr>
              <a:t> ('Acceptable PM2.5 AQI &amp; Speciation Mass') = Class II/III continuous data (BAM/TEOM). Used for </a:t>
            </a:r>
            <a:r>
              <a:rPr lang="en-US" sz="1400" b="1" dirty="0">
                <a:solidFill>
                  <a:srgbClr val="333333"/>
                </a:solidFill>
                <a:latin typeface="Calibri" pitchFamily="34" charset="0"/>
                <a:ea typeface="Calibri" pitchFamily="34" charset="-122"/>
                <a:cs typeface="Calibri" pitchFamily="34" charset="-120"/>
              </a:rPr>
              <a:t>near-real-time AQI reporting</a:t>
            </a:r>
            <a:r>
              <a:rPr lang="en-US" sz="1400" dirty="0">
                <a:solidFill>
                  <a:srgbClr val="333333"/>
                </a:solidFill>
                <a:latin typeface="Calibri" pitchFamily="34" charset="0"/>
                <a:ea typeface="Calibri" pitchFamily="34" charset="-122"/>
                <a:cs typeface="Calibri" pitchFamily="34" charset="-120"/>
              </a:rPr>
              <a:t> but </a:t>
            </a:r>
            <a:r>
              <a:rPr lang="en-US" sz="1400" b="1" dirty="0">
                <a:solidFill>
                  <a:srgbClr val="9F1239"/>
                </a:solidFill>
                <a:latin typeface="Calibri" pitchFamily="34" charset="0"/>
                <a:ea typeface="Calibri" pitchFamily="34" charset="-122"/>
                <a:cs typeface="Calibri" pitchFamily="34" charset="-120"/>
              </a:rPr>
              <a:t>NOT eligible</a:t>
            </a:r>
            <a:r>
              <a:rPr lang="en-US" sz="1400" dirty="0">
                <a:solidFill>
                  <a:srgbClr val="333333"/>
                </a:solidFill>
                <a:latin typeface="Calibri" pitchFamily="34" charset="0"/>
                <a:ea typeface="Calibri" pitchFamily="34" charset="-122"/>
                <a:cs typeface="Calibri" pitchFamily="34" charset="-120"/>
              </a:rPr>
              <a:t> for the annual design value.</a:t>
            </a:r>
            <a:endParaRPr lang="en-US" sz="1400" dirty="0"/>
          </a:p>
        </p:txBody>
      </p:sp>
      <p:sp>
        <p:nvSpPr>
          <p:cNvPr id="8"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9" name="Text 6"/>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9 / 60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AQS parameter codes — the pollutant identifier</a:t>
            </a:r>
            <a:endParaRPr lang="en-US" sz="3000" dirty="0"/>
          </a:p>
        </p:txBody>
      </p:sp>
      <p:sp>
        <p:nvSpPr>
          <p:cNvPr id="4" name="Shape 2"/>
          <p:cNvSpPr/>
          <p:nvPr/>
        </p:nvSpPr>
        <p:spPr>
          <a:xfrm>
            <a:off x="548640" y="1417320"/>
            <a:ext cx="5120640" cy="384048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46634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How the code system works</a:t>
            </a:r>
            <a:endParaRPr lang="en-US" sz="1400" dirty="0"/>
          </a:p>
        </p:txBody>
      </p:sp>
      <p:sp>
        <p:nvSpPr>
          <p:cNvPr id="6" name="Text 4"/>
          <p:cNvSpPr/>
          <p:nvPr/>
        </p:nvSpPr>
        <p:spPr>
          <a:xfrm>
            <a:off x="777240" y="1965960"/>
            <a:ext cx="4663440" cy="4297680"/>
          </a:xfrm>
          <a:prstGeom prst="rect">
            <a:avLst/>
          </a:prstGeom>
          <a:noFill/>
          <a:ln/>
        </p:spPr>
        <p:txBody>
          <a:bodyPr wrap="square" lIns="0" tIns="0" rIns="0" bIns="0" rtlCol="0" anchor="t"/>
          <a:lstStyle/>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5-digit integer assigned by EPA that identifies </a:t>
            </a:r>
            <a:r>
              <a:rPr lang="en-US" sz="1400" b="1" dirty="0">
                <a:solidFill>
                  <a:srgbClr val="333333"/>
                </a:solidFill>
                <a:latin typeface="Calibri" pitchFamily="34" charset="0"/>
                <a:ea typeface="Calibri" pitchFamily="34" charset="-122"/>
                <a:cs typeface="Calibri" pitchFamily="34" charset="-120"/>
              </a:rPr>
              <a:t>exactly what chemical species is being measured</a:t>
            </a:r>
            <a:r>
              <a:rPr lang="en-US" sz="1400" dirty="0">
                <a:solidFill>
                  <a:srgbClr val="333333"/>
                </a:solidFill>
                <a:latin typeface="Calibri" pitchFamily="34" charset="0"/>
                <a:ea typeface="Calibri" pitchFamily="34" charset="-122"/>
                <a:cs typeface="Calibri" pitchFamily="34" charset="-120"/>
              </a:rPr>
              <a:t>. Different measurement principles for the same species can get different parameter codes.
</a:t>
            </a:r>
            <a:r>
              <a:rPr lang="en-US" sz="1400" b="1" dirty="0">
                <a:solidFill>
                  <a:srgbClr val="C2410C"/>
                </a:solidFill>
                <a:latin typeface="Calibri" pitchFamily="34" charset="0"/>
                <a:ea typeface="Calibri" pitchFamily="34" charset="-122"/>
                <a:cs typeface="Calibri" pitchFamily="34" charset="-120"/>
              </a:rPr>
              <a:t>Series prefixes</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42xxx — inorganic gases (CO, SO2, NO2, NOx)</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43xxx — VOCs: alkanes, alkenes, alkynes, oxygenates</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44xxx — photochemical oxidants (Ozone = 44201)</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45xxx — aromatic hydrocarbons (BTEX, xylenes)</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81xxx–88xxx — particulate matter</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88xxx — PM2.5 (mass + speciation)</a:t>
            </a:r>
            <a:endParaRPr lang="en-US" sz="1400" dirty="0"/>
          </a:p>
          <a:p>
            <a:pPr marL="0" indent="0">
              <a:spcAft>
                <a:spcPts val="200"/>
              </a:spcAft>
              <a:buNone/>
            </a:pPr>
            <a:r>
              <a:rPr lang="en-US" sz="1050" i="1" dirty="0">
                <a:solidFill>
                  <a:srgbClr val="6B7A85"/>
                </a:solidFill>
                <a:latin typeface="Calibri" pitchFamily="34" charset="0"/>
                <a:ea typeface="Calibri" pitchFamily="34" charset="-122"/>
                <a:cs typeface="Calibri" pitchFamily="34" charset="-120"/>
              </a:rPr>
              <a:t>Master list: aqs.epa.gov/aqsweb/documents/codetables/parameters.html</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3388077734"/>
              </p:ext>
            </p:extLst>
          </p:nvPr>
        </p:nvGraphicFramePr>
        <p:xfrm>
          <a:off x="5852160" y="1417320"/>
          <a:ext cx="5852160" cy="3878580"/>
        </p:xfrm>
        <a:graphic>
          <a:graphicData uri="http://schemas.openxmlformats.org/drawingml/2006/table">
            <a:tbl>
              <a:tblPr/>
              <a:tblGrid>
                <a:gridCol w="10058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8006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it is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 Aidan's pollutants?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80060">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81102</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PM10 STP (standard T, P)</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PM10</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0060">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85101</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PM10 – LC (local conditions)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PM10 (uncommon)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80060">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88101</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PM2.5 FRM/FEM Local</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PM2.5 — canonical</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0060">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88502</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PM2.5 Acceptable (Class II/III)</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PM2.5 — hourly BAM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80060">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88500</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PM2.5 Total Atmospheric</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PM2.5 (legacy, sparse)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0060">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43xxx</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Alkanes, alkenes, alkynes, oxygenates (dozens)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VOCs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80060">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45xxx</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Benzene, toluene, xylenes, TMBs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VOCs (aromatics)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hape 5"/>
          <p:cNvSpPr/>
          <p:nvPr/>
        </p:nvSpPr>
        <p:spPr>
          <a:xfrm>
            <a:off x="548640" y="5394960"/>
            <a:ext cx="11155680" cy="960120"/>
          </a:xfrm>
          <a:prstGeom prst="roundRect">
            <a:avLst>
              <a:gd name="adj" fmla="val 7619"/>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9" name="Text 6"/>
          <p:cNvSpPr/>
          <p:nvPr/>
        </p:nvSpPr>
        <p:spPr>
          <a:xfrm>
            <a:off x="1062990" y="5486400"/>
            <a:ext cx="10458450" cy="822960"/>
          </a:xfrm>
          <a:prstGeom prst="rect">
            <a:avLst/>
          </a:prstGeom>
          <a:noFill/>
          <a:ln/>
        </p:spPr>
        <p:txBody>
          <a:bodyPr wrap="square" lIns="0" tIns="0" rIns="0" bIns="0" rtlCol="0" anchor="ctr"/>
          <a:lstStyle/>
          <a:p>
            <a:pPr marL="0" indent="0">
              <a:buNone/>
            </a:pPr>
            <a:r>
              <a:rPr lang="en-US" sz="1400" dirty="0">
                <a:solidFill>
                  <a:srgbClr val="333333"/>
                </a:solidFill>
                <a:latin typeface="Calibri" pitchFamily="34" charset="0"/>
                <a:ea typeface="Calibri" pitchFamily="34" charset="-122"/>
                <a:cs typeface="Calibri" pitchFamily="34" charset="-120"/>
              </a:rPr>
              <a:t>Our v0.4.0 pipeline holds </a:t>
            </a:r>
            <a:r>
              <a:rPr lang="en-US" sz="1400" b="1" dirty="0">
                <a:solidFill>
                  <a:srgbClr val="C2410C"/>
                </a:solidFill>
                <a:latin typeface="Calibri" pitchFamily="34" charset="0"/>
                <a:ea typeface="Calibri" pitchFamily="34" charset="-122"/>
                <a:cs typeface="Calibri" pitchFamily="34" charset="-120"/>
              </a:rPr>
              <a:t>57 distinct parameter codes </a:t>
            </a:r>
            <a:r>
              <a:rPr lang="en-US" sz="1400" dirty="0">
                <a:solidFill>
                  <a:srgbClr val="333333"/>
                </a:solidFill>
                <a:latin typeface="Calibri" pitchFamily="34" charset="0"/>
                <a:ea typeface="Calibri" pitchFamily="34" charset="-122"/>
                <a:cs typeface="Calibri" pitchFamily="34" charset="-120"/>
              </a:rPr>
              <a:t>across the 51 TCEQ files: 9 criteria + 47 VOCs + 1 sparse PM10 variant. Full list: </a:t>
            </a:r>
            <a:r>
              <a:rPr lang="en-US" sz="1400" b="1" dirty="0">
                <a:solidFill>
                  <a:srgbClr val="213C4E"/>
                </a:solidFill>
                <a:latin typeface="Calibri" pitchFamily="34" charset="0"/>
                <a:ea typeface="Calibri" pitchFamily="34" charset="-122"/>
                <a:cs typeface="Calibri" pitchFamily="34" charset="-120"/>
              </a:rPr>
              <a:t>aq.parameter_reference</a:t>
            </a:r>
            <a:r>
              <a:rPr lang="en-US" sz="1400" dirty="0">
                <a:solidFill>
                  <a:srgbClr val="333333"/>
                </a:solidFill>
                <a:latin typeface="Calibri" pitchFamily="34" charset="0"/>
                <a:ea typeface="Calibri" pitchFamily="34" charset="-122"/>
                <a:cs typeface="Calibri" pitchFamily="34" charset="-120"/>
              </a:rPr>
              <a:t> table on Neon.</a:t>
            </a:r>
            <a:endParaRPr lang="en-US" sz="1400" dirty="0"/>
          </a:p>
        </p:txBody>
      </p:sp>
      <p:sp>
        <p:nvSpPr>
          <p:cNvPr id="10" name="Text 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7" name="Text 8"/>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10 / 60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AQS method codes — the instrument identifier</a:t>
            </a:r>
            <a:endParaRPr lang="en-US" sz="3000" dirty="0"/>
          </a:p>
        </p:txBody>
      </p:sp>
      <p:sp>
        <p:nvSpPr>
          <p:cNvPr id="4" name="Shape 2"/>
          <p:cNvSpPr/>
          <p:nvPr/>
        </p:nvSpPr>
        <p:spPr>
          <a:xfrm>
            <a:off x="54864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46634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What a method code encodes</a:t>
            </a:r>
            <a:endParaRPr lang="en-US" sz="1400" dirty="0"/>
          </a:p>
        </p:txBody>
      </p:sp>
      <p:sp>
        <p:nvSpPr>
          <p:cNvPr id="6" name="Text 4"/>
          <p:cNvSpPr/>
          <p:nvPr/>
        </p:nvSpPr>
        <p:spPr>
          <a:xfrm>
            <a:off x="777240" y="1965960"/>
            <a:ext cx="4663440" cy="4297680"/>
          </a:xfrm>
          <a:prstGeom prst="rect">
            <a:avLst/>
          </a:prstGeom>
          <a:noFill/>
          <a:ln/>
        </p:spPr>
        <p:txBody>
          <a:bodyPr wrap="square" lIns="0" tIns="0" rIns="0" bIns="0" rtlCol="0" anchor="t"/>
          <a:lstStyle/>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3-digit integer identifying the </a:t>
            </a:r>
            <a:r>
              <a:rPr lang="en-US" sz="1400" b="1" dirty="0">
                <a:solidFill>
                  <a:srgbClr val="333333"/>
                </a:solidFill>
                <a:latin typeface="Calibri" pitchFamily="34" charset="0"/>
                <a:ea typeface="Calibri" pitchFamily="34" charset="-122"/>
                <a:cs typeface="Calibri" pitchFamily="34" charset="-120"/>
              </a:rPr>
              <a:t>specific instrument + configuration</a:t>
            </a:r>
            <a:r>
              <a:rPr lang="en-US" sz="1400" dirty="0">
                <a:solidFill>
                  <a:srgbClr val="333333"/>
                </a:solidFill>
                <a:latin typeface="Calibri" pitchFamily="34" charset="0"/>
                <a:ea typeface="Calibri" pitchFamily="34" charset="-122"/>
                <a:cs typeface="Calibri" pitchFamily="34" charset="-120"/>
              </a:rPr>
              <a:t> that produced a row of data.
The last 3 digits of an EPA FRM/FEM designation typically become the method code — so </a:t>
            </a:r>
            <a:r>
              <a:rPr lang="en-US" sz="1400" b="1" dirty="0">
                <a:solidFill>
                  <a:srgbClr val="C2410C"/>
                </a:solidFill>
                <a:latin typeface="Calibri" pitchFamily="34" charset="0"/>
                <a:ea typeface="Calibri" pitchFamily="34" charset="-122"/>
                <a:cs typeface="Calibri" pitchFamily="34" charset="-120"/>
              </a:rPr>
              <a:t>EQPM-0798-122 → method 122</a:t>
            </a:r>
            <a:r>
              <a:rPr lang="en-US" sz="1400" dirty="0">
                <a:solidFill>
                  <a:srgbClr val="333333"/>
                </a:solidFill>
                <a:latin typeface="Calibri" pitchFamily="34" charset="0"/>
                <a:ea typeface="Calibri" pitchFamily="34" charset="-122"/>
                <a:cs typeface="Calibri" pitchFamily="34" charset="-120"/>
              </a:rPr>
              <a:t>.
</a:t>
            </a:r>
            <a:r>
              <a:rPr lang="en-US" sz="1400" b="1" dirty="0">
                <a:solidFill>
                  <a:srgbClr val="C2410C"/>
                </a:solidFill>
                <a:latin typeface="Calibri" pitchFamily="34" charset="0"/>
                <a:ea typeface="Calibri" pitchFamily="34" charset="-122"/>
                <a:cs typeface="Calibri" pitchFamily="34" charset="-120"/>
              </a:rPr>
              <a:t>Why this matters for us</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The method code tells us which instrument was in the shelter that hour. If we don't track it, we can't detect the </a:t>
            </a:r>
            <a:r>
              <a:rPr lang="en-US" sz="1400" b="1" dirty="0">
                <a:solidFill>
                  <a:srgbClr val="333333"/>
                </a:solidFill>
                <a:latin typeface="Calibri" pitchFamily="34" charset="0"/>
                <a:ea typeface="Calibri" pitchFamily="34" charset="-122"/>
                <a:cs typeface="Calibri" pitchFamily="34" charset="-120"/>
              </a:rPr>
              <a:t>mid-study sensor change</a:t>
            </a:r>
            <a:r>
              <a:rPr lang="en-US" sz="1400" dirty="0">
                <a:solidFill>
                  <a:srgbClr val="333333"/>
                </a:solidFill>
                <a:latin typeface="Calibri" pitchFamily="34" charset="0"/>
                <a:ea typeface="Calibri" pitchFamily="34" charset="-122"/>
                <a:cs typeface="Calibri" pitchFamily="34" charset="-120"/>
              </a:rPr>
              <a:t> that turned a BAM 1020 into a TEOM 1405, and we'd inadvertently merge two instruments' measurements.</a:t>
            </a:r>
          </a:p>
          <a:p>
            <a:pPr marL="800100" lvl="1" indent="-342900">
              <a:spcAft>
                <a:spcPts val="200"/>
              </a:spcAft>
              <a:buSzPct val="100000"/>
              <a:buChar char="•"/>
            </a:pPr>
            <a:r>
              <a:rPr lang="en-US" sz="1100" i="1" dirty="0">
                <a:solidFill>
                  <a:srgbClr val="6B7A85"/>
                </a:solidFill>
                <a:latin typeface="Calibri" pitchFamily="34" charset="0"/>
                <a:ea typeface="Calibri" pitchFamily="34" charset="-122"/>
                <a:cs typeface="Calibri" pitchFamily="34" charset="-120"/>
              </a:rPr>
              <a:t>The TCEQ Annual Monitoring Network Plan documents planned changes each year — but only back to about 2018.</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3218596826"/>
              </p:ext>
            </p:extLst>
          </p:nvPr>
        </p:nvGraphicFramePr>
        <p:xfrm>
          <a:off x="5852160" y="1417320"/>
          <a:ext cx="5852160" cy="4892040"/>
        </p:xfrm>
        <a:graphic>
          <a:graphicData uri="http://schemas.openxmlformats.org/drawingml/2006/table">
            <a:tbl>
              <a:tblPr/>
              <a:tblGrid>
                <a:gridCol w="914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89204">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Method</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Instrument</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Applies to</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122</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R&amp;P PM10 hi-vol sampler (legacy TEOM 1400)</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PM10 / PM2.5 (legacy)</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128</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PE 8700 AutoGC dual-FID (legacy PAMS)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VOCs (older CC Palm)</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141</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Hi-vol gravimetric filter (Appendix J)</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PM10 24hr — site 0060</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142</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PM2.5 filter FRM (Appendix L)</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PM2.5 FRM</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145</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Met One BAM 1020</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PM2.5 / PM10 continuous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TEOM 1400 (legacy)</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PM2.5 (retired)</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181</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TEOM 1405-F/FDMS (semi-vol corrected)</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PM2.5 continuous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209</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Met One BAM 1020 (newer designation)</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PM2.5 / PM10</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489204">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736</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Met One BAM 1022 (trace-level)</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PM2.5 low-conc</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9" name="Text 6"/>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11 / 60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Sample duration codes — hourly vs 24-hr</a:t>
            </a:r>
            <a:endParaRPr lang="en-US" sz="3000" dirty="0"/>
          </a:p>
        </p:txBody>
      </p:sp>
      <p:sp>
        <p:nvSpPr>
          <p:cNvPr id="4" name="Shape 2"/>
          <p:cNvSpPr/>
          <p:nvPr/>
        </p:nvSpPr>
        <p:spPr>
          <a:xfrm>
            <a:off x="54864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46634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Why this drives table routing</a:t>
            </a:r>
            <a:endParaRPr lang="en-US" sz="1400" dirty="0"/>
          </a:p>
        </p:txBody>
      </p:sp>
      <p:sp>
        <p:nvSpPr>
          <p:cNvPr id="6" name="Text 4"/>
          <p:cNvSpPr/>
          <p:nvPr/>
        </p:nvSpPr>
        <p:spPr>
          <a:xfrm>
            <a:off x="777240" y="1965960"/>
            <a:ext cx="4663440" cy="4297680"/>
          </a:xfrm>
          <a:prstGeom prst="rect">
            <a:avLst/>
          </a:prstGeom>
          <a:noFill/>
          <a:ln/>
        </p:spPr>
        <p:txBody>
          <a:bodyPr wrap="square" lIns="0" tIns="0" rIns="0" bIns="0" rtlCol="0" anchor="t"/>
          <a:lstStyle/>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Every raw AQS RD row carries a </a:t>
            </a:r>
            <a:r>
              <a:rPr lang="en-US" sz="1400" b="1" dirty="0">
                <a:solidFill>
                  <a:srgbClr val="C2410C"/>
                </a:solidFill>
                <a:latin typeface="Calibri" pitchFamily="34" charset="0"/>
                <a:ea typeface="Calibri" pitchFamily="34" charset="-122"/>
                <a:cs typeface="Calibri" pitchFamily="34" charset="-120"/>
              </a:rPr>
              <a:t>Sample Duration Code</a:t>
            </a:r>
            <a:r>
              <a:rPr lang="en-US" sz="1400" dirty="0">
                <a:solidFill>
                  <a:srgbClr val="333333"/>
                </a:solidFill>
                <a:latin typeface="Calibri" pitchFamily="34" charset="0"/>
                <a:ea typeface="Calibri" pitchFamily="34" charset="-122"/>
                <a:cs typeface="Calibri" pitchFamily="34" charset="-120"/>
              </a:rPr>
              <a:t> in field 8. This tells us the sampling window that produced the reported value.
Our pipeline routes rows to different tables based on this:
</a:t>
            </a:r>
            <a:endParaRPr lang="en-US" sz="1400" dirty="0"/>
          </a:p>
          <a:p>
            <a:pPr marL="342900" indent="-342900">
              <a:spcAft>
                <a:spcPts val="200"/>
              </a:spcAft>
              <a:buSzPct val="100000"/>
              <a:buChar char="•"/>
            </a:pPr>
            <a:r>
              <a:rPr lang="en-US" sz="1400" b="1" dirty="0">
                <a:solidFill>
                  <a:srgbClr val="333333"/>
                </a:solidFill>
                <a:latin typeface="Calibri" pitchFamily="34" charset="0"/>
                <a:ea typeface="Calibri" pitchFamily="34" charset="-122"/>
                <a:cs typeface="Calibri" pitchFamily="34" charset="-120"/>
              </a:rPr>
              <a:t>1 (hourly) → </a:t>
            </a:r>
            <a:endParaRPr lang="en-US" sz="1400" dirty="0"/>
          </a:p>
          <a:p>
            <a:pPr marL="342900" indent="-342900">
              <a:spcAft>
                <a:spcPts val="200"/>
              </a:spcAft>
              <a:buSzPct val="100000"/>
              <a:buChar char="•"/>
            </a:pPr>
            <a:r>
              <a:rPr lang="en-US" sz="1400" dirty="0">
                <a:solidFill>
                  <a:srgbClr val="213C4E"/>
                </a:solidFill>
                <a:latin typeface="Calibri" pitchFamily="34" charset="0"/>
                <a:ea typeface="Calibri" pitchFamily="34" charset="-122"/>
                <a:cs typeface="Calibri" pitchFamily="34" charset="-120"/>
              </a:rPr>
              <a:t>aq.pollutant_hourly / vocs_1hr</a:t>
            </a:r>
            <a:endParaRPr lang="en-US" sz="1400" dirty="0"/>
          </a:p>
          <a:p>
            <a:pPr marL="342900" indent="-342900">
              <a:spcAft>
                <a:spcPts val="200"/>
              </a:spcAft>
              <a:buSzPct val="100000"/>
              <a:buChar char="•"/>
            </a:pPr>
            <a:r>
              <a:rPr lang="en-US" sz="1400" b="1" dirty="0">
                <a:solidFill>
                  <a:srgbClr val="333333"/>
                </a:solidFill>
                <a:latin typeface="Calibri" pitchFamily="34" charset="0"/>
                <a:ea typeface="Calibri" pitchFamily="34" charset="-122"/>
                <a:cs typeface="Calibri" pitchFamily="34" charset="-120"/>
              </a:rPr>
              <a:t>7 (24hr block) → </a:t>
            </a:r>
            <a:endParaRPr lang="en-US" sz="1400" dirty="0"/>
          </a:p>
          <a:p>
            <a:pPr marL="342900" indent="-342900">
              <a:spcAft>
                <a:spcPts val="200"/>
              </a:spcAft>
              <a:buSzPct val="100000"/>
              <a:buChar char="•"/>
            </a:pPr>
            <a:r>
              <a:rPr lang="en-US" sz="1400" dirty="0">
                <a:solidFill>
                  <a:srgbClr val="213C4E"/>
                </a:solidFill>
                <a:latin typeface="Calibri" pitchFamily="34" charset="0"/>
                <a:ea typeface="Calibri" pitchFamily="34" charset="-122"/>
                <a:cs typeface="Calibri" pitchFamily="34" charset="-120"/>
              </a:rPr>
              <a:t>aq.pollutant_daily_24hr</a:t>
            </a:r>
            <a:endParaRPr lang="en-US" sz="1400" dirty="0"/>
          </a:p>
          <a:p>
            <a:pPr marL="342900" indent="-342900">
              <a:spcAft>
                <a:spcPts val="200"/>
              </a:spcAft>
              <a:buSzPct val="100000"/>
              <a:buChar char="•"/>
            </a:pPr>
            <a:r>
              <a:rPr lang="en-US" sz="1400" b="1" dirty="0">
                <a:solidFill>
                  <a:srgbClr val="333333"/>
                </a:solidFill>
                <a:latin typeface="Calibri" pitchFamily="34" charset="0"/>
                <a:ea typeface="Calibri" pitchFamily="34" charset="-122"/>
                <a:cs typeface="Calibri" pitchFamily="34" charset="-120"/>
              </a:rPr>
              <a:t>X (24hr average) → </a:t>
            </a:r>
            <a:endParaRPr lang="en-US" sz="1400" dirty="0"/>
          </a:p>
          <a:p>
            <a:pPr marL="342900" indent="-342900">
              <a:spcAft>
                <a:spcPts val="200"/>
              </a:spcAft>
              <a:buSzPct val="100000"/>
              <a:buChar char="•"/>
            </a:pPr>
            <a:r>
              <a:rPr lang="en-US" sz="1400" dirty="0">
                <a:solidFill>
                  <a:srgbClr val="213C4E"/>
                </a:solidFill>
                <a:latin typeface="Calibri" pitchFamily="34" charset="0"/>
                <a:ea typeface="Calibri" pitchFamily="34" charset="-122"/>
                <a:cs typeface="Calibri" pitchFamily="34" charset="-120"/>
              </a:rPr>
              <a:t>aq.pollutant_daily_24hr</a:t>
            </a:r>
            <a:endParaRPr lang="en-US" sz="1400" dirty="0"/>
          </a:p>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In Aidan's pollutants, sample duration matters most for:</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PM10 FRM at San Antonio Palo Alto (dur=7)</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VOC 24hr canister sampling at CC Hillcrest, Dona Park, Holly (dur=7)</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2319280771"/>
              </p:ext>
            </p:extLst>
          </p:nvPr>
        </p:nvGraphicFramePr>
        <p:xfrm>
          <a:off x="5852160" y="1417320"/>
          <a:ext cx="5852160" cy="4969323"/>
        </p:xfrm>
        <a:graphic>
          <a:graphicData uri="http://schemas.openxmlformats.org/drawingml/2006/table">
            <a:tbl>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49431">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Typical usage</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 hour</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Most FEM continuous data</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2 hour</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Rare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4 hour</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Some legacy PAMS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 hour</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Legacy CO</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24-hour block (midnight–midnight)</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PM2.5 FRM, PM10 FRM, TO-15 canisters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 week</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Long-integrated HAP samplers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H</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5 min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Special studies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I</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10 min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Special studies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J</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Some met + gas monitors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Some met</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0"/>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W</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8-hr rolling (starts at hour)</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Ozone 8-hr design values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X</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24-hr average (not block)</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Some AutoGC daily</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2"/>
                  </a:ext>
                </a:extLst>
              </a:tr>
              <a:tr h="349431">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Z</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8-hr rolling (ends at hour)</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Alt ozone form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8"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9" name="Text 6"/>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12 / 60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UNITS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Units — EPA vs TCEQ conventions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566160"/>
        </p:xfrm>
        <a:graphic>
          <a:graphicData uri="http://schemas.openxmlformats.org/drawingml/2006/table">
            <a:tbl>
              <a:tblPr/>
              <a:tblGrid>
                <a:gridCol w="2743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44577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Pollutant / class</a:t>
                      </a:r>
                      <a:endParaRPr lang="en-US" sz="11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EPA canonical unit</a:t>
                      </a:r>
                      <a:endParaRPr lang="en-US" sz="11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TCEQ native unit</a:t>
                      </a:r>
                      <a:endParaRPr lang="en-US" sz="11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Our pipeline stores</a:t>
                      </a:r>
                      <a:endParaRPr lang="en-US" sz="11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4577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Ozone (O3)</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ppm — parts per million</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 — parts per billion</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ppm (× 0.001 in step 01b)</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77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NO / NO2 / NOx</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 (no conversion)</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4577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CO</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ppm</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ppm</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ppm</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77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SO2</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4577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PM2.5</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µg/m³ (LC)</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µg/m³ (LC)</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µg/m³ (LC)</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77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PM10</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µg/m³ (STP for 81102, LC for 85101)</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µg/m³</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µg/m³</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4577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VOCs (43xxx, 45xxx)</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ppbC — parts per billion Carbon</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ppbC</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ppbC (no conversion)</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166360"/>
            <a:ext cx="5486400" cy="1143000"/>
          </a:xfrm>
          <a:prstGeom prst="roundRect">
            <a:avLst>
              <a:gd name="adj" fmla="val 6400"/>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777240" y="5303520"/>
            <a:ext cx="5029200" cy="868680"/>
          </a:xfrm>
          <a:prstGeom prst="rect">
            <a:avLst/>
          </a:prstGeom>
          <a:noFill/>
          <a:ln/>
        </p:spPr>
        <p:txBody>
          <a:bodyPr wrap="square" lIns="0" tIns="0" rIns="0" bIns="0" rtlCol="0" anchor="t"/>
          <a:lstStyle/>
          <a:p>
            <a:pPr marL="0" indent="0">
              <a:buNone/>
            </a:pPr>
            <a:r>
              <a:rPr lang="en-US" sz="1100" dirty="0">
                <a:solidFill>
                  <a:srgbClr val="333333"/>
                </a:solidFill>
                <a:latin typeface="Calibri" pitchFamily="34" charset="0"/>
                <a:ea typeface="Calibri" pitchFamily="34" charset="-122"/>
                <a:cs typeface="Calibri" pitchFamily="34" charset="-120"/>
              </a:rPr>
              <a:t>Ozone is the </a:t>
            </a:r>
            <a:r>
              <a:rPr lang="en-US" sz="1100" b="1" dirty="0">
                <a:solidFill>
                  <a:srgbClr val="C2410C"/>
                </a:solidFill>
                <a:latin typeface="Calibri" pitchFamily="34" charset="0"/>
                <a:ea typeface="Calibri" pitchFamily="34" charset="-122"/>
                <a:cs typeface="Calibri" pitchFamily="34" charset="-120"/>
              </a:rPr>
              <a:t>ONLY unit conversion</a:t>
            </a:r>
            <a:r>
              <a:rPr lang="en-US" sz="1100" dirty="0">
                <a:solidFill>
                  <a:srgbClr val="333333"/>
                </a:solidFill>
                <a:latin typeface="Calibri" pitchFamily="34" charset="0"/>
                <a:ea typeface="Calibri" pitchFamily="34" charset="-122"/>
                <a:cs typeface="Calibri" pitchFamily="34" charset="-120"/>
              </a:rPr>
              <a:t> in v0.4.0.
</a:t>
            </a:r>
            <a:endParaRPr lang="en-US" sz="1100" dirty="0"/>
          </a:p>
          <a:p>
            <a:pPr marL="0" indent="0">
              <a:buNone/>
            </a:pPr>
            <a:r>
              <a:rPr lang="en-US" sz="1100" i="1" dirty="0">
                <a:solidFill>
                  <a:srgbClr val="6B7A85"/>
                </a:solidFill>
                <a:latin typeface="Calibri" pitchFamily="34" charset="0"/>
                <a:ea typeface="Calibri" pitchFamily="34" charset="-122"/>
                <a:cs typeface="Calibri" pitchFamily="34" charset="-120"/>
              </a:rPr>
              <a:t>step_01b_ingest_tceq_raw.py multiplies parameter 44201 by 0.001 at ingest so downstream code always sees ppm.</a:t>
            </a:r>
            <a:endParaRPr lang="en-US" sz="1100" dirty="0"/>
          </a:p>
        </p:txBody>
      </p:sp>
      <p:sp>
        <p:nvSpPr>
          <p:cNvPr id="7" name="Shape 4"/>
          <p:cNvSpPr/>
          <p:nvPr/>
        </p:nvSpPr>
        <p:spPr>
          <a:xfrm>
            <a:off x="6172200" y="5166360"/>
            <a:ext cx="5486400" cy="1143000"/>
          </a:xfrm>
          <a:prstGeom prst="roundRect">
            <a:avLst>
              <a:gd name="adj" fmla="val 6400"/>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5"/>
          <p:cNvSpPr/>
          <p:nvPr/>
        </p:nvSpPr>
        <p:spPr>
          <a:xfrm>
            <a:off x="6400800" y="5303520"/>
            <a:ext cx="5029200" cy="868680"/>
          </a:xfrm>
          <a:prstGeom prst="rect">
            <a:avLst/>
          </a:prstGeom>
          <a:noFill/>
          <a:ln/>
        </p:spPr>
        <p:txBody>
          <a:bodyPr wrap="square" lIns="0" tIns="0" rIns="0" bIns="0" rtlCol="0" anchor="t"/>
          <a:lstStyle/>
          <a:p>
            <a:pPr marL="0" indent="0">
              <a:buNone/>
            </a:pPr>
            <a:r>
              <a:rPr lang="en-US" sz="1100" b="1" dirty="0">
                <a:solidFill>
                  <a:srgbClr val="C2410C"/>
                </a:solidFill>
                <a:latin typeface="Calibri" pitchFamily="34" charset="0"/>
                <a:ea typeface="Calibri" pitchFamily="34" charset="-122"/>
                <a:cs typeface="Calibri" pitchFamily="34" charset="-120"/>
              </a:rPr>
              <a:t>ppbC </a:t>
            </a:r>
            <a:r>
              <a:rPr lang="en-US" sz="1100" dirty="0">
                <a:solidFill>
                  <a:srgbClr val="333333"/>
                </a:solidFill>
                <a:latin typeface="Calibri" pitchFamily="34" charset="0"/>
                <a:ea typeface="Calibri" pitchFamily="34" charset="-122"/>
                <a:cs typeface="Calibri" pitchFamily="34" charset="-120"/>
              </a:rPr>
              <a:t>= parts per billion Carbon. For a compound with n carbon atoms:</a:t>
            </a:r>
            <a:endParaRPr lang="en-US" sz="1100" dirty="0"/>
          </a:p>
          <a:p>
            <a:pPr marL="0" indent="0">
              <a:buNone/>
            </a:pPr>
            <a:r>
              <a:rPr lang="en-US" sz="1100" b="1" dirty="0">
                <a:solidFill>
                  <a:srgbClr val="333333"/>
                </a:solidFill>
                <a:latin typeface="Courier New" pitchFamily="34" charset="0"/>
                <a:ea typeface="Courier New" pitchFamily="34" charset="-122"/>
                <a:cs typeface="Courier New" pitchFamily="34" charset="-120"/>
              </a:rPr>
              <a:t>ppbC = ppbv × n</a:t>
            </a:r>
            <a:endParaRPr lang="en-US" sz="1100" dirty="0"/>
          </a:p>
          <a:p>
            <a:pPr marL="0" indent="0">
              <a:buNone/>
            </a:pPr>
            <a:r>
              <a:rPr lang="en-US" sz="1000" i="1" dirty="0">
                <a:solidFill>
                  <a:srgbClr val="6B7A85"/>
                </a:solidFill>
                <a:latin typeface="Calibri" pitchFamily="34" charset="0"/>
                <a:ea typeface="Calibri" pitchFamily="34" charset="-122"/>
                <a:cs typeface="Calibri" pitchFamily="34" charset="-120"/>
              </a:rPr>
              <a:t>Standard PAMS reporting convention — normalizes for the O3-forming reactivity of hydrocarbons of different chain length.</a:t>
            </a:r>
            <a:endParaRPr lang="en-US" sz="1100" dirty="0"/>
          </a:p>
        </p:txBody>
      </p:sp>
      <p:sp>
        <p:nvSpPr>
          <p:cNvPr id="9" name="Text 6"/>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0" name="Text 7"/>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13 / 60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INSTRUMENTATION</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Sensor evolution over our study window</a:t>
            </a:r>
            <a:endParaRPr lang="en-US" sz="3000" dirty="0"/>
          </a:p>
        </p:txBody>
      </p:sp>
      <p:sp>
        <p:nvSpPr>
          <p:cNvPr id="4" name="Shape 2"/>
          <p:cNvSpPr/>
          <p:nvPr/>
        </p:nvSpPr>
        <p:spPr>
          <a:xfrm>
            <a:off x="548640" y="1828800"/>
            <a:ext cx="11064240" cy="2926080"/>
          </a:xfrm>
          <a:prstGeom prst="roundRect">
            <a:avLst>
              <a:gd name="adj" fmla="val 2500"/>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548640" y="1227050"/>
            <a:ext cx="106070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2015–2025 monitoring landscape for our pollutants</a:t>
            </a:r>
            <a:endParaRPr lang="en-US" sz="1400" dirty="0"/>
          </a:p>
        </p:txBody>
      </p:sp>
      <p:sp>
        <p:nvSpPr>
          <p:cNvPr id="6" name="Shape 4"/>
          <p:cNvSpPr/>
          <p:nvPr/>
        </p:nvSpPr>
        <p:spPr>
          <a:xfrm>
            <a:off x="1325880" y="2842030"/>
            <a:ext cx="9966960" cy="0"/>
          </a:xfrm>
          <a:prstGeom prst="line">
            <a:avLst/>
          </a:prstGeom>
          <a:noFill/>
          <a:ln w="38100">
            <a:solidFill>
              <a:srgbClr val="213C4E"/>
            </a:solidFill>
            <a:prstDash val="solid"/>
          </a:ln>
        </p:spPr>
        <p:txBody>
          <a:bodyPr/>
          <a:lstStyle/>
          <a:p>
            <a:endParaRPr lang="en-US"/>
          </a:p>
        </p:txBody>
      </p:sp>
      <p:sp>
        <p:nvSpPr>
          <p:cNvPr id="7" name="Shape 5"/>
          <p:cNvSpPr/>
          <p:nvPr/>
        </p:nvSpPr>
        <p:spPr>
          <a:xfrm>
            <a:off x="1325880" y="2750590"/>
            <a:ext cx="0" cy="182880"/>
          </a:xfrm>
          <a:prstGeom prst="line">
            <a:avLst/>
          </a:prstGeom>
          <a:noFill/>
          <a:ln w="19050">
            <a:solidFill>
              <a:srgbClr val="213C4E"/>
            </a:solidFill>
            <a:prstDash val="solid"/>
          </a:ln>
        </p:spPr>
        <p:txBody>
          <a:bodyPr/>
          <a:lstStyle/>
          <a:p>
            <a:endParaRPr lang="en-US"/>
          </a:p>
        </p:txBody>
      </p:sp>
      <p:sp>
        <p:nvSpPr>
          <p:cNvPr id="8" name="Text 6"/>
          <p:cNvSpPr/>
          <p:nvPr/>
        </p:nvSpPr>
        <p:spPr>
          <a:xfrm>
            <a:off x="1051560"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2015</a:t>
            </a:r>
            <a:endParaRPr lang="en-US" sz="900" dirty="0"/>
          </a:p>
        </p:txBody>
      </p:sp>
      <p:sp>
        <p:nvSpPr>
          <p:cNvPr id="9" name="Shape 7"/>
          <p:cNvSpPr/>
          <p:nvPr/>
        </p:nvSpPr>
        <p:spPr>
          <a:xfrm>
            <a:off x="2322576" y="2750590"/>
            <a:ext cx="0" cy="182880"/>
          </a:xfrm>
          <a:prstGeom prst="line">
            <a:avLst/>
          </a:prstGeom>
          <a:noFill/>
          <a:ln w="19050">
            <a:solidFill>
              <a:srgbClr val="213C4E"/>
            </a:solidFill>
            <a:prstDash val="solid"/>
          </a:ln>
        </p:spPr>
        <p:txBody>
          <a:bodyPr/>
          <a:lstStyle/>
          <a:p>
            <a:endParaRPr lang="en-US"/>
          </a:p>
        </p:txBody>
      </p:sp>
      <p:sp>
        <p:nvSpPr>
          <p:cNvPr id="10" name="Text 8"/>
          <p:cNvSpPr/>
          <p:nvPr/>
        </p:nvSpPr>
        <p:spPr>
          <a:xfrm>
            <a:off x="2048256"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2016</a:t>
            </a:r>
            <a:endParaRPr lang="en-US" sz="900" dirty="0"/>
          </a:p>
        </p:txBody>
      </p:sp>
      <p:sp>
        <p:nvSpPr>
          <p:cNvPr id="11" name="Shape 9"/>
          <p:cNvSpPr/>
          <p:nvPr/>
        </p:nvSpPr>
        <p:spPr>
          <a:xfrm>
            <a:off x="3319272" y="2750590"/>
            <a:ext cx="0" cy="182880"/>
          </a:xfrm>
          <a:prstGeom prst="line">
            <a:avLst/>
          </a:prstGeom>
          <a:noFill/>
          <a:ln w="19050">
            <a:solidFill>
              <a:srgbClr val="213C4E"/>
            </a:solidFill>
            <a:prstDash val="solid"/>
          </a:ln>
        </p:spPr>
        <p:txBody>
          <a:bodyPr/>
          <a:lstStyle/>
          <a:p>
            <a:endParaRPr lang="en-US"/>
          </a:p>
        </p:txBody>
      </p:sp>
      <p:sp>
        <p:nvSpPr>
          <p:cNvPr id="12" name="Text 10"/>
          <p:cNvSpPr/>
          <p:nvPr/>
        </p:nvSpPr>
        <p:spPr>
          <a:xfrm>
            <a:off x="3044952"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2017</a:t>
            </a:r>
            <a:endParaRPr lang="en-US" sz="900" dirty="0"/>
          </a:p>
        </p:txBody>
      </p:sp>
      <p:sp>
        <p:nvSpPr>
          <p:cNvPr id="13" name="Shape 11"/>
          <p:cNvSpPr/>
          <p:nvPr/>
        </p:nvSpPr>
        <p:spPr>
          <a:xfrm>
            <a:off x="4315968" y="2750590"/>
            <a:ext cx="0" cy="182880"/>
          </a:xfrm>
          <a:prstGeom prst="line">
            <a:avLst/>
          </a:prstGeom>
          <a:noFill/>
          <a:ln w="19050">
            <a:solidFill>
              <a:srgbClr val="213C4E"/>
            </a:solidFill>
            <a:prstDash val="solid"/>
          </a:ln>
        </p:spPr>
        <p:txBody>
          <a:bodyPr/>
          <a:lstStyle/>
          <a:p>
            <a:endParaRPr lang="en-US"/>
          </a:p>
        </p:txBody>
      </p:sp>
      <p:sp>
        <p:nvSpPr>
          <p:cNvPr id="14" name="Text 12"/>
          <p:cNvSpPr/>
          <p:nvPr/>
        </p:nvSpPr>
        <p:spPr>
          <a:xfrm>
            <a:off x="4041648"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2018</a:t>
            </a:r>
            <a:endParaRPr lang="en-US" sz="900" dirty="0"/>
          </a:p>
        </p:txBody>
      </p:sp>
      <p:sp>
        <p:nvSpPr>
          <p:cNvPr id="15" name="Shape 13"/>
          <p:cNvSpPr/>
          <p:nvPr/>
        </p:nvSpPr>
        <p:spPr>
          <a:xfrm>
            <a:off x="5312664" y="2750590"/>
            <a:ext cx="0" cy="182880"/>
          </a:xfrm>
          <a:prstGeom prst="line">
            <a:avLst/>
          </a:prstGeom>
          <a:noFill/>
          <a:ln w="19050">
            <a:solidFill>
              <a:srgbClr val="213C4E"/>
            </a:solidFill>
            <a:prstDash val="solid"/>
          </a:ln>
        </p:spPr>
        <p:txBody>
          <a:bodyPr/>
          <a:lstStyle/>
          <a:p>
            <a:endParaRPr lang="en-US"/>
          </a:p>
        </p:txBody>
      </p:sp>
      <p:sp>
        <p:nvSpPr>
          <p:cNvPr id="16" name="Text 14"/>
          <p:cNvSpPr/>
          <p:nvPr/>
        </p:nvSpPr>
        <p:spPr>
          <a:xfrm>
            <a:off x="5038344"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2019</a:t>
            </a:r>
            <a:endParaRPr lang="en-US" sz="900" dirty="0"/>
          </a:p>
        </p:txBody>
      </p:sp>
      <p:sp>
        <p:nvSpPr>
          <p:cNvPr id="17" name="Shape 15"/>
          <p:cNvSpPr/>
          <p:nvPr/>
        </p:nvSpPr>
        <p:spPr>
          <a:xfrm>
            <a:off x="6309360" y="2750590"/>
            <a:ext cx="0" cy="182880"/>
          </a:xfrm>
          <a:prstGeom prst="line">
            <a:avLst/>
          </a:prstGeom>
          <a:noFill/>
          <a:ln w="19050">
            <a:solidFill>
              <a:srgbClr val="213C4E"/>
            </a:solidFill>
            <a:prstDash val="solid"/>
          </a:ln>
        </p:spPr>
        <p:txBody>
          <a:bodyPr/>
          <a:lstStyle/>
          <a:p>
            <a:endParaRPr lang="en-US"/>
          </a:p>
        </p:txBody>
      </p:sp>
      <p:sp>
        <p:nvSpPr>
          <p:cNvPr id="18" name="Text 16"/>
          <p:cNvSpPr/>
          <p:nvPr/>
        </p:nvSpPr>
        <p:spPr>
          <a:xfrm>
            <a:off x="6035040"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2020</a:t>
            </a:r>
            <a:endParaRPr lang="en-US" sz="900" dirty="0"/>
          </a:p>
        </p:txBody>
      </p:sp>
      <p:sp>
        <p:nvSpPr>
          <p:cNvPr id="19" name="Shape 17"/>
          <p:cNvSpPr/>
          <p:nvPr/>
        </p:nvSpPr>
        <p:spPr>
          <a:xfrm>
            <a:off x="7306056" y="2750590"/>
            <a:ext cx="0" cy="182880"/>
          </a:xfrm>
          <a:prstGeom prst="line">
            <a:avLst/>
          </a:prstGeom>
          <a:noFill/>
          <a:ln w="19050">
            <a:solidFill>
              <a:srgbClr val="213C4E"/>
            </a:solidFill>
            <a:prstDash val="solid"/>
          </a:ln>
        </p:spPr>
        <p:txBody>
          <a:bodyPr/>
          <a:lstStyle/>
          <a:p>
            <a:endParaRPr lang="en-US"/>
          </a:p>
        </p:txBody>
      </p:sp>
      <p:sp>
        <p:nvSpPr>
          <p:cNvPr id="20" name="Text 18"/>
          <p:cNvSpPr/>
          <p:nvPr/>
        </p:nvSpPr>
        <p:spPr>
          <a:xfrm>
            <a:off x="7031736"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2021</a:t>
            </a:r>
            <a:endParaRPr lang="en-US" sz="900" dirty="0"/>
          </a:p>
        </p:txBody>
      </p:sp>
      <p:sp>
        <p:nvSpPr>
          <p:cNvPr id="21" name="Shape 19"/>
          <p:cNvSpPr/>
          <p:nvPr/>
        </p:nvSpPr>
        <p:spPr>
          <a:xfrm>
            <a:off x="8302752" y="2750590"/>
            <a:ext cx="0" cy="182880"/>
          </a:xfrm>
          <a:prstGeom prst="line">
            <a:avLst/>
          </a:prstGeom>
          <a:noFill/>
          <a:ln w="19050">
            <a:solidFill>
              <a:srgbClr val="213C4E"/>
            </a:solidFill>
            <a:prstDash val="solid"/>
          </a:ln>
        </p:spPr>
        <p:txBody>
          <a:bodyPr/>
          <a:lstStyle/>
          <a:p>
            <a:endParaRPr lang="en-US"/>
          </a:p>
        </p:txBody>
      </p:sp>
      <p:sp>
        <p:nvSpPr>
          <p:cNvPr id="22" name="Text 20"/>
          <p:cNvSpPr/>
          <p:nvPr/>
        </p:nvSpPr>
        <p:spPr>
          <a:xfrm>
            <a:off x="8028432"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2022</a:t>
            </a:r>
            <a:endParaRPr lang="en-US" sz="900" dirty="0"/>
          </a:p>
        </p:txBody>
      </p:sp>
      <p:sp>
        <p:nvSpPr>
          <p:cNvPr id="23" name="Shape 21"/>
          <p:cNvSpPr/>
          <p:nvPr/>
        </p:nvSpPr>
        <p:spPr>
          <a:xfrm>
            <a:off x="9299448" y="2750590"/>
            <a:ext cx="0" cy="182880"/>
          </a:xfrm>
          <a:prstGeom prst="line">
            <a:avLst/>
          </a:prstGeom>
          <a:noFill/>
          <a:ln w="19050">
            <a:solidFill>
              <a:srgbClr val="213C4E"/>
            </a:solidFill>
            <a:prstDash val="solid"/>
          </a:ln>
        </p:spPr>
        <p:txBody>
          <a:bodyPr/>
          <a:lstStyle/>
          <a:p>
            <a:endParaRPr lang="en-US"/>
          </a:p>
        </p:txBody>
      </p:sp>
      <p:sp>
        <p:nvSpPr>
          <p:cNvPr id="24" name="Text 22"/>
          <p:cNvSpPr/>
          <p:nvPr/>
        </p:nvSpPr>
        <p:spPr>
          <a:xfrm>
            <a:off x="9025128"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2023</a:t>
            </a:r>
            <a:endParaRPr lang="en-US" sz="900" dirty="0"/>
          </a:p>
        </p:txBody>
      </p:sp>
      <p:sp>
        <p:nvSpPr>
          <p:cNvPr id="25" name="Shape 23"/>
          <p:cNvSpPr/>
          <p:nvPr/>
        </p:nvSpPr>
        <p:spPr>
          <a:xfrm>
            <a:off x="10296144" y="2750590"/>
            <a:ext cx="0" cy="182880"/>
          </a:xfrm>
          <a:prstGeom prst="line">
            <a:avLst/>
          </a:prstGeom>
          <a:noFill/>
          <a:ln w="19050">
            <a:solidFill>
              <a:srgbClr val="213C4E"/>
            </a:solidFill>
            <a:prstDash val="solid"/>
          </a:ln>
        </p:spPr>
        <p:txBody>
          <a:bodyPr/>
          <a:lstStyle/>
          <a:p>
            <a:endParaRPr lang="en-US"/>
          </a:p>
        </p:txBody>
      </p:sp>
      <p:sp>
        <p:nvSpPr>
          <p:cNvPr id="26" name="Text 24"/>
          <p:cNvSpPr/>
          <p:nvPr/>
        </p:nvSpPr>
        <p:spPr>
          <a:xfrm>
            <a:off x="10021824"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2024</a:t>
            </a:r>
            <a:endParaRPr lang="en-US" sz="900" dirty="0"/>
          </a:p>
        </p:txBody>
      </p:sp>
      <p:sp>
        <p:nvSpPr>
          <p:cNvPr id="27" name="Shape 25"/>
          <p:cNvSpPr/>
          <p:nvPr/>
        </p:nvSpPr>
        <p:spPr>
          <a:xfrm>
            <a:off x="11292840" y="2750590"/>
            <a:ext cx="0" cy="182880"/>
          </a:xfrm>
          <a:prstGeom prst="line">
            <a:avLst/>
          </a:prstGeom>
          <a:noFill/>
          <a:ln w="19050">
            <a:solidFill>
              <a:srgbClr val="213C4E"/>
            </a:solidFill>
            <a:prstDash val="solid"/>
          </a:ln>
        </p:spPr>
        <p:txBody>
          <a:bodyPr/>
          <a:lstStyle/>
          <a:p>
            <a:endParaRPr lang="en-US"/>
          </a:p>
        </p:txBody>
      </p:sp>
      <p:sp>
        <p:nvSpPr>
          <p:cNvPr id="28" name="Text 26"/>
          <p:cNvSpPr/>
          <p:nvPr/>
        </p:nvSpPr>
        <p:spPr>
          <a:xfrm>
            <a:off x="11018520" y="297919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2025</a:t>
            </a:r>
            <a:endParaRPr lang="en-US" sz="900" dirty="0"/>
          </a:p>
        </p:txBody>
      </p:sp>
      <p:sp>
        <p:nvSpPr>
          <p:cNvPr id="29" name="Shape 27"/>
          <p:cNvSpPr/>
          <p:nvPr/>
        </p:nvSpPr>
        <p:spPr>
          <a:xfrm>
            <a:off x="1243584" y="2759734"/>
            <a:ext cx="164592" cy="164592"/>
          </a:xfrm>
          <a:prstGeom prst="ellipse">
            <a:avLst/>
          </a:prstGeom>
          <a:solidFill>
            <a:srgbClr val="213C4E"/>
          </a:solidFill>
          <a:ln w="12700">
            <a:solidFill>
              <a:srgbClr val="213C4E"/>
            </a:solidFill>
            <a:prstDash val="solid"/>
          </a:ln>
        </p:spPr>
        <p:txBody>
          <a:bodyPr/>
          <a:lstStyle/>
          <a:p>
            <a:endParaRPr lang="en-US"/>
          </a:p>
        </p:txBody>
      </p:sp>
      <p:sp>
        <p:nvSpPr>
          <p:cNvPr id="30" name="Text 28"/>
          <p:cNvSpPr/>
          <p:nvPr/>
        </p:nvSpPr>
        <p:spPr>
          <a:xfrm>
            <a:off x="548640" y="1836190"/>
            <a:ext cx="1554480" cy="502920"/>
          </a:xfrm>
          <a:prstGeom prst="rect">
            <a:avLst/>
          </a:prstGeom>
          <a:noFill/>
          <a:ln/>
        </p:spPr>
        <p:txBody>
          <a:bodyPr wrap="square" lIns="0" tIns="0" rIns="0" bIns="0" rtlCol="0" anchor="b"/>
          <a:lstStyle/>
          <a:p>
            <a:pPr marL="0" indent="0" algn="ctr">
              <a:buNone/>
            </a:pPr>
            <a:r>
              <a:rPr lang="en-US" sz="950" dirty="0">
                <a:solidFill>
                  <a:srgbClr val="213C4E"/>
                </a:solidFill>
                <a:latin typeface="Calibri" pitchFamily="34" charset="0"/>
                <a:ea typeface="Calibri" pitchFamily="34" charset="-122"/>
                <a:cs typeface="Calibri" pitchFamily="34" charset="-120"/>
              </a:rPr>
              <a:t>TCEQ BAM 1020 dominant</a:t>
            </a:r>
            <a:endParaRPr lang="en-US" sz="950" dirty="0"/>
          </a:p>
          <a:p>
            <a:pPr marL="0" indent="0" algn="ctr">
              <a:buNone/>
            </a:pPr>
            <a:r>
              <a:rPr lang="en-US" sz="950" dirty="0">
                <a:solidFill>
                  <a:srgbClr val="213C4E"/>
                </a:solidFill>
                <a:latin typeface="Calibri" pitchFamily="34" charset="0"/>
                <a:ea typeface="Calibri" pitchFamily="34" charset="-122"/>
                <a:cs typeface="Calibri" pitchFamily="34" charset="-120"/>
              </a:rPr>
              <a:t>for PM2.5 continuous</a:t>
            </a:r>
            <a:endParaRPr lang="en-US" sz="950" dirty="0"/>
          </a:p>
        </p:txBody>
      </p:sp>
      <p:sp>
        <p:nvSpPr>
          <p:cNvPr id="31" name="Shape 29"/>
          <p:cNvSpPr/>
          <p:nvPr/>
        </p:nvSpPr>
        <p:spPr>
          <a:xfrm>
            <a:off x="1325880" y="2339110"/>
            <a:ext cx="0" cy="457200"/>
          </a:xfrm>
          <a:prstGeom prst="line">
            <a:avLst/>
          </a:prstGeom>
          <a:noFill/>
          <a:ln w="12700">
            <a:solidFill>
              <a:srgbClr val="213C4E"/>
            </a:solidFill>
            <a:prstDash val="dash"/>
          </a:ln>
        </p:spPr>
        <p:txBody>
          <a:bodyPr/>
          <a:lstStyle/>
          <a:p>
            <a:endParaRPr lang="en-US"/>
          </a:p>
        </p:txBody>
      </p:sp>
      <p:sp>
        <p:nvSpPr>
          <p:cNvPr id="32" name="Shape 30"/>
          <p:cNvSpPr/>
          <p:nvPr/>
        </p:nvSpPr>
        <p:spPr>
          <a:xfrm>
            <a:off x="4233672" y="2759734"/>
            <a:ext cx="164592" cy="164592"/>
          </a:xfrm>
          <a:prstGeom prst="ellipse">
            <a:avLst/>
          </a:prstGeom>
          <a:solidFill>
            <a:srgbClr val="C2410C"/>
          </a:solidFill>
          <a:ln w="12700">
            <a:solidFill>
              <a:srgbClr val="C2410C"/>
            </a:solidFill>
            <a:prstDash val="solid"/>
          </a:ln>
        </p:spPr>
        <p:txBody>
          <a:bodyPr/>
          <a:lstStyle/>
          <a:p>
            <a:endParaRPr lang="en-US"/>
          </a:p>
        </p:txBody>
      </p:sp>
      <p:sp>
        <p:nvSpPr>
          <p:cNvPr id="33" name="Text 31"/>
          <p:cNvSpPr/>
          <p:nvPr/>
        </p:nvSpPr>
        <p:spPr>
          <a:xfrm>
            <a:off x="3538728" y="3299230"/>
            <a:ext cx="1554480" cy="502920"/>
          </a:xfrm>
          <a:prstGeom prst="rect">
            <a:avLst/>
          </a:prstGeom>
          <a:noFill/>
          <a:ln/>
        </p:spPr>
        <p:txBody>
          <a:bodyPr wrap="square" lIns="0" tIns="0" rIns="0" bIns="0" rtlCol="0" anchor="t"/>
          <a:lstStyle/>
          <a:p>
            <a:pPr marL="0" indent="0" algn="ctr">
              <a:buNone/>
            </a:pPr>
            <a:r>
              <a:rPr lang="en-US" sz="950" dirty="0">
                <a:solidFill>
                  <a:srgbClr val="C2410C"/>
                </a:solidFill>
                <a:latin typeface="Calibri" pitchFamily="34" charset="0"/>
                <a:ea typeface="Calibri" pitchFamily="34" charset="-122"/>
                <a:cs typeface="Calibri" pitchFamily="34" charset="-120"/>
              </a:rPr>
              <a:t>TEOM 1400 loses FEM</a:t>
            </a:r>
            <a:endParaRPr lang="en-US" sz="950" dirty="0"/>
          </a:p>
          <a:p>
            <a:pPr marL="0" indent="0" algn="ctr">
              <a:buNone/>
            </a:pPr>
            <a:r>
              <a:rPr lang="en-US" sz="950" dirty="0">
                <a:solidFill>
                  <a:srgbClr val="C2410C"/>
                </a:solidFill>
                <a:latin typeface="Calibri" pitchFamily="34" charset="0"/>
                <a:ea typeface="Calibri" pitchFamily="34" charset="-122"/>
                <a:cs typeface="Calibri" pitchFamily="34" charset="-120"/>
              </a:rPr>
              <a:t>status (semi-vol bias)</a:t>
            </a:r>
            <a:endParaRPr lang="en-US" sz="950" dirty="0"/>
          </a:p>
        </p:txBody>
      </p:sp>
      <p:sp>
        <p:nvSpPr>
          <p:cNvPr id="34" name="Shape 32"/>
          <p:cNvSpPr/>
          <p:nvPr/>
        </p:nvSpPr>
        <p:spPr>
          <a:xfrm>
            <a:off x="4315968" y="2887750"/>
            <a:ext cx="0" cy="411480"/>
          </a:xfrm>
          <a:prstGeom prst="line">
            <a:avLst/>
          </a:prstGeom>
          <a:noFill/>
          <a:ln w="12700">
            <a:solidFill>
              <a:srgbClr val="C2410C"/>
            </a:solidFill>
            <a:prstDash val="dash"/>
          </a:ln>
        </p:spPr>
        <p:txBody>
          <a:bodyPr/>
          <a:lstStyle/>
          <a:p>
            <a:endParaRPr lang="en-US"/>
          </a:p>
        </p:txBody>
      </p:sp>
      <p:sp>
        <p:nvSpPr>
          <p:cNvPr id="35" name="Shape 33"/>
          <p:cNvSpPr/>
          <p:nvPr/>
        </p:nvSpPr>
        <p:spPr>
          <a:xfrm>
            <a:off x="4233672" y="2759734"/>
            <a:ext cx="164592" cy="164592"/>
          </a:xfrm>
          <a:prstGeom prst="ellipse">
            <a:avLst/>
          </a:prstGeom>
          <a:solidFill>
            <a:srgbClr val="0F766E"/>
          </a:solidFill>
          <a:ln w="12700">
            <a:solidFill>
              <a:srgbClr val="0F766E"/>
            </a:solidFill>
            <a:prstDash val="solid"/>
          </a:ln>
        </p:spPr>
        <p:txBody>
          <a:bodyPr/>
          <a:lstStyle/>
          <a:p>
            <a:endParaRPr lang="en-US"/>
          </a:p>
        </p:txBody>
      </p:sp>
      <p:sp>
        <p:nvSpPr>
          <p:cNvPr id="36" name="Text 34"/>
          <p:cNvSpPr/>
          <p:nvPr/>
        </p:nvSpPr>
        <p:spPr>
          <a:xfrm>
            <a:off x="3538728" y="1836190"/>
            <a:ext cx="1554480" cy="502920"/>
          </a:xfrm>
          <a:prstGeom prst="rect">
            <a:avLst/>
          </a:prstGeom>
          <a:noFill/>
          <a:ln/>
        </p:spPr>
        <p:txBody>
          <a:bodyPr wrap="square" lIns="0" tIns="0" rIns="0" bIns="0" rtlCol="0" anchor="b"/>
          <a:lstStyle/>
          <a:p>
            <a:pPr marL="0" indent="0" algn="ctr">
              <a:buNone/>
            </a:pPr>
            <a:r>
              <a:rPr lang="en-US" sz="950" dirty="0">
                <a:solidFill>
                  <a:srgbClr val="0F766E"/>
                </a:solidFill>
                <a:latin typeface="Calibri" pitchFamily="34" charset="0"/>
                <a:ea typeface="Calibri" pitchFamily="34" charset="-122"/>
                <a:cs typeface="Calibri" pitchFamily="34" charset="-120"/>
              </a:rPr>
              <a:t>TCEQ Annual Monitoring</a:t>
            </a:r>
            <a:endParaRPr lang="en-US" sz="950" dirty="0"/>
          </a:p>
          <a:p>
            <a:pPr marL="0" indent="0" algn="ctr">
              <a:buNone/>
            </a:pPr>
            <a:r>
              <a:rPr lang="en-US" sz="950" dirty="0">
                <a:solidFill>
                  <a:srgbClr val="0F766E"/>
                </a:solidFill>
                <a:latin typeface="Calibri" pitchFamily="34" charset="0"/>
                <a:ea typeface="Calibri" pitchFamily="34" charset="-122"/>
                <a:cs typeface="Calibri" pitchFamily="34" charset="-120"/>
              </a:rPr>
              <a:t>Network Plans go public</a:t>
            </a:r>
            <a:endParaRPr lang="en-US" sz="950" dirty="0"/>
          </a:p>
        </p:txBody>
      </p:sp>
      <p:sp>
        <p:nvSpPr>
          <p:cNvPr id="37" name="Shape 35"/>
          <p:cNvSpPr/>
          <p:nvPr/>
        </p:nvSpPr>
        <p:spPr>
          <a:xfrm>
            <a:off x="4315968" y="2339110"/>
            <a:ext cx="0" cy="457200"/>
          </a:xfrm>
          <a:prstGeom prst="line">
            <a:avLst/>
          </a:prstGeom>
          <a:noFill/>
          <a:ln w="12700">
            <a:solidFill>
              <a:srgbClr val="0F766E"/>
            </a:solidFill>
            <a:prstDash val="dash"/>
          </a:ln>
        </p:spPr>
        <p:txBody>
          <a:bodyPr/>
          <a:lstStyle/>
          <a:p>
            <a:endParaRPr lang="en-US"/>
          </a:p>
        </p:txBody>
      </p:sp>
      <p:sp>
        <p:nvSpPr>
          <p:cNvPr id="38" name="Shape 36"/>
          <p:cNvSpPr/>
          <p:nvPr/>
        </p:nvSpPr>
        <p:spPr>
          <a:xfrm>
            <a:off x="6227064" y="2759734"/>
            <a:ext cx="164592" cy="164592"/>
          </a:xfrm>
          <a:prstGeom prst="ellipse">
            <a:avLst/>
          </a:prstGeom>
          <a:solidFill>
            <a:srgbClr val="6B7A85"/>
          </a:solidFill>
          <a:ln w="12700">
            <a:solidFill>
              <a:srgbClr val="6B7A85"/>
            </a:solidFill>
            <a:prstDash val="solid"/>
          </a:ln>
        </p:spPr>
        <p:txBody>
          <a:bodyPr/>
          <a:lstStyle/>
          <a:p>
            <a:endParaRPr lang="en-US"/>
          </a:p>
        </p:txBody>
      </p:sp>
      <p:sp>
        <p:nvSpPr>
          <p:cNvPr id="39" name="Text 37"/>
          <p:cNvSpPr/>
          <p:nvPr/>
        </p:nvSpPr>
        <p:spPr>
          <a:xfrm>
            <a:off x="5532120" y="3299230"/>
            <a:ext cx="1554480" cy="502920"/>
          </a:xfrm>
          <a:prstGeom prst="rect">
            <a:avLst/>
          </a:prstGeom>
          <a:noFill/>
          <a:ln/>
        </p:spPr>
        <p:txBody>
          <a:bodyPr wrap="square" lIns="0" tIns="0" rIns="0" bIns="0" rtlCol="0" anchor="t"/>
          <a:lstStyle/>
          <a:p>
            <a:pPr marL="0" indent="0" algn="ctr">
              <a:buNone/>
            </a:pPr>
            <a:r>
              <a:rPr lang="en-US" sz="950" dirty="0">
                <a:solidFill>
                  <a:srgbClr val="6B7A85"/>
                </a:solidFill>
                <a:latin typeface="Calibri" pitchFamily="34" charset="0"/>
                <a:ea typeface="Calibri" pitchFamily="34" charset="-122"/>
                <a:cs typeface="Calibri" pitchFamily="34" charset="-120"/>
              </a:rPr>
              <a:t>PM2.5 low-cost sensors</a:t>
            </a:r>
            <a:endParaRPr lang="en-US" sz="950" dirty="0"/>
          </a:p>
          <a:p>
            <a:pPr marL="0" indent="0" algn="ctr">
              <a:buNone/>
            </a:pPr>
            <a:r>
              <a:rPr lang="en-US" sz="950" dirty="0">
                <a:solidFill>
                  <a:srgbClr val="6B7A85"/>
                </a:solidFill>
                <a:latin typeface="Calibri" pitchFamily="34" charset="0"/>
                <a:ea typeface="Calibri" pitchFamily="34" charset="-122"/>
                <a:cs typeface="Calibri" pitchFamily="34" charset="-120"/>
              </a:rPr>
              <a:t>(PurpleAir) proliferate</a:t>
            </a:r>
            <a:endParaRPr lang="en-US" sz="950" dirty="0"/>
          </a:p>
        </p:txBody>
      </p:sp>
      <p:sp>
        <p:nvSpPr>
          <p:cNvPr id="40" name="Shape 38"/>
          <p:cNvSpPr/>
          <p:nvPr/>
        </p:nvSpPr>
        <p:spPr>
          <a:xfrm>
            <a:off x="6309360" y="2887750"/>
            <a:ext cx="0" cy="411480"/>
          </a:xfrm>
          <a:prstGeom prst="line">
            <a:avLst/>
          </a:prstGeom>
          <a:noFill/>
          <a:ln w="12700">
            <a:solidFill>
              <a:srgbClr val="6B7A85"/>
            </a:solidFill>
            <a:prstDash val="dash"/>
          </a:ln>
        </p:spPr>
        <p:txBody>
          <a:bodyPr/>
          <a:lstStyle/>
          <a:p>
            <a:endParaRPr lang="en-US"/>
          </a:p>
        </p:txBody>
      </p:sp>
      <p:sp>
        <p:nvSpPr>
          <p:cNvPr id="41" name="Shape 39"/>
          <p:cNvSpPr/>
          <p:nvPr/>
        </p:nvSpPr>
        <p:spPr>
          <a:xfrm>
            <a:off x="8220456" y="2759734"/>
            <a:ext cx="164592" cy="164592"/>
          </a:xfrm>
          <a:prstGeom prst="ellipse">
            <a:avLst/>
          </a:prstGeom>
          <a:solidFill>
            <a:srgbClr val="213C4E"/>
          </a:solidFill>
          <a:ln w="12700">
            <a:solidFill>
              <a:srgbClr val="213C4E"/>
            </a:solidFill>
            <a:prstDash val="solid"/>
          </a:ln>
        </p:spPr>
        <p:txBody>
          <a:bodyPr/>
          <a:lstStyle/>
          <a:p>
            <a:endParaRPr lang="en-US"/>
          </a:p>
        </p:txBody>
      </p:sp>
      <p:sp>
        <p:nvSpPr>
          <p:cNvPr id="42" name="Text 40"/>
          <p:cNvSpPr/>
          <p:nvPr/>
        </p:nvSpPr>
        <p:spPr>
          <a:xfrm>
            <a:off x="7525512" y="1836190"/>
            <a:ext cx="1554480" cy="502920"/>
          </a:xfrm>
          <a:prstGeom prst="rect">
            <a:avLst/>
          </a:prstGeom>
          <a:noFill/>
          <a:ln/>
        </p:spPr>
        <p:txBody>
          <a:bodyPr wrap="square" lIns="0" tIns="0" rIns="0" bIns="0" rtlCol="0" anchor="b"/>
          <a:lstStyle/>
          <a:p>
            <a:pPr marL="0" indent="0" algn="ctr">
              <a:buNone/>
            </a:pPr>
            <a:r>
              <a:rPr lang="en-US" sz="950" dirty="0">
                <a:solidFill>
                  <a:srgbClr val="213C4E"/>
                </a:solidFill>
                <a:latin typeface="Calibri" pitchFamily="34" charset="0"/>
                <a:ea typeface="Calibri" pitchFamily="34" charset="-122"/>
                <a:cs typeface="Calibri" pitchFamily="34" charset="-120"/>
              </a:rPr>
              <a:t>TEOM 1405-F/FDMS</a:t>
            </a:r>
            <a:endParaRPr lang="en-US" sz="950" dirty="0"/>
          </a:p>
          <a:p>
            <a:pPr marL="0" indent="0" algn="ctr">
              <a:buNone/>
            </a:pPr>
            <a:r>
              <a:rPr lang="en-US" sz="950" dirty="0">
                <a:solidFill>
                  <a:srgbClr val="213C4E"/>
                </a:solidFill>
                <a:latin typeface="Calibri" pitchFamily="34" charset="0"/>
                <a:ea typeface="Calibri" pitchFamily="34" charset="-122"/>
                <a:cs typeface="Calibri" pitchFamily="34" charset="-120"/>
              </a:rPr>
              <a:t>widely deployed</a:t>
            </a:r>
            <a:endParaRPr lang="en-US" sz="950" dirty="0"/>
          </a:p>
        </p:txBody>
      </p:sp>
      <p:sp>
        <p:nvSpPr>
          <p:cNvPr id="43" name="Shape 41"/>
          <p:cNvSpPr/>
          <p:nvPr/>
        </p:nvSpPr>
        <p:spPr>
          <a:xfrm>
            <a:off x="8302752" y="2339110"/>
            <a:ext cx="0" cy="457200"/>
          </a:xfrm>
          <a:prstGeom prst="line">
            <a:avLst/>
          </a:prstGeom>
          <a:noFill/>
          <a:ln w="12700">
            <a:solidFill>
              <a:srgbClr val="213C4E"/>
            </a:solidFill>
            <a:prstDash val="dash"/>
          </a:ln>
        </p:spPr>
        <p:txBody>
          <a:bodyPr/>
          <a:lstStyle/>
          <a:p>
            <a:endParaRPr lang="en-US"/>
          </a:p>
        </p:txBody>
      </p:sp>
      <p:sp>
        <p:nvSpPr>
          <p:cNvPr id="44" name="Shape 42"/>
          <p:cNvSpPr/>
          <p:nvPr/>
        </p:nvSpPr>
        <p:spPr>
          <a:xfrm>
            <a:off x="10213848" y="2759734"/>
            <a:ext cx="164592" cy="164592"/>
          </a:xfrm>
          <a:prstGeom prst="ellipse">
            <a:avLst/>
          </a:prstGeom>
          <a:solidFill>
            <a:srgbClr val="9F1239"/>
          </a:solidFill>
          <a:ln w="12700">
            <a:solidFill>
              <a:srgbClr val="9F1239"/>
            </a:solidFill>
            <a:prstDash val="solid"/>
          </a:ln>
        </p:spPr>
        <p:txBody>
          <a:bodyPr/>
          <a:lstStyle/>
          <a:p>
            <a:endParaRPr lang="en-US"/>
          </a:p>
        </p:txBody>
      </p:sp>
      <p:sp>
        <p:nvSpPr>
          <p:cNvPr id="45" name="Text 43"/>
          <p:cNvSpPr/>
          <p:nvPr/>
        </p:nvSpPr>
        <p:spPr>
          <a:xfrm>
            <a:off x="9518904" y="3299230"/>
            <a:ext cx="1554480" cy="502920"/>
          </a:xfrm>
          <a:prstGeom prst="rect">
            <a:avLst/>
          </a:prstGeom>
          <a:noFill/>
          <a:ln/>
        </p:spPr>
        <p:txBody>
          <a:bodyPr wrap="square" lIns="0" tIns="0" rIns="0" bIns="0" rtlCol="0" anchor="t"/>
          <a:lstStyle/>
          <a:p>
            <a:pPr marL="0" indent="0" algn="ctr">
              <a:buNone/>
            </a:pPr>
            <a:r>
              <a:rPr lang="en-US" sz="950" dirty="0">
                <a:solidFill>
                  <a:srgbClr val="9F1239"/>
                </a:solidFill>
                <a:latin typeface="Calibri" pitchFamily="34" charset="0"/>
                <a:ea typeface="Calibri" pitchFamily="34" charset="-122"/>
                <a:cs typeface="Calibri" pitchFamily="34" charset="-120"/>
              </a:rPr>
              <a:t>PM2.5 annual NAAQS</a:t>
            </a:r>
            <a:endParaRPr lang="en-US" sz="950" dirty="0"/>
          </a:p>
          <a:p>
            <a:pPr marL="0" indent="0" algn="ctr">
              <a:buNone/>
            </a:pPr>
            <a:r>
              <a:rPr lang="en-US" sz="950" dirty="0">
                <a:solidFill>
                  <a:srgbClr val="9F1239"/>
                </a:solidFill>
                <a:latin typeface="Calibri" pitchFamily="34" charset="0"/>
                <a:ea typeface="Calibri" pitchFamily="34" charset="-122"/>
                <a:cs typeface="Calibri" pitchFamily="34" charset="-120"/>
              </a:rPr>
              <a:t>tightened 12→9 µg/m³</a:t>
            </a:r>
            <a:endParaRPr lang="en-US" sz="950" dirty="0"/>
          </a:p>
        </p:txBody>
      </p:sp>
      <p:sp>
        <p:nvSpPr>
          <p:cNvPr id="46" name="Shape 44"/>
          <p:cNvSpPr/>
          <p:nvPr/>
        </p:nvSpPr>
        <p:spPr>
          <a:xfrm>
            <a:off x="10296144" y="2887750"/>
            <a:ext cx="0" cy="411480"/>
          </a:xfrm>
          <a:prstGeom prst="line">
            <a:avLst/>
          </a:prstGeom>
          <a:noFill/>
          <a:ln w="12700">
            <a:solidFill>
              <a:srgbClr val="9F1239"/>
            </a:solidFill>
            <a:prstDash val="dash"/>
          </a:ln>
        </p:spPr>
        <p:txBody>
          <a:bodyPr/>
          <a:lstStyle/>
          <a:p>
            <a:endParaRPr lang="en-US"/>
          </a:p>
        </p:txBody>
      </p:sp>
      <p:sp>
        <p:nvSpPr>
          <p:cNvPr id="47" name="Shape 45"/>
          <p:cNvSpPr/>
          <p:nvPr/>
        </p:nvSpPr>
        <p:spPr>
          <a:xfrm>
            <a:off x="548640" y="4933877"/>
            <a:ext cx="11064240" cy="1143000"/>
          </a:xfrm>
          <a:prstGeom prst="roundRect">
            <a:avLst>
              <a:gd name="adj" fmla="val 6400"/>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48" name="Text 46"/>
          <p:cNvSpPr/>
          <p:nvPr/>
        </p:nvSpPr>
        <p:spPr>
          <a:xfrm>
            <a:off x="777240" y="5071037"/>
            <a:ext cx="10607040" cy="914400"/>
          </a:xfrm>
          <a:prstGeom prst="rect">
            <a:avLst/>
          </a:prstGeom>
          <a:noFill/>
          <a:ln/>
        </p:spPr>
        <p:txBody>
          <a:bodyPr wrap="square" lIns="0" tIns="0" rIns="0" bIns="0" rtlCol="0" anchor="t"/>
          <a:lstStyle/>
          <a:p>
            <a:pPr marL="0" indent="0">
              <a:buNone/>
            </a:pPr>
            <a:r>
              <a:rPr lang="en-US" sz="1200" b="1" dirty="0">
                <a:solidFill>
                  <a:srgbClr val="C2410C"/>
                </a:solidFill>
                <a:latin typeface="Calibri" pitchFamily="34" charset="0"/>
                <a:ea typeface="Calibri" pitchFamily="34" charset="-122"/>
                <a:cs typeface="Calibri" pitchFamily="34" charset="-120"/>
              </a:rPr>
              <a:t>Why this matters: </a:t>
            </a:r>
            <a:r>
              <a:rPr lang="en-US" sz="1200" dirty="0">
                <a:solidFill>
                  <a:srgbClr val="333333"/>
                </a:solidFill>
                <a:latin typeface="Calibri" pitchFamily="34" charset="0"/>
                <a:ea typeface="Calibri" pitchFamily="34" charset="-122"/>
                <a:cs typeface="Calibri" pitchFamily="34" charset="-120"/>
              </a:rPr>
              <a:t>if a Coastal Bend PM2.5 site swapped a TEOM 1400 for a BAM 1020 in, say, 2018, the pre- and post-swap concentrations may differ systematically by 10–30% even if true ambient PM2.5 didn't change. TCEQ's Annual Monitoring Network Plan reports document these swaps starting ~2018 but </a:t>
            </a:r>
            <a:r>
              <a:rPr lang="en-US" sz="1200" b="1" dirty="0">
                <a:solidFill>
                  <a:srgbClr val="333333"/>
                </a:solidFill>
                <a:latin typeface="Calibri" pitchFamily="34" charset="0"/>
                <a:ea typeface="Calibri" pitchFamily="34" charset="-122"/>
                <a:cs typeface="Calibri" pitchFamily="34" charset="-120"/>
              </a:rPr>
              <a:t>pre-2018 swap history requires a public records request</a:t>
            </a:r>
            <a:r>
              <a:rPr lang="en-US" sz="1200" dirty="0">
                <a:solidFill>
                  <a:srgbClr val="333333"/>
                </a:solidFill>
                <a:latin typeface="Calibri" pitchFamily="34" charset="0"/>
                <a:ea typeface="Calibri" pitchFamily="34" charset="-122"/>
                <a:cs typeface="Calibri" pitchFamily="34" charset="-120"/>
              </a:rPr>
              <a:t>. Method code in our aq.pollutant_hourly is our earliest signal of a transition — flag any (aqsid, parameter_code) pair whose method_code changes mid-record.</a:t>
            </a:r>
            <a:endParaRPr lang="en-US" sz="1200" dirty="0"/>
          </a:p>
        </p:txBody>
      </p:sp>
      <p:sp>
        <p:nvSpPr>
          <p:cNvPr id="49" name="Text 4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50" name="Text 48"/>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14 / 60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DATA QUALITY</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Method-comparability caveats we carry forward</a:t>
            </a:r>
            <a:endParaRPr lang="en-US" sz="3000" dirty="0"/>
          </a:p>
        </p:txBody>
      </p:sp>
      <p:sp>
        <p:nvSpPr>
          <p:cNvPr id="4" name="Shape 2"/>
          <p:cNvSpPr/>
          <p:nvPr/>
        </p:nvSpPr>
        <p:spPr>
          <a:xfrm>
            <a:off x="54864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365760" cy="365760"/>
          </a:xfrm>
          <a:prstGeom prst="rect">
            <a:avLst/>
          </a:prstGeom>
        </p:spPr>
      </p:pic>
      <p:sp>
        <p:nvSpPr>
          <p:cNvPr id="6" name="Text 3"/>
          <p:cNvSpPr/>
          <p:nvPr/>
        </p:nvSpPr>
        <p:spPr>
          <a:xfrm>
            <a:off x="1234440" y="1645920"/>
            <a:ext cx="2788920" cy="457200"/>
          </a:xfrm>
          <a:prstGeom prst="rect">
            <a:avLst/>
          </a:prstGeom>
          <a:noFill/>
          <a:ln/>
        </p:spPr>
        <p:txBody>
          <a:bodyPr wrap="square" lIns="0" tIns="0" rIns="0" bIns="0" rtlCol="0" anchor="ctr"/>
          <a:lstStyle/>
          <a:p>
            <a:pPr marL="0" indent="0">
              <a:buNone/>
            </a:pPr>
            <a:r>
              <a:rPr lang="en-US" sz="1250" b="1" dirty="0">
                <a:solidFill>
                  <a:srgbClr val="213C4E"/>
                </a:solidFill>
                <a:latin typeface="Cambria" pitchFamily="34" charset="0"/>
                <a:ea typeface="Cambria" pitchFamily="34" charset="-122"/>
                <a:cs typeface="Cambria" pitchFamily="34" charset="-120"/>
              </a:rPr>
              <a:t>Cross-site comparability</a:t>
            </a:r>
            <a:endParaRPr lang="en-US" sz="1250" dirty="0"/>
          </a:p>
        </p:txBody>
      </p:sp>
      <p:sp>
        <p:nvSpPr>
          <p:cNvPr id="7" name="Text 4"/>
          <p:cNvSpPr/>
          <p:nvPr/>
        </p:nvSpPr>
        <p:spPr>
          <a:xfrm>
            <a:off x="73152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Two Coastal Bend PM2.5 sites running different FEM methods (BAM 1020 vs TEOM 1405-FDMS) will systematically report different means for the SAME ambient PM2.5. Bias 5–15% is typical for the coastal RH range. Report method_code alongside every site-mean.</a:t>
            </a:r>
            <a:endParaRPr lang="en-US" sz="1400" dirty="0"/>
          </a:p>
        </p:txBody>
      </p:sp>
      <p:sp>
        <p:nvSpPr>
          <p:cNvPr id="8" name="Shape 5"/>
          <p:cNvSpPr/>
          <p:nvPr/>
        </p:nvSpPr>
        <p:spPr>
          <a:xfrm>
            <a:off x="448056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3"/>
          <a:stretch>
            <a:fillRect/>
          </a:stretch>
        </p:blipFill>
        <p:spPr>
          <a:xfrm>
            <a:off x="4663440" y="1691640"/>
            <a:ext cx="365760" cy="365760"/>
          </a:xfrm>
          <a:prstGeom prst="rect">
            <a:avLst/>
          </a:prstGeom>
        </p:spPr>
      </p:pic>
      <p:sp>
        <p:nvSpPr>
          <p:cNvPr id="10" name="Text 6"/>
          <p:cNvSpPr/>
          <p:nvPr/>
        </p:nvSpPr>
        <p:spPr>
          <a:xfrm>
            <a:off x="5166360" y="1645920"/>
            <a:ext cx="2788920" cy="457200"/>
          </a:xfrm>
          <a:prstGeom prst="rect">
            <a:avLst/>
          </a:prstGeom>
          <a:noFill/>
          <a:ln/>
        </p:spPr>
        <p:txBody>
          <a:bodyPr wrap="square" lIns="0" tIns="0" rIns="0" bIns="0" rtlCol="0" anchor="ctr"/>
          <a:lstStyle/>
          <a:p>
            <a:pPr marL="0" indent="0">
              <a:buNone/>
            </a:pPr>
            <a:r>
              <a:rPr lang="en-US" sz="1250" b="1" dirty="0">
                <a:solidFill>
                  <a:srgbClr val="213C4E"/>
                </a:solidFill>
                <a:latin typeface="Cambria" pitchFamily="34" charset="0"/>
                <a:ea typeface="Cambria" pitchFamily="34" charset="-122"/>
                <a:cs typeface="Cambria" pitchFamily="34" charset="-120"/>
              </a:rPr>
              <a:t>Mid-record instrument swap</a:t>
            </a:r>
            <a:endParaRPr lang="en-US" sz="1250" dirty="0"/>
          </a:p>
        </p:txBody>
      </p:sp>
      <p:sp>
        <p:nvSpPr>
          <p:cNvPr id="11" name="Text 7"/>
          <p:cNvSpPr/>
          <p:nvPr/>
        </p:nvSpPr>
        <p:spPr>
          <a:xfrm>
            <a:off x="466344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A single AQSID whose method_code changes in, say, 2019 has a step-discontinuity in the time series. Either treat the pre/post segments as separate series, or apply a bias correction based on overlap-period comparison (rarely available in our data).</a:t>
            </a:r>
            <a:endParaRPr lang="en-US" sz="1400" dirty="0"/>
          </a:p>
        </p:txBody>
      </p:sp>
      <p:sp>
        <p:nvSpPr>
          <p:cNvPr id="12" name="Shape 8"/>
          <p:cNvSpPr/>
          <p:nvPr/>
        </p:nvSpPr>
        <p:spPr>
          <a:xfrm>
            <a:off x="841248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3"/>
          <a:stretch>
            <a:fillRect/>
          </a:stretch>
        </p:blipFill>
        <p:spPr>
          <a:xfrm>
            <a:off x="8595360" y="1691640"/>
            <a:ext cx="365760" cy="365760"/>
          </a:xfrm>
          <a:prstGeom prst="rect">
            <a:avLst/>
          </a:prstGeom>
        </p:spPr>
      </p:pic>
      <p:sp>
        <p:nvSpPr>
          <p:cNvPr id="14" name="Text 9"/>
          <p:cNvSpPr/>
          <p:nvPr/>
        </p:nvSpPr>
        <p:spPr>
          <a:xfrm>
            <a:off x="9098280" y="1645920"/>
            <a:ext cx="2788920" cy="457200"/>
          </a:xfrm>
          <a:prstGeom prst="rect">
            <a:avLst/>
          </a:prstGeom>
          <a:noFill/>
          <a:ln/>
        </p:spPr>
        <p:txBody>
          <a:bodyPr wrap="square" lIns="0" tIns="0" rIns="0" bIns="0" rtlCol="0" anchor="ctr"/>
          <a:lstStyle/>
          <a:p>
            <a:pPr marL="0" indent="0">
              <a:buNone/>
            </a:pPr>
            <a:r>
              <a:rPr lang="en-US" sz="1250" b="1" dirty="0">
                <a:solidFill>
                  <a:srgbClr val="213C4E"/>
                </a:solidFill>
                <a:latin typeface="Cambria" pitchFamily="34" charset="0"/>
                <a:ea typeface="Cambria" pitchFamily="34" charset="-122"/>
                <a:cs typeface="Cambria" pitchFamily="34" charset="-120"/>
              </a:rPr>
              <a:t>88101 vs 88502 mixing</a:t>
            </a:r>
            <a:endParaRPr lang="en-US" sz="1250" dirty="0"/>
          </a:p>
        </p:txBody>
      </p:sp>
      <p:sp>
        <p:nvSpPr>
          <p:cNvPr id="15" name="Text 10"/>
          <p:cNvSpPr/>
          <p:nvPr/>
        </p:nvSpPr>
        <p:spPr>
          <a:xfrm>
            <a:off x="859536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aq.pollutant_hourly holds BOTH design-value-eligible (88101) and non-eligible-but-continuous (88502) PM2.5. Filter by parameter_code when computing anything that will be compared to a NAAQS.</a:t>
            </a:r>
            <a:endParaRPr lang="en-US" sz="1400" dirty="0"/>
          </a:p>
        </p:txBody>
      </p:sp>
      <p:sp>
        <p:nvSpPr>
          <p:cNvPr id="16" name="Shape 11"/>
          <p:cNvSpPr/>
          <p:nvPr/>
        </p:nvSpPr>
        <p:spPr>
          <a:xfrm>
            <a:off x="548640" y="397764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3"/>
          <a:stretch>
            <a:fillRect/>
          </a:stretch>
        </p:blipFill>
        <p:spPr>
          <a:xfrm>
            <a:off x="731520" y="4160520"/>
            <a:ext cx="365760" cy="365760"/>
          </a:xfrm>
          <a:prstGeom prst="rect">
            <a:avLst/>
          </a:prstGeom>
        </p:spPr>
      </p:pic>
      <p:sp>
        <p:nvSpPr>
          <p:cNvPr id="18" name="Text 12"/>
          <p:cNvSpPr/>
          <p:nvPr/>
        </p:nvSpPr>
        <p:spPr>
          <a:xfrm>
            <a:off x="1234440" y="4114800"/>
            <a:ext cx="2788920" cy="457200"/>
          </a:xfrm>
          <a:prstGeom prst="rect">
            <a:avLst/>
          </a:prstGeom>
          <a:noFill/>
          <a:ln/>
        </p:spPr>
        <p:txBody>
          <a:bodyPr wrap="square" lIns="0" tIns="0" rIns="0" bIns="0" rtlCol="0" anchor="ctr"/>
          <a:lstStyle/>
          <a:p>
            <a:pPr marL="0" indent="0">
              <a:buNone/>
            </a:pPr>
            <a:r>
              <a:rPr lang="en-US" sz="1250" b="1" dirty="0">
                <a:solidFill>
                  <a:srgbClr val="213C4E"/>
                </a:solidFill>
                <a:latin typeface="Cambria" pitchFamily="34" charset="0"/>
                <a:ea typeface="Cambria" pitchFamily="34" charset="-122"/>
                <a:cs typeface="Cambria" pitchFamily="34" charset="-120"/>
              </a:rPr>
              <a:t>24-hr filter vs continuous</a:t>
            </a:r>
            <a:endParaRPr lang="en-US" sz="1250" dirty="0"/>
          </a:p>
        </p:txBody>
      </p:sp>
      <p:sp>
        <p:nvSpPr>
          <p:cNvPr id="19" name="Text 13"/>
          <p:cNvSpPr/>
          <p:nvPr/>
        </p:nvSpPr>
        <p:spPr>
          <a:xfrm>
            <a:off x="731520" y="466344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Site 480290060 (San Antonio Palo Alto) is 24-hr FRM only (dur=7, routed to aq.pollutant_daily_24hr). Do not join it against hourly sites without collapsing hourly data to daily first.</a:t>
            </a:r>
            <a:endParaRPr lang="en-US" sz="1400" dirty="0"/>
          </a:p>
        </p:txBody>
      </p:sp>
      <p:sp>
        <p:nvSpPr>
          <p:cNvPr id="20" name="Shape 14"/>
          <p:cNvSpPr/>
          <p:nvPr/>
        </p:nvSpPr>
        <p:spPr>
          <a:xfrm>
            <a:off x="4480560" y="397764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3"/>
          <a:stretch>
            <a:fillRect/>
          </a:stretch>
        </p:blipFill>
        <p:spPr>
          <a:xfrm>
            <a:off x="4663440" y="4160520"/>
            <a:ext cx="365760" cy="365760"/>
          </a:xfrm>
          <a:prstGeom prst="rect">
            <a:avLst/>
          </a:prstGeom>
        </p:spPr>
      </p:pic>
      <p:sp>
        <p:nvSpPr>
          <p:cNvPr id="22" name="Text 15"/>
          <p:cNvSpPr/>
          <p:nvPr/>
        </p:nvSpPr>
        <p:spPr>
          <a:xfrm>
            <a:off x="5166360" y="4114800"/>
            <a:ext cx="2788920" cy="457200"/>
          </a:xfrm>
          <a:prstGeom prst="rect">
            <a:avLst/>
          </a:prstGeom>
          <a:noFill/>
          <a:ln/>
        </p:spPr>
        <p:txBody>
          <a:bodyPr wrap="square" lIns="0" tIns="0" rIns="0" bIns="0" rtlCol="0" anchor="ctr"/>
          <a:lstStyle/>
          <a:p>
            <a:pPr marL="0" indent="0">
              <a:buNone/>
            </a:pPr>
            <a:r>
              <a:rPr lang="en-US" sz="1250" b="1" dirty="0">
                <a:solidFill>
                  <a:srgbClr val="213C4E"/>
                </a:solidFill>
                <a:latin typeface="Cambria" pitchFamily="34" charset="0"/>
                <a:ea typeface="Cambria" pitchFamily="34" charset="-122"/>
                <a:cs typeface="Cambria" pitchFamily="34" charset="-120"/>
              </a:rPr>
              <a:t>Coarse fraction (PM10-2.5)</a:t>
            </a:r>
            <a:endParaRPr lang="en-US" sz="1250" dirty="0"/>
          </a:p>
        </p:txBody>
      </p:sp>
      <p:sp>
        <p:nvSpPr>
          <p:cNvPr id="23" name="Text 16"/>
          <p:cNvSpPr/>
          <p:nvPr/>
        </p:nvSpPr>
        <p:spPr>
          <a:xfrm>
            <a:off x="4663440" y="466344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PM10 minus PM2.5 gives the coarse fraction, but only for site-hours where both are co-located AND both use the SAME sample duration. In the Coastal Bend this is rare — plan any coarse-mode analysis accordingly.</a:t>
            </a:r>
            <a:endParaRPr lang="en-US" sz="1400" dirty="0"/>
          </a:p>
        </p:txBody>
      </p:sp>
      <p:sp>
        <p:nvSpPr>
          <p:cNvPr id="24" name="Shape 17"/>
          <p:cNvSpPr/>
          <p:nvPr/>
        </p:nvSpPr>
        <p:spPr>
          <a:xfrm>
            <a:off x="8412480" y="397764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3"/>
          <a:stretch>
            <a:fillRect/>
          </a:stretch>
        </p:blipFill>
        <p:spPr>
          <a:xfrm>
            <a:off x="8595360" y="4160520"/>
            <a:ext cx="365760" cy="365760"/>
          </a:xfrm>
          <a:prstGeom prst="rect">
            <a:avLst/>
          </a:prstGeom>
        </p:spPr>
      </p:pic>
      <p:sp>
        <p:nvSpPr>
          <p:cNvPr id="26" name="Text 18"/>
          <p:cNvSpPr/>
          <p:nvPr/>
        </p:nvSpPr>
        <p:spPr>
          <a:xfrm>
            <a:off x="9098280" y="4114800"/>
            <a:ext cx="2788920" cy="457200"/>
          </a:xfrm>
          <a:prstGeom prst="rect">
            <a:avLst/>
          </a:prstGeom>
          <a:noFill/>
          <a:ln/>
        </p:spPr>
        <p:txBody>
          <a:bodyPr wrap="square" lIns="0" tIns="0" rIns="0" bIns="0" rtlCol="0" anchor="ctr"/>
          <a:lstStyle/>
          <a:p>
            <a:pPr marL="0" indent="0">
              <a:buNone/>
            </a:pPr>
            <a:r>
              <a:rPr lang="en-US" sz="1250" b="1" dirty="0">
                <a:solidFill>
                  <a:srgbClr val="213C4E"/>
                </a:solidFill>
                <a:latin typeface="Cambria" pitchFamily="34" charset="0"/>
                <a:ea typeface="Cambria" pitchFamily="34" charset="-122"/>
                <a:cs typeface="Cambria" pitchFamily="34" charset="-120"/>
              </a:rPr>
              <a:t>VOC 1-hr vs 24-hr AutoGC</a:t>
            </a:r>
            <a:endParaRPr lang="en-US" sz="1250" dirty="0"/>
          </a:p>
        </p:txBody>
      </p:sp>
      <p:sp>
        <p:nvSpPr>
          <p:cNvPr id="27" name="Text 19"/>
          <p:cNvSpPr/>
          <p:nvPr/>
        </p:nvSpPr>
        <p:spPr>
          <a:xfrm>
            <a:off x="8595360" y="466344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CC Palm reports 1-hr AutoGC (nearly continuous). CC Hillcrest, Dona Park, and Holly report 24-hr AutoGC (integrated daily). Compare carefully — the diurnal signal exists in Palm's data but is averaged away in the 24-hr sites.</a:t>
            </a:r>
            <a:endParaRPr lang="en-US" sz="140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15 / 60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A38"/>
        </a:solidFill>
        <a:effectLst/>
      </p:bgPr>
    </p:bg>
    <p:spTree>
      <p:nvGrpSpPr>
        <p:cNvPr id="1" name=""/>
        <p:cNvGrpSpPr/>
        <p:nvPr/>
      </p:nvGrpSpPr>
      <p:grpSpPr>
        <a:xfrm>
          <a:off x="0" y="0"/>
          <a:ext cx="0" cy="0"/>
          <a:chOff x="0" y="0"/>
          <a:chExt cx="0" cy="0"/>
        </a:xfrm>
      </p:grpSpPr>
      <p:sp>
        <p:nvSpPr>
          <p:cNvPr id="2" name="Text 0"/>
          <p:cNvSpPr/>
          <p:nvPr/>
        </p:nvSpPr>
        <p:spPr>
          <a:xfrm>
            <a:off x="548640" y="2743200"/>
            <a:ext cx="10972800" cy="365760"/>
          </a:xfrm>
          <a:prstGeom prst="rect">
            <a:avLst/>
          </a:prstGeom>
          <a:noFill/>
          <a:ln/>
        </p:spPr>
        <p:txBody>
          <a:bodyPr wrap="square" lIns="0" tIns="0" rIns="0" bIns="0" rtlCol="0" anchor="ctr"/>
          <a:lstStyle/>
          <a:p>
            <a:pPr marL="0" indent="0">
              <a:buNone/>
            </a:pPr>
            <a:r>
              <a:rPr lang="en-US" sz="1200" b="1" kern="0" spc="400" dirty="0">
                <a:solidFill>
                  <a:srgbClr val="C2410C"/>
                </a:solidFill>
                <a:latin typeface="Calibri" pitchFamily="34" charset="0"/>
                <a:ea typeface="Calibri" pitchFamily="34" charset="-122"/>
                <a:cs typeface="Calibri" pitchFamily="34" charset="-120"/>
              </a:rPr>
              <a:t>SECTION 3</a:t>
            </a:r>
            <a:endParaRPr lang="en-US" sz="1200" dirty="0"/>
          </a:p>
        </p:txBody>
      </p:sp>
      <p:sp>
        <p:nvSpPr>
          <p:cNvPr id="3" name="Text 1"/>
          <p:cNvSpPr/>
          <p:nvPr/>
        </p:nvSpPr>
        <p:spPr>
          <a:xfrm>
            <a:off x="548640" y="3108960"/>
            <a:ext cx="10972800" cy="14630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PM2.5 — fine particulate matter</a:t>
            </a:r>
            <a:endParaRPr lang="en-US" sz="5400" dirty="0"/>
          </a:p>
        </p:txBody>
      </p:sp>
      <p:sp>
        <p:nvSpPr>
          <p:cNvPr id="4" name="Text 2"/>
          <p:cNvSpPr/>
          <p:nvPr/>
        </p:nvSpPr>
        <p:spPr>
          <a:xfrm>
            <a:off x="548640" y="4480560"/>
            <a:ext cx="10972800" cy="457200"/>
          </a:xfrm>
          <a:prstGeom prst="rect">
            <a:avLst/>
          </a:prstGeom>
          <a:noFill/>
          <a:ln/>
        </p:spPr>
        <p:txBody>
          <a:bodyPr wrap="square" lIns="0" tIns="0" rIns="0" bIns="0" rtlCol="0" anchor="ctr"/>
          <a:lstStyle/>
          <a:p>
            <a:pPr marL="0" indent="0">
              <a:buNone/>
            </a:pPr>
            <a:r>
              <a:rPr lang="en-US" sz="1600" i="1" dirty="0">
                <a:solidFill>
                  <a:srgbClr val="AABBC8"/>
                </a:solidFill>
                <a:latin typeface="Calibri" pitchFamily="34" charset="0"/>
                <a:ea typeface="Calibri" pitchFamily="34" charset="-122"/>
                <a:cs typeface="Calibri" pitchFamily="34" charset="-120"/>
              </a:rPr>
              <a:t>The most-studied pollutant in air-quality epidemiology. Also the most consequential for our Coastal Bend sites.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What PM2.5 is — size, composition, penetration</a:t>
            </a:r>
            <a:endParaRPr lang="en-US" sz="3000" dirty="0"/>
          </a:p>
        </p:txBody>
      </p:sp>
      <p:sp>
        <p:nvSpPr>
          <p:cNvPr id="4" name="Shape 2"/>
          <p:cNvSpPr/>
          <p:nvPr/>
        </p:nvSpPr>
        <p:spPr>
          <a:xfrm>
            <a:off x="548640" y="1417320"/>
            <a:ext cx="576072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Definition (40 CFR Part 50 Appendix L)</a:t>
            </a:r>
            <a:endParaRPr lang="en-US" sz="1400"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300"/>
              </a:spcAft>
              <a:buNone/>
            </a:pPr>
            <a:r>
              <a:rPr lang="en-US" sz="1600" dirty="0">
                <a:solidFill>
                  <a:srgbClr val="333333"/>
                </a:solidFill>
                <a:latin typeface="Calibri" pitchFamily="34" charset="0"/>
                <a:ea typeface="Calibri" pitchFamily="34" charset="-122"/>
                <a:cs typeface="Calibri" pitchFamily="34" charset="-120"/>
              </a:rPr>
              <a:t>Airborne particulate matter with </a:t>
            </a:r>
            <a:r>
              <a:rPr lang="en-US" sz="1600" b="1" dirty="0">
                <a:solidFill>
                  <a:srgbClr val="C2410C"/>
                </a:solidFill>
                <a:latin typeface="Calibri" pitchFamily="34" charset="0"/>
                <a:ea typeface="Calibri" pitchFamily="34" charset="-122"/>
                <a:cs typeface="Calibri" pitchFamily="34" charset="-120"/>
              </a:rPr>
              <a:t>aerodynamic diameter ≤ 2.5 µm</a:t>
            </a:r>
            <a:r>
              <a:rPr lang="en-US" sz="1600" dirty="0">
                <a:solidFill>
                  <a:srgbClr val="333333"/>
                </a:solidFill>
                <a:latin typeface="Calibri" pitchFamily="34" charset="0"/>
                <a:ea typeface="Calibri" pitchFamily="34" charset="-122"/>
                <a:cs typeface="Calibri" pitchFamily="34" charset="-120"/>
              </a:rPr>
              <a:t> — the fraction small enough to penetrate deep into the alveolar region of the lung, where gas exchange occurs.
</a:t>
            </a:r>
            <a:r>
              <a:rPr lang="en-US" sz="1600" b="1" dirty="0">
                <a:solidFill>
                  <a:srgbClr val="333333"/>
                </a:solidFill>
                <a:latin typeface="Calibri" pitchFamily="34" charset="0"/>
                <a:ea typeface="Calibri" pitchFamily="34" charset="-122"/>
                <a:cs typeface="Calibri" pitchFamily="34" charset="-120"/>
              </a:rPr>
              <a:t>Aerodynamic diameter</a:t>
            </a:r>
            <a:r>
              <a:rPr lang="en-US" sz="1600" dirty="0">
                <a:solidFill>
                  <a:srgbClr val="333333"/>
                </a:solidFill>
                <a:latin typeface="Calibri" pitchFamily="34" charset="0"/>
                <a:ea typeface="Calibri" pitchFamily="34" charset="-122"/>
                <a:cs typeface="Calibri" pitchFamily="34" charset="-120"/>
              </a:rPr>
              <a:t> ≠ physical diameter. It's the diameter of a hypothetical unit-density (1 g/cm³) sphere that has the same terminal settling velocity as the actual particle. This standardizes measurement across irregularly-shaped particles.
Not a single species — PM2.5 is a </a:t>
            </a:r>
            <a:r>
              <a:rPr lang="en-US" sz="1600" b="1" dirty="0">
                <a:solidFill>
                  <a:srgbClr val="C2410C"/>
                </a:solidFill>
                <a:latin typeface="Calibri" pitchFamily="34" charset="0"/>
                <a:ea typeface="Calibri" pitchFamily="34" charset="-122"/>
                <a:cs typeface="Calibri" pitchFamily="34" charset="-120"/>
              </a:rPr>
              <a:t>complex mixture</a:t>
            </a:r>
            <a:r>
              <a:rPr lang="en-US" sz="1600" dirty="0">
                <a:solidFill>
                  <a:srgbClr val="333333"/>
                </a:solidFill>
                <a:latin typeface="Calibri" pitchFamily="34" charset="0"/>
                <a:ea typeface="Calibri" pitchFamily="34" charset="-122"/>
                <a:cs typeface="Calibri" pitchFamily="34" charset="-120"/>
              </a:rPr>
              <a:t> of primary and secondary constituents whose composition varies seasonally, geographically, and with source-mix.</a:t>
            </a:r>
            <a:endParaRPr lang="en-US" sz="1600" dirty="0"/>
          </a:p>
        </p:txBody>
      </p:sp>
      <p:sp>
        <p:nvSpPr>
          <p:cNvPr id="7" name="Text 5"/>
          <p:cNvSpPr/>
          <p:nvPr/>
        </p:nvSpPr>
        <p:spPr>
          <a:xfrm>
            <a:off x="6537960" y="1417320"/>
            <a:ext cx="5029200" cy="320040"/>
          </a:xfrm>
          <a:prstGeom prst="rect">
            <a:avLst/>
          </a:prstGeom>
          <a:noFill/>
          <a:ln/>
        </p:spPr>
        <p:txBody>
          <a:bodyPr wrap="square" lIns="0" tIns="0" rIns="0" bIns="0" rtlCol="0" anchor="ctr"/>
          <a:lstStyle/>
          <a:p>
            <a:pPr marL="0" indent="0">
              <a:buNone/>
            </a:pPr>
            <a:r>
              <a:rPr lang="en-US" sz="1300" b="1" dirty="0">
                <a:solidFill>
                  <a:srgbClr val="213C4E"/>
                </a:solidFill>
                <a:latin typeface="Cambria" pitchFamily="34" charset="0"/>
                <a:ea typeface="Cambria" pitchFamily="34" charset="-122"/>
                <a:cs typeface="Cambria" pitchFamily="34" charset="-120"/>
              </a:rPr>
              <a:t>Typical Coastal Bend composition (illustrative)</a:t>
            </a:r>
            <a:endParaRPr lang="en-US" sz="1300" dirty="0"/>
          </a:p>
        </p:txBody>
      </p:sp>
      <p:graphicFrame>
        <p:nvGraphicFramePr>
          <p:cNvPr id="8" name="Chart 0"/>
          <p:cNvGraphicFramePr/>
          <p:nvPr/>
        </p:nvGraphicFramePr>
        <p:xfrm>
          <a:off x="6537960" y="1783080"/>
          <a:ext cx="51206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6537960" y="5852160"/>
            <a:ext cx="5120640" cy="502920"/>
          </a:xfrm>
          <a:prstGeom prst="rect">
            <a:avLst/>
          </a:prstGeom>
          <a:noFill/>
          <a:ln/>
        </p:spPr>
        <p:txBody>
          <a:bodyPr wrap="square" lIns="0" tIns="0" rIns="0" bIns="0" rtlCol="0" anchor="ctr"/>
          <a:lstStyle/>
          <a:p>
            <a:pPr marL="0" indent="0">
              <a:buNone/>
            </a:pPr>
            <a:r>
              <a:rPr lang="en-US" sz="850" i="1" dirty="0">
                <a:solidFill>
                  <a:srgbClr val="6B7A85"/>
                </a:solidFill>
                <a:latin typeface="Calibri" pitchFamily="34" charset="0"/>
                <a:ea typeface="Calibri" pitchFamily="34" charset="-122"/>
                <a:cs typeface="Calibri" pitchFamily="34" charset="-120"/>
              </a:rPr>
              <a:t>Approximate mass fractions — actual values vary by season, wind sector, and receptor.</a:t>
            </a:r>
            <a:endParaRPr lang="en-US" sz="850" dirty="0"/>
          </a:p>
        </p:txBody>
      </p:sp>
      <p:sp>
        <p:nvSpPr>
          <p:cNvPr id="10" name="Text 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1" name="Text 8"/>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16 / 60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Sources — primary emissions and secondary formation</a:t>
            </a:r>
            <a:endParaRPr lang="en-US" sz="3000" dirty="0"/>
          </a:p>
        </p:txBody>
      </p:sp>
      <p:sp>
        <p:nvSpPr>
          <p:cNvPr id="4" name="Shape 2"/>
          <p:cNvSpPr/>
          <p:nvPr/>
        </p:nvSpPr>
        <p:spPr>
          <a:xfrm>
            <a:off x="548640" y="1508760"/>
            <a:ext cx="3703320" cy="3840480"/>
          </a:xfrm>
          <a:prstGeom prst="roundRect">
            <a:avLst>
              <a:gd name="adj" fmla="val 197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411480" cy="411480"/>
          </a:xfrm>
          <a:prstGeom prst="rect">
            <a:avLst/>
          </a:prstGeom>
        </p:spPr>
      </p:pic>
      <p:sp>
        <p:nvSpPr>
          <p:cNvPr id="6" name="Text 3"/>
          <p:cNvSpPr/>
          <p:nvPr/>
        </p:nvSpPr>
        <p:spPr>
          <a:xfrm>
            <a:off x="1280160" y="1691640"/>
            <a:ext cx="2880360" cy="45720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Primary anthropogenic</a:t>
            </a:r>
            <a:endParaRPr lang="en-US" sz="1400" dirty="0"/>
          </a:p>
        </p:txBody>
      </p:sp>
      <p:sp>
        <p:nvSpPr>
          <p:cNvPr id="7" name="Text 4"/>
          <p:cNvSpPr/>
          <p:nvPr/>
        </p:nvSpPr>
        <p:spPr>
          <a:xfrm>
            <a:off x="731520" y="2286000"/>
            <a:ext cx="3383280" cy="2926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Diesel exhaust (Port of Corpus Christi — 3rd-largest US port by tonnage; heavy diesel trucking on I-37 and SH-358)</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Refinery / petrochemical primary emissions (6 major refineries in Nueces County; EC + OC + metals)</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Marine bunker fuel combustion (vanadium, nickel — Bozlaker et al. 2013)</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Biomass burning (agricultural, especially RGV sugarcane)</a:t>
            </a:r>
            <a:endParaRPr lang="en-US" sz="1400" dirty="0"/>
          </a:p>
        </p:txBody>
      </p:sp>
      <p:sp>
        <p:nvSpPr>
          <p:cNvPr id="8" name="Shape 5"/>
          <p:cNvSpPr/>
          <p:nvPr/>
        </p:nvSpPr>
        <p:spPr>
          <a:xfrm>
            <a:off x="4343400" y="1508760"/>
            <a:ext cx="3703320" cy="3840480"/>
          </a:xfrm>
          <a:prstGeom prst="roundRect">
            <a:avLst>
              <a:gd name="adj" fmla="val 197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526280" y="1691640"/>
            <a:ext cx="411480" cy="411480"/>
          </a:xfrm>
          <a:prstGeom prst="rect">
            <a:avLst/>
          </a:prstGeom>
        </p:spPr>
      </p:pic>
      <p:sp>
        <p:nvSpPr>
          <p:cNvPr id="10" name="Text 6"/>
          <p:cNvSpPr/>
          <p:nvPr/>
        </p:nvSpPr>
        <p:spPr>
          <a:xfrm>
            <a:off x="5074920" y="1691640"/>
            <a:ext cx="2880360" cy="457200"/>
          </a:xfrm>
          <a:prstGeom prst="rect">
            <a:avLst/>
          </a:prstGeom>
          <a:noFill/>
          <a:ln/>
        </p:spPr>
        <p:txBody>
          <a:bodyPr wrap="square" lIns="0" tIns="0" rIns="0" bIns="0" rtlCol="0" anchor="ctr"/>
          <a:lstStyle/>
          <a:p>
            <a:pPr marL="0" indent="0">
              <a:buNone/>
            </a:pPr>
            <a:r>
              <a:rPr lang="en-US" sz="1400" b="1" dirty="0">
                <a:solidFill>
                  <a:srgbClr val="0F766E"/>
                </a:solidFill>
                <a:latin typeface="Cambria" pitchFamily="34" charset="0"/>
                <a:ea typeface="Cambria" pitchFamily="34" charset="-122"/>
                <a:cs typeface="Cambria" pitchFamily="34" charset="-120"/>
              </a:rPr>
              <a:t>Primary natural</a:t>
            </a:r>
            <a:endParaRPr lang="en-US" sz="1400" dirty="0"/>
          </a:p>
        </p:txBody>
      </p:sp>
      <p:sp>
        <p:nvSpPr>
          <p:cNvPr id="11" name="Text 7"/>
          <p:cNvSpPr/>
          <p:nvPr/>
        </p:nvSpPr>
        <p:spPr>
          <a:xfrm>
            <a:off x="4526280" y="2286000"/>
            <a:ext cx="3383280" cy="2926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Sea salt aerosol from Gulf whitecaps (Na, Cl, Mg, SO4 from DMS oxidation) — dominant baseline in coastal Nueces</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Wildfire smoke (episodic — Western US in summer, Central America in spring)</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Crustal mineral dust — Saharan trans-Atlantic transport peaks JJA (Prospero et al. 1999, 2014)</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Biological particles (pollen, fungal spores)</a:t>
            </a:r>
            <a:endParaRPr lang="en-US" sz="1400" dirty="0"/>
          </a:p>
        </p:txBody>
      </p:sp>
      <p:sp>
        <p:nvSpPr>
          <p:cNvPr id="12" name="Shape 8"/>
          <p:cNvSpPr/>
          <p:nvPr/>
        </p:nvSpPr>
        <p:spPr>
          <a:xfrm>
            <a:off x="8138160" y="1508760"/>
            <a:ext cx="3703320" cy="3840480"/>
          </a:xfrm>
          <a:prstGeom prst="roundRect">
            <a:avLst>
              <a:gd name="adj" fmla="val 197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321040" y="1691640"/>
            <a:ext cx="411480" cy="411480"/>
          </a:xfrm>
          <a:prstGeom prst="rect">
            <a:avLst/>
          </a:prstGeom>
        </p:spPr>
      </p:pic>
      <p:sp>
        <p:nvSpPr>
          <p:cNvPr id="14" name="Text 9"/>
          <p:cNvSpPr/>
          <p:nvPr/>
        </p:nvSpPr>
        <p:spPr>
          <a:xfrm>
            <a:off x="8869680" y="1691640"/>
            <a:ext cx="2880360" cy="457200"/>
          </a:xfrm>
          <a:prstGeom prst="rect">
            <a:avLst/>
          </a:prstGeom>
          <a:noFill/>
          <a:ln/>
        </p:spPr>
        <p:txBody>
          <a:bodyPr wrap="square" lIns="0" tIns="0" rIns="0" bIns="0" rtlCol="0" anchor="ctr"/>
          <a:lstStyle/>
          <a:p>
            <a:pPr marL="0" indent="0">
              <a:buNone/>
            </a:pPr>
            <a:r>
              <a:rPr lang="en-US" sz="1400" b="1" dirty="0">
                <a:solidFill>
                  <a:srgbClr val="C2410C"/>
                </a:solidFill>
                <a:latin typeface="Cambria" pitchFamily="34" charset="0"/>
                <a:ea typeface="Cambria" pitchFamily="34" charset="-122"/>
                <a:cs typeface="Cambria" pitchFamily="34" charset="-120"/>
              </a:rPr>
              <a:t>Secondary formation</a:t>
            </a:r>
            <a:endParaRPr lang="en-US" sz="1400" dirty="0"/>
          </a:p>
        </p:txBody>
      </p:sp>
      <p:sp>
        <p:nvSpPr>
          <p:cNvPr id="15" name="Text 10"/>
          <p:cNvSpPr/>
          <p:nvPr/>
        </p:nvSpPr>
        <p:spPr>
          <a:xfrm>
            <a:off x="8321040" y="2286000"/>
            <a:ext cx="3383280" cy="2926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Sulfate: SO2 + OH → H2SO4 (gas) + heterogeneous aqueous pathways</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Nitrate: NOx → HNO3 → NH4NO3 (largely gas-phase in Coastal Bend heat)</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Secondary organic aerosol (SOA) from aromatic + biogenic VOCs — coupled to Coastal Bend refinery-corridor chemistry</a:t>
            </a:r>
            <a:endParaRPr lang="en-US" sz="1400" dirty="0"/>
          </a:p>
          <a:p>
            <a:pPr marL="342900" indent="-342900">
              <a:spcAft>
                <a:spcPts val="400"/>
              </a:spcAft>
              <a:buSzPct val="100000"/>
              <a:buChar char="•"/>
            </a:pPr>
            <a:r>
              <a:rPr lang="en-US" sz="1400" dirty="0">
                <a:solidFill>
                  <a:srgbClr val="333333"/>
                </a:solidFill>
                <a:latin typeface="Calibri" pitchFamily="34" charset="0"/>
                <a:ea typeface="Calibri" pitchFamily="34" charset="-122"/>
                <a:cs typeface="Calibri" pitchFamily="34" charset="-120"/>
              </a:rPr>
              <a:t>Ammonium neutralizes acidic sulfate + nitrate</a:t>
            </a:r>
            <a:endParaRPr lang="en-US" sz="1400" dirty="0"/>
          </a:p>
        </p:txBody>
      </p:sp>
      <p:sp>
        <p:nvSpPr>
          <p:cNvPr id="16" name="Shape 11"/>
          <p:cNvSpPr/>
          <p:nvPr/>
        </p:nvSpPr>
        <p:spPr>
          <a:xfrm>
            <a:off x="548640" y="5486400"/>
            <a:ext cx="11064240" cy="868680"/>
          </a:xfrm>
          <a:prstGeom prst="roundRect">
            <a:avLst>
              <a:gd name="adj" fmla="val 842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17" name="Text 12"/>
          <p:cNvSpPr/>
          <p:nvPr/>
        </p:nvSpPr>
        <p:spPr>
          <a:xfrm>
            <a:off x="777240" y="5623560"/>
            <a:ext cx="10607040" cy="640080"/>
          </a:xfrm>
          <a:prstGeom prst="rect">
            <a:avLst/>
          </a:prstGeom>
          <a:noFill/>
          <a:ln/>
        </p:spPr>
        <p:txBody>
          <a:bodyPr wrap="square" lIns="0" tIns="0" rIns="0" bIns="0" rtlCol="0" anchor="t"/>
          <a:lstStyle/>
          <a:p>
            <a:pPr marL="0" indent="0">
              <a:buNone/>
            </a:pPr>
            <a:r>
              <a:rPr lang="en-US" sz="1600" b="1" dirty="0">
                <a:solidFill>
                  <a:srgbClr val="C2410C"/>
                </a:solidFill>
                <a:latin typeface="Calibri" pitchFamily="34" charset="0"/>
                <a:ea typeface="Calibri" pitchFamily="34" charset="-122"/>
                <a:cs typeface="Calibri" pitchFamily="34" charset="-120"/>
              </a:rPr>
              <a:t>Coastal Bend transport pathways: </a:t>
            </a:r>
            <a:r>
              <a:rPr lang="en-US" sz="1600" dirty="0">
                <a:solidFill>
                  <a:srgbClr val="333333"/>
                </a:solidFill>
                <a:latin typeface="Calibri" pitchFamily="34" charset="0"/>
                <a:ea typeface="Calibri" pitchFamily="34" charset="-122"/>
                <a:cs typeface="Calibri" pitchFamily="34" charset="-120"/>
              </a:rPr>
              <a:t>SE Gulf flow → sea salt + long-range Saharan dust; sea-breeze convergence recirculates refinery plumes over Hillcrest/Dona Park/Holly; nocturnal land breeze traps emissions at low mixing height along the coast.</a:t>
            </a:r>
            <a:endParaRPr lang="en-US" sz="1600" dirty="0"/>
          </a:p>
        </p:txBody>
      </p:sp>
      <p:sp>
        <p:nvSpPr>
          <p:cNvPr id="18" name="Text 1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9" name="Text 14"/>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17 / 60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HEALTH</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Health effects — landmark cohort evidence</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3928330656"/>
              </p:ext>
            </p:extLst>
          </p:nvPr>
        </p:nvGraphicFramePr>
        <p:xfrm>
          <a:off x="548640" y="1417320"/>
          <a:ext cx="11064240" cy="4206240"/>
        </p:xfrm>
        <a:graphic>
          <a:graphicData uri="http://schemas.openxmlformats.org/drawingml/2006/table">
            <a:tbl>
              <a:tblPr/>
              <a:tblGrid>
                <a:gridCol w="3291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52578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Study</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Finding</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52578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Six Cities (Dockery et al. 1993, NEJM)</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8,111 adults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26% mortality gradient across cities differing by ~18 µg/m³ PM2.5</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578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ACS CPS-II (Pope et al. 2002, JAMA)</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~1.2M adults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+4% all-cause mortality per 10 µg/m³ PM2.5; +6% cardiopulmonary; +8% lung cancer</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52578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HEI Reanalysis (Krewski et al. 2009)</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Extended ACS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Confirmed Pope et al. — robust to confounding adjustment + spatial refinement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578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Medicare cohort (Di et al. 2017, NEJM)</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60.9M enrollees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Significant mortality below 12 µg/m³ — pivotal evidence for the 2024 NAAQS revision</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52578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IARC Monograph 109 (2013)</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Meta-analyses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Outdoor air pollution and PM classified Group 1 (known human carcinogen) — lung cancer</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578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GBD 2019 (Murray et al. 2020, Lancet)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Global</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~4.14M deaths and 118M DALYs attributable to ambient PM2.5</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52578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Wilker et al. 2023 (BMJ dementia meta)</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16M adults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HR 1.07 (1.04–1.10) per 2 µg/m³ PM2.5 — dementia incidence</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806440"/>
            <a:ext cx="11064240" cy="502920"/>
          </a:xfrm>
          <a:prstGeom prst="roundRect">
            <a:avLst>
              <a:gd name="adj" fmla="val 1454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777240" y="5870448"/>
            <a:ext cx="10607040" cy="411480"/>
          </a:xfrm>
          <a:prstGeom prst="rect">
            <a:avLst/>
          </a:prstGeom>
          <a:noFill/>
          <a:ln/>
        </p:spPr>
        <p:txBody>
          <a:bodyPr wrap="square" lIns="0" tIns="0" rIns="0" bIns="0" rtlCol="0" anchor="ctr"/>
          <a:lstStyle/>
          <a:p>
            <a:pPr marL="0" indent="0">
              <a:buNone/>
            </a:pPr>
            <a:r>
              <a:rPr lang="en-US" sz="1100" b="1" dirty="0">
                <a:solidFill>
                  <a:srgbClr val="C2410C"/>
                </a:solidFill>
                <a:latin typeface="Calibri" pitchFamily="34" charset="0"/>
                <a:ea typeface="Calibri" pitchFamily="34" charset="-122"/>
                <a:cs typeface="Calibri" pitchFamily="34" charset="-120"/>
              </a:rPr>
              <a:t>→ </a:t>
            </a:r>
            <a:r>
              <a:rPr lang="en-US" sz="1100" b="1" dirty="0">
                <a:solidFill>
                  <a:srgbClr val="333333"/>
                </a:solidFill>
                <a:latin typeface="Calibri" pitchFamily="34" charset="0"/>
                <a:ea typeface="Calibri" pitchFamily="34" charset="-122"/>
                <a:cs typeface="Calibri" pitchFamily="34" charset="-120"/>
              </a:rPr>
              <a:t>Effect is monotonic below the previous NAAQS. </a:t>
            </a:r>
            <a:r>
              <a:rPr lang="en-US" sz="1100" dirty="0">
                <a:solidFill>
                  <a:srgbClr val="333333"/>
                </a:solidFill>
                <a:latin typeface="Calibri" pitchFamily="34" charset="0"/>
                <a:ea typeface="Calibri" pitchFamily="34" charset="-122"/>
                <a:cs typeface="Calibri" pitchFamily="34" charset="-120"/>
              </a:rPr>
              <a:t>Di et al. was the specific study Dr. Whitman's team cited when EPA proposed tightening the annual standard to 9 µg/m³ in Feb 2024.</a:t>
            </a:r>
            <a:endParaRPr lang="en-US" sz="1100" dirty="0"/>
          </a:p>
        </p:txBody>
      </p:sp>
      <p:sp>
        <p:nvSpPr>
          <p:cNvPr id="7" name="Text 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8" name="Text 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18 / 60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HEALTH</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Health effects — organ systems</a:t>
            </a:r>
            <a:endParaRPr lang="en-US" sz="3000" dirty="0"/>
          </a:p>
        </p:txBody>
      </p:sp>
      <p:sp>
        <p:nvSpPr>
          <p:cNvPr id="4" name="Shape 2"/>
          <p:cNvSpPr/>
          <p:nvPr/>
        </p:nvSpPr>
        <p:spPr>
          <a:xfrm>
            <a:off x="548640" y="155448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737360"/>
            <a:ext cx="457200" cy="457200"/>
          </a:xfrm>
          <a:prstGeom prst="rect">
            <a:avLst/>
          </a:prstGeom>
        </p:spPr>
      </p:pic>
      <p:sp>
        <p:nvSpPr>
          <p:cNvPr id="6" name="Text 3"/>
          <p:cNvSpPr/>
          <p:nvPr/>
        </p:nvSpPr>
        <p:spPr>
          <a:xfrm>
            <a:off x="1325880" y="1691640"/>
            <a:ext cx="461772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Cardiovascular (causal — AHA 2010)</a:t>
            </a:r>
            <a:endParaRPr lang="en-US" dirty="0"/>
          </a:p>
        </p:txBody>
      </p:sp>
      <p:sp>
        <p:nvSpPr>
          <p:cNvPr id="7" name="Text 4"/>
          <p:cNvSpPr/>
          <p:nvPr/>
        </p:nvSpPr>
        <p:spPr>
          <a:xfrm>
            <a:off x="731520" y="228600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Myocardial infarction, ischemic stroke, heart failure. Mechanisms: autonomic dysregulation, systemic inflammation, endothelial dysfunction, accelerated atherosclerosis. AHA scientific statement (Brook et al. 2010, Circulation 121:2331–2378).</a:t>
            </a:r>
            <a:endParaRPr lang="en-US" sz="1400" dirty="0"/>
          </a:p>
        </p:txBody>
      </p:sp>
      <p:sp>
        <p:nvSpPr>
          <p:cNvPr id="8" name="Shape 5"/>
          <p:cNvSpPr/>
          <p:nvPr/>
        </p:nvSpPr>
        <p:spPr>
          <a:xfrm>
            <a:off x="6217920" y="155448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6400800" y="1737360"/>
            <a:ext cx="457200" cy="457200"/>
          </a:xfrm>
          <a:prstGeom prst="rect">
            <a:avLst/>
          </a:prstGeom>
        </p:spPr>
      </p:pic>
      <p:sp>
        <p:nvSpPr>
          <p:cNvPr id="10" name="Text 6"/>
          <p:cNvSpPr/>
          <p:nvPr/>
        </p:nvSpPr>
        <p:spPr>
          <a:xfrm>
            <a:off x="6995160" y="1691640"/>
            <a:ext cx="461772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Respiratory + lung cancer</a:t>
            </a:r>
            <a:endParaRPr lang="en-US" dirty="0"/>
          </a:p>
        </p:txBody>
      </p:sp>
      <p:sp>
        <p:nvSpPr>
          <p:cNvPr id="11" name="Text 7"/>
          <p:cNvSpPr/>
          <p:nvPr/>
        </p:nvSpPr>
        <p:spPr>
          <a:xfrm>
            <a:off x="6400800" y="228600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COPD exacerbation, asthma, lower respiratory infections. IARC Monograph 109 (2013) classified outdoor air pollution and PM as Group 1 for lung cancer.</a:t>
            </a:r>
            <a:endParaRPr lang="en-US" sz="1400" dirty="0"/>
          </a:p>
        </p:txBody>
      </p:sp>
      <p:sp>
        <p:nvSpPr>
          <p:cNvPr id="12" name="Shape 8"/>
          <p:cNvSpPr/>
          <p:nvPr/>
        </p:nvSpPr>
        <p:spPr>
          <a:xfrm>
            <a:off x="548640" y="411480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731520" y="4297680"/>
            <a:ext cx="457200" cy="457200"/>
          </a:xfrm>
          <a:prstGeom prst="rect">
            <a:avLst/>
          </a:prstGeom>
        </p:spPr>
      </p:pic>
      <p:sp>
        <p:nvSpPr>
          <p:cNvPr id="14" name="Text 9"/>
          <p:cNvSpPr/>
          <p:nvPr/>
        </p:nvSpPr>
        <p:spPr>
          <a:xfrm>
            <a:off x="1325880" y="4251960"/>
            <a:ext cx="461772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Neurological</a:t>
            </a:r>
            <a:endParaRPr lang="en-US" dirty="0"/>
          </a:p>
        </p:txBody>
      </p:sp>
      <p:sp>
        <p:nvSpPr>
          <p:cNvPr id="15" name="Text 10"/>
          <p:cNvSpPr/>
          <p:nvPr/>
        </p:nvSpPr>
        <p:spPr>
          <a:xfrm>
            <a:off x="731520" y="484632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Accelerated cognitive decline (Chen et al. 2017, Lancet); dementia meta-analysis (Wilker et al. 2023, BMJ) — HR 1.07 per 2 µg/m³. Mechanism: systemic inflammation + olfactory nerve translocation for UFP.</a:t>
            </a:r>
            <a:endParaRPr lang="en-US" sz="1400" dirty="0"/>
          </a:p>
        </p:txBody>
      </p:sp>
      <p:sp>
        <p:nvSpPr>
          <p:cNvPr id="16" name="Shape 11"/>
          <p:cNvSpPr/>
          <p:nvPr/>
        </p:nvSpPr>
        <p:spPr>
          <a:xfrm>
            <a:off x="6217920" y="411480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6400800" y="4297680"/>
            <a:ext cx="457200" cy="457200"/>
          </a:xfrm>
          <a:prstGeom prst="rect">
            <a:avLst/>
          </a:prstGeom>
        </p:spPr>
      </p:pic>
      <p:sp>
        <p:nvSpPr>
          <p:cNvPr id="18" name="Text 12"/>
          <p:cNvSpPr/>
          <p:nvPr/>
        </p:nvSpPr>
        <p:spPr>
          <a:xfrm>
            <a:off x="6995160" y="4251960"/>
            <a:ext cx="461772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Prenatal / perinatal (justice-relevant)</a:t>
            </a:r>
            <a:endParaRPr lang="en-US" dirty="0"/>
          </a:p>
        </p:txBody>
      </p:sp>
      <p:sp>
        <p:nvSpPr>
          <p:cNvPr id="19" name="Text 13"/>
          <p:cNvSpPr/>
          <p:nvPr/>
        </p:nvSpPr>
        <p:spPr>
          <a:xfrm>
            <a:off x="6400800" y="484632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Preterm birth: significant association in 79% of studies (19/24); low birth weight in 86% (25/29) — Bekkar et al. 2020 JAMA Netw Open reviewing 32.8M US births. Black mothers and asthmatic populations at highest risk. Direct relevance to Coastal Bend disparities.</a:t>
            </a:r>
            <a:endParaRPr lang="en-US" sz="1400" dirty="0"/>
          </a:p>
        </p:txBody>
      </p:sp>
      <p:sp>
        <p:nvSpPr>
          <p:cNvPr id="20"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1" name="Text 1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19 / 60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REGULATION</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NAAQS — the Feb 2024 tightening</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852160" cy="2377440"/>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7548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Standard</a:t>
                      </a:r>
                      <a:endParaRPr lang="en-US" sz="11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Level</a:t>
                      </a:r>
                      <a:endParaRPr lang="en-US" sz="11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Form</a:t>
                      </a:r>
                      <a:endParaRPr lang="en-US" sz="11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75488">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Primary annual</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9.0 µg/m³</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3-yr avg of annual arithmetic mean (NEW 2024)</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Primary 24-hr</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35 µg/m³</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3-yr avg of 98th percentile of 24-hr values</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75488">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Secondary annual</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15 µg/m³</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3-yr avg of annual mean (welfare / visibility)</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Secondary 24-hr</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35 µg/m³</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Same as primary</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bl>
          </a:graphicData>
        </a:graphic>
      </p:graphicFrame>
      <p:sp>
        <p:nvSpPr>
          <p:cNvPr id="5" name="Shape 2"/>
          <p:cNvSpPr/>
          <p:nvPr/>
        </p:nvSpPr>
        <p:spPr>
          <a:xfrm>
            <a:off x="6583680" y="1417320"/>
            <a:ext cx="502920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6766560" y="1554480"/>
            <a:ext cx="4663440" cy="36576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Standard history</a:t>
            </a:r>
            <a:endParaRPr lang="en-US" sz="2000" dirty="0"/>
          </a:p>
        </p:txBody>
      </p:sp>
      <p:sp>
        <p:nvSpPr>
          <p:cNvPr id="7" name="Text 4"/>
          <p:cNvSpPr/>
          <p:nvPr/>
        </p:nvSpPr>
        <p:spPr>
          <a:xfrm>
            <a:off x="6766560" y="2017630"/>
            <a:ext cx="4663440" cy="4297680"/>
          </a:xfrm>
          <a:prstGeom prst="rect">
            <a:avLst/>
          </a:prstGeom>
          <a:noFill/>
          <a:ln/>
        </p:spPr>
        <p:txBody>
          <a:bodyPr wrap="square" lIns="0" tIns="0" rIns="0" bIns="0" rtlCol="0" anchor="t"/>
          <a:lstStyle/>
          <a:p>
            <a:pPr marL="0" indent="0">
              <a:spcAft>
                <a:spcPts val="400"/>
              </a:spcAft>
              <a:buNone/>
            </a:pPr>
            <a:r>
              <a:rPr lang="en-US" sz="1600" b="1" dirty="0">
                <a:solidFill>
                  <a:srgbClr val="C2410C"/>
                </a:solidFill>
                <a:latin typeface="Calibri" pitchFamily="34" charset="0"/>
                <a:ea typeface="Calibri" pitchFamily="34" charset="-122"/>
                <a:cs typeface="Calibri" pitchFamily="34" charset="-120"/>
              </a:rPr>
              <a:t>1997 </a:t>
            </a:r>
            <a:r>
              <a:rPr lang="en-US" sz="1600" dirty="0">
                <a:solidFill>
                  <a:srgbClr val="333333"/>
                </a:solidFill>
                <a:latin typeface="Calibri" pitchFamily="34" charset="0"/>
                <a:ea typeface="Calibri" pitchFamily="34" charset="-122"/>
                <a:cs typeface="Calibri" pitchFamily="34" charset="-120"/>
              </a:rPr>
              <a:t>— First PM2.5 NAAQS: 65 µg/m³ 24-hr, 15 µg/m³ annual</a:t>
            </a:r>
            <a:endParaRPr lang="en-US" sz="1600" dirty="0"/>
          </a:p>
          <a:p>
            <a:pPr marL="0" indent="0">
              <a:spcAft>
                <a:spcPts val="400"/>
              </a:spcAft>
              <a:buNone/>
            </a:pPr>
            <a:r>
              <a:rPr lang="en-US" sz="1600" b="1" dirty="0">
                <a:solidFill>
                  <a:srgbClr val="C2410C"/>
                </a:solidFill>
                <a:latin typeface="Calibri" pitchFamily="34" charset="0"/>
                <a:ea typeface="Calibri" pitchFamily="34" charset="-122"/>
                <a:cs typeface="Calibri" pitchFamily="34" charset="-120"/>
              </a:rPr>
              <a:t>2006 </a:t>
            </a:r>
            <a:r>
              <a:rPr lang="en-US" sz="1600" dirty="0">
                <a:solidFill>
                  <a:srgbClr val="333333"/>
                </a:solidFill>
                <a:latin typeface="Calibri" pitchFamily="34" charset="0"/>
                <a:ea typeface="Calibri" pitchFamily="34" charset="-122"/>
                <a:cs typeface="Calibri" pitchFamily="34" charset="-120"/>
              </a:rPr>
              <a:t>— 24-hr tightened to 35 µg/m³; annual retained at 15</a:t>
            </a:r>
            <a:endParaRPr lang="en-US" sz="1600" dirty="0"/>
          </a:p>
          <a:p>
            <a:pPr marL="0" indent="0">
              <a:spcAft>
                <a:spcPts val="400"/>
              </a:spcAft>
              <a:buNone/>
            </a:pPr>
            <a:r>
              <a:rPr lang="en-US" sz="1600" b="1" dirty="0">
                <a:solidFill>
                  <a:srgbClr val="C2410C"/>
                </a:solidFill>
                <a:latin typeface="Calibri" pitchFamily="34" charset="0"/>
                <a:ea typeface="Calibri" pitchFamily="34" charset="-122"/>
                <a:cs typeface="Calibri" pitchFamily="34" charset="-120"/>
              </a:rPr>
              <a:t>2012 </a:t>
            </a:r>
            <a:r>
              <a:rPr lang="en-US" sz="1600" dirty="0">
                <a:solidFill>
                  <a:srgbClr val="333333"/>
                </a:solidFill>
                <a:latin typeface="Calibri" pitchFamily="34" charset="0"/>
                <a:ea typeface="Calibri" pitchFamily="34" charset="-122"/>
                <a:cs typeface="Calibri" pitchFamily="34" charset="-120"/>
              </a:rPr>
              <a:t>— Annual tightened to 12 µg/m³</a:t>
            </a:r>
            <a:endParaRPr lang="en-US" sz="1600" dirty="0"/>
          </a:p>
          <a:p>
            <a:pPr marL="0" indent="0">
              <a:spcAft>
                <a:spcPts val="400"/>
              </a:spcAft>
              <a:buNone/>
            </a:pPr>
            <a:r>
              <a:rPr lang="en-US" sz="1600" b="1" dirty="0">
                <a:solidFill>
                  <a:srgbClr val="C2410C"/>
                </a:solidFill>
                <a:latin typeface="Calibri" pitchFamily="34" charset="0"/>
                <a:ea typeface="Calibri" pitchFamily="34" charset="-122"/>
                <a:cs typeface="Calibri" pitchFamily="34" charset="-120"/>
              </a:rPr>
              <a:t>2024 </a:t>
            </a:r>
            <a:r>
              <a:rPr lang="en-US" sz="1600" dirty="0">
                <a:solidFill>
                  <a:srgbClr val="333333"/>
                </a:solidFill>
                <a:latin typeface="Calibri" pitchFamily="34" charset="0"/>
                <a:ea typeface="Calibri" pitchFamily="34" charset="-122"/>
                <a:cs typeface="Calibri" pitchFamily="34" charset="-120"/>
              </a:rPr>
              <a:t>— Annual tightened to </a:t>
            </a:r>
            <a:r>
              <a:rPr lang="en-US" sz="1600" b="1" dirty="0">
                <a:solidFill>
                  <a:srgbClr val="9F1239"/>
                </a:solidFill>
                <a:latin typeface="Calibri" pitchFamily="34" charset="0"/>
                <a:ea typeface="Calibri" pitchFamily="34" charset="-122"/>
                <a:cs typeface="Calibri" pitchFamily="34" charset="-120"/>
              </a:rPr>
              <a:t>9 µg/m³</a:t>
            </a:r>
            <a:r>
              <a:rPr lang="en-US" sz="1600" dirty="0">
                <a:solidFill>
                  <a:srgbClr val="333333"/>
                </a:solidFill>
                <a:latin typeface="Calibri" pitchFamily="34" charset="0"/>
                <a:ea typeface="Calibri" pitchFamily="34" charset="-122"/>
                <a:cs typeface="Calibri" pitchFamily="34" charset="-120"/>
              </a:rPr>
              <a:t> (89 FR 16202, effective May 6, 2024), citing Di et al. 2017 evidence of mortality below 12 µg/m³.</a:t>
            </a:r>
            <a:endParaRPr lang="en-US" sz="1600" dirty="0"/>
          </a:p>
          <a:p>
            <a:pPr marL="0" indent="0">
              <a:spcAft>
                <a:spcPts val="400"/>
              </a:spcAft>
              <a:buNone/>
            </a:pPr>
            <a:endParaRPr lang="en-US" sz="1600" dirty="0"/>
          </a:p>
          <a:p>
            <a:pPr marL="0" indent="0">
              <a:spcAft>
                <a:spcPts val="400"/>
              </a:spcAft>
              <a:buNone/>
            </a:pPr>
            <a:r>
              <a:rPr lang="en-US" sz="1600" b="1" dirty="0">
                <a:solidFill>
                  <a:srgbClr val="333333"/>
                </a:solidFill>
                <a:latin typeface="Calibri" pitchFamily="34" charset="0"/>
                <a:ea typeface="Calibri" pitchFamily="34" charset="-122"/>
                <a:cs typeface="Calibri" pitchFamily="34" charset="-120"/>
              </a:rPr>
              <a:t>WHO 2021 guideline: </a:t>
            </a:r>
            <a:endParaRPr lang="en-US" sz="1600" dirty="0"/>
          </a:p>
          <a:p>
            <a:pPr marL="0" indent="0">
              <a:spcAft>
                <a:spcPts val="400"/>
              </a:spcAft>
              <a:buNone/>
            </a:pPr>
            <a:r>
              <a:rPr lang="en-US" sz="1600" i="1" dirty="0">
                <a:solidFill>
                  <a:srgbClr val="6B7A85"/>
                </a:solidFill>
                <a:latin typeface="Calibri" pitchFamily="34" charset="0"/>
                <a:ea typeface="Calibri" pitchFamily="34" charset="-122"/>
                <a:cs typeface="Calibri" pitchFamily="34" charset="-120"/>
              </a:rPr>
              <a:t>5 µg/m³ annual, 15 µg/m³ 24-hr.</a:t>
            </a:r>
            <a:endParaRPr lang="en-US" sz="1600" dirty="0"/>
          </a:p>
          <a:p>
            <a:pPr marL="0" indent="0">
              <a:spcAft>
                <a:spcPts val="400"/>
              </a:spcAft>
              <a:buNone/>
            </a:pPr>
            <a:endParaRPr lang="en-US" sz="1600" dirty="0"/>
          </a:p>
          <a:p>
            <a:pPr marL="0" indent="0">
              <a:spcAft>
                <a:spcPts val="400"/>
              </a:spcAft>
              <a:buNone/>
            </a:pPr>
            <a:r>
              <a:rPr lang="en-US" sz="1200" i="1" dirty="0">
                <a:solidFill>
                  <a:srgbClr val="6B7A85"/>
                </a:solidFill>
                <a:latin typeface="Calibri" pitchFamily="34" charset="0"/>
                <a:ea typeface="Calibri" pitchFamily="34" charset="-122"/>
                <a:cs typeface="Calibri" pitchFamily="34" charset="-120"/>
              </a:rPr>
              <a:t>2025: EPA announced reconsideration of the 9 µg/m³ standard; 9.0 remains in effect as of mid-2026 pending rulemaking.</a:t>
            </a:r>
            <a:endParaRPr lang="en-US" sz="1600" dirty="0"/>
          </a:p>
        </p:txBody>
      </p:sp>
      <p:sp>
        <p:nvSpPr>
          <p:cNvPr id="8" name="Shape 5"/>
          <p:cNvSpPr/>
          <p:nvPr/>
        </p:nvSpPr>
        <p:spPr>
          <a:xfrm>
            <a:off x="548640" y="3977640"/>
            <a:ext cx="585216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9" name="Text 6"/>
          <p:cNvSpPr/>
          <p:nvPr/>
        </p:nvSpPr>
        <p:spPr>
          <a:xfrm>
            <a:off x="777240" y="4114800"/>
            <a:ext cx="5486400" cy="365760"/>
          </a:xfrm>
          <a:prstGeom prst="rect">
            <a:avLst/>
          </a:prstGeom>
          <a:noFill/>
          <a:ln/>
        </p:spPr>
        <p:txBody>
          <a:bodyPr wrap="square" lIns="0" tIns="0" rIns="0" bIns="0" rtlCol="0" anchor="ctr"/>
          <a:lstStyle/>
          <a:p>
            <a:pPr marL="0" indent="0">
              <a:buNone/>
            </a:pPr>
            <a:r>
              <a:rPr lang="en-US" sz="1600" b="1" dirty="0">
                <a:solidFill>
                  <a:srgbClr val="213C4E"/>
                </a:solidFill>
                <a:latin typeface="Cambria" pitchFamily="34" charset="0"/>
                <a:ea typeface="Cambria" pitchFamily="34" charset="-122"/>
                <a:cs typeface="Cambria" pitchFamily="34" charset="-120"/>
              </a:rPr>
              <a:t>EPA-projected 2032 annual benefits of the 2024 revision</a:t>
            </a:r>
            <a:endParaRPr lang="en-US" sz="1600" dirty="0"/>
          </a:p>
        </p:txBody>
      </p:sp>
      <p:graphicFrame>
        <p:nvGraphicFramePr>
          <p:cNvPr id="4" name="Diagram 3">
            <a:extLst>
              <a:ext uri="{FF2B5EF4-FFF2-40B4-BE49-F238E27FC236}">
                <a16:creationId xmlns:a16="http://schemas.microsoft.com/office/drawing/2014/main" id="{C1F764D4-71F0-5A6A-6237-1F895A7FDEF0}"/>
              </a:ext>
            </a:extLst>
          </p:cNvPr>
          <p:cNvGraphicFramePr/>
          <p:nvPr/>
        </p:nvGraphicFramePr>
        <p:xfrm>
          <a:off x="777240" y="4480560"/>
          <a:ext cx="5486400" cy="182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2"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20 / 60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FRM — the gravimetric filter method (Appendix L)</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Filter-based, 24-hr integrated sample</a:t>
            </a:r>
            <a:endParaRPr lang="en-US" dirty="0"/>
          </a:p>
        </p:txBody>
      </p:sp>
      <p:sp>
        <p:nvSpPr>
          <p:cNvPr id="6" name="Text 4"/>
          <p:cNvSpPr/>
          <p:nvPr/>
        </p:nvSpPr>
        <p:spPr>
          <a:xfrm>
            <a:off x="777240" y="2148214"/>
            <a:ext cx="5486400" cy="4206240"/>
          </a:xfrm>
          <a:prstGeom prst="rect">
            <a:avLst/>
          </a:prstGeom>
          <a:noFill/>
          <a:ln/>
        </p:spPr>
        <p:txBody>
          <a:bodyPr wrap="square" lIns="0" tIns="0" rIns="0" bIns="0" rtlCol="0" anchor="t"/>
          <a:lstStyle/>
          <a:p>
            <a:pPr marL="0" indent="0">
              <a:spcAft>
                <a:spcPts val="300"/>
              </a:spcAft>
              <a:buNone/>
            </a:pPr>
            <a:r>
              <a:rPr lang="en-US" sz="1400" b="1" dirty="0">
                <a:solidFill>
                  <a:srgbClr val="C2410C"/>
                </a:solidFill>
                <a:latin typeface="Calibri" pitchFamily="34" charset="0"/>
                <a:ea typeface="Calibri" pitchFamily="34" charset="-122"/>
                <a:cs typeface="Calibri" pitchFamily="34" charset="-120"/>
              </a:rPr>
              <a:t>1.</a:t>
            </a:r>
            <a:r>
              <a:rPr lang="en-US" sz="1400" dirty="0">
                <a:solidFill>
                  <a:srgbClr val="333333"/>
                </a:solidFill>
                <a:latin typeface="Calibri" pitchFamily="34" charset="0"/>
                <a:ea typeface="Calibri" pitchFamily="34" charset="-122"/>
                <a:cs typeface="Calibri" pitchFamily="34" charset="-120"/>
              </a:rPr>
              <a:t> 16.67 L/min flow-controlled sampler pulls ambient air through a WINS or VSCC 2.5 µm size-selective inlet.
</a:t>
            </a:r>
            <a:r>
              <a:rPr lang="en-US" sz="1400" b="1" dirty="0">
                <a:solidFill>
                  <a:srgbClr val="C2410C"/>
                </a:solidFill>
                <a:latin typeface="Calibri" pitchFamily="34" charset="0"/>
                <a:ea typeface="Calibri" pitchFamily="34" charset="-122"/>
                <a:cs typeface="Calibri" pitchFamily="34" charset="-120"/>
              </a:rPr>
              <a:t>2.</a:t>
            </a:r>
            <a:r>
              <a:rPr lang="en-US" sz="1400" dirty="0">
                <a:solidFill>
                  <a:srgbClr val="333333"/>
                </a:solidFill>
                <a:latin typeface="Calibri" pitchFamily="34" charset="0"/>
                <a:ea typeface="Calibri" pitchFamily="34" charset="-122"/>
                <a:cs typeface="Calibri" pitchFamily="34" charset="-120"/>
              </a:rPr>
              <a:t> Particulate deposits on a 47 mm Teflon (PTFE) filter over a 24-hour integration period.
</a:t>
            </a:r>
            <a:r>
              <a:rPr lang="en-US" sz="1400" b="1" dirty="0">
                <a:solidFill>
                  <a:srgbClr val="C2410C"/>
                </a:solidFill>
                <a:latin typeface="Calibri" pitchFamily="34" charset="0"/>
                <a:ea typeface="Calibri" pitchFamily="34" charset="-122"/>
                <a:cs typeface="Calibri" pitchFamily="34" charset="-120"/>
              </a:rPr>
              <a:t>3.</a:t>
            </a:r>
            <a:r>
              <a:rPr lang="en-US" sz="1400" dirty="0">
                <a:solidFill>
                  <a:srgbClr val="333333"/>
                </a:solidFill>
                <a:latin typeface="Calibri" pitchFamily="34" charset="0"/>
                <a:ea typeface="Calibri" pitchFamily="34" charset="-122"/>
                <a:cs typeface="Calibri" pitchFamily="34" charset="-120"/>
              </a:rPr>
              <a:t> Filter is equilibrated in the lab at </a:t>
            </a:r>
            <a:r>
              <a:rPr lang="en-US" sz="1400" b="1" dirty="0">
                <a:solidFill>
                  <a:srgbClr val="333333"/>
                </a:solidFill>
                <a:latin typeface="Calibri" pitchFamily="34" charset="0"/>
                <a:ea typeface="Calibri" pitchFamily="34" charset="-122"/>
                <a:cs typeface="Calibri" pitchFamily="34" charset="-120"/>
              </a:rPr>
              <a:t>20–23 °C and 30–40% RH for 24 hours</a:t>
            </a:r>
            <a:r>
              <a:rPr lang="en-US" sz="1400" dirty="0">
                <a:solidFill>
                  <a:srgbClr val="333333"/>
                </a:solidFill>
                <a:latin typeface="Calibri" pitchFamily="34" charset="0"/>
                <a:ea typeface="Calibri" pitchFamily="34" charset="-122"/>
                <a:cs typeface="Calibri" pitchFamily="34" charset="-120"/>
              </a:rPr>
              <a:t> before AND after sampling (controls for hygroscopic mass).
</a:t>
            </a:r>
            <a:r>
              <a:rPr lang="en-US" sz="1400" b="1" dirty="0">
                <a:solidFill>
                  <a:srgbClr val="C2410C"/>
                </a:solidFill>
                <a:latin typeface="Calibri" pitchFamily="34" charset="0"/>
                <a:ea typeface="Calibri" pitchFamily="34" charset="-122"/>
                <a:cs typeface="Calibri" pitchFamily="34" charset="-120"/>
              </a:rPr>
              <a:t>4.</a:t>
            </a:r>
            <a:r>
              <a:rPr lang="en-US" sz="1400" dirty="0">
                <a:solidFill>
                  <a:srgbClr val="333333"/>
                </a:solidFill>
                <a:latin typeface="Calibri" pitchFamily="34" charset="0"/>
                <a:ea typeface="Calibri" pitchFamily="34" charset="-122"/>
                <a:cs typeface="Calibri" pitchFamily="34" charset="-120"/>
              </a:rPr>
              <a:t> Mass difference measured on a microbalance sensitive to ≤ 1 µg. Concentration reported at local ambient conditions.
</a:t>
            </a:r>
            <a:r>
              <a:rPr lang="en-US" sz="1400" b="1" dirty="0">
                <a:solidFill>
                  <a:srgbClr val="333333"/>
                </a:solidFill>
                <a:latin typeface="Calibri" pitchFamily="34" charset="0"/>
                <a:ea typeface="Calibri" pitchFamily="34" charset="-122"/>
                <a:cs typeface="Calibri" pitchFamily="34" charset="-120"/>
              </a:rPr>
              <a:t>Reference-designated FRM samplers:</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BGI PQ200 (Mesa Labs) — most common single-filter FRM</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Thermo Partisol 2025i sequential (multi-filter)</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R&amp;P Partisol 2025 (legacy)</a:t>
            </a:r>
            <a:endParaRPr lang="en-US" sz="1400" dirty="0"/>
          </a:p>
        </p:txBody>
      </p:sp>
      <p:sp>
        <p:nvSpPr>
          <p:cNvPr id="7" name="Shape 5"/>
          <p:cNvSpPr/>
          <p:nvPr/>
        </p:nvSpPr>
        <p:spPr>
          <a:xfrm>
            <a:off x="6537960" y="1417320"/>
            <a:ext cx="5120640" cy="2377440"/>
          </a:xfrm>
          <a:prstGeom prst="roundRect">
            <a:avLst>
              <a:gd name="adj" fmla="val 3077"/>
            </a:avLst>
          </a:prstGeom>
          <a:solidFill>
            <a:srgbClr val="FFFFFF"/>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20840" y="1554480"/>
            <a:ext cx="4754880" cy="320040"/>
          </a:xfrm>
          <a:prstGeom prst="rect">
            <a:avLst/>
          </a:prstGeom>
          <a:noFill/>
          <a:ln/>
        </p:spPr>
        <p:txBody>
          <a:bodyPr wrap="square" lIns="0" tIns="0" rIns="0" bIns="0" rtlCol="0" anchor="ctr"/>
          <a:lstStyle/>
          <a:p>
            <a:pPr marL="0" indent="0">
              <a:buNone/>
            </a:pPr>
            <a:r>
              <a:rPr lang="en-US" b="1" dirty="0">
                <a:solidFill>
                  <a:srgbClr val="0F766E"/>
                </a:solidFill>
                <a:latin typeface="Cambria" pitchFamily="34" charset="0"/>
                <a:ea typeface="Cambria" pitchFamily="34" charset="-122"/>
                <a:cs typeface="Cambria" pitchFamily="34" charset="-120"/>
              </a:rPr>
              <a:t>Strengths</a:t>
            </a:r>
            <a:endParaRPr lang="en-US" dirty="0"/>
          </a:p>
        </p:txBody>
      </p:sp>
      <p:sp>
        <p:nvSpPr>
          <p:cNvPr id="9" name="Text 7"/>
          <p:cNvSpPr/>
          <p:nvPr/>
        </p:nvSpPr>
        <p:spPr>
          <a:xfrm>
            <a:off x="6720840" y="1874520"/>
            <a:ext cx="4754880" cy="18288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Direct mass measurement — no proxy</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The regulatory gold standard — every design value calc uses it</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Composition can be analyzed post-hoc (metals, ions, EC/OC)</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Immune to hygroscopic humidity bias (controlled equilibration)</a:t>
            </a:r>
            <a:endParaRPr lang="en-US" sz="1400" dirty="0"/>
          </a:p>
        </p:txBody>
      </p:sp>
      <p:sp>
        <p:nvSpPr>
          <p:cNvPr id="10" name="Shape 8"/>
          <p:cNvSpPr/>
          <p:nvPr/>
        </p:nvSpPr>
        <p:spPr>
          <a:xfrm>
            <a:off x="6537960" y="3977640"/>
            <a:ext cx="5120640" cy="2377440"/>
          </a:xfrm>
          <a:prstGeom prst="roundRect">
            <a:avLst>
              <a:gd name="adj" fmla="val 3077"/>
            </a:avLst>
          </a:prstGeom>
          <a:solidFill>
            <a:srgbClr val="FFFFFF"/>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11" name="Text 9"/>
          <p:cNvSpPr/>
          <p:nvPr/>
        </p:nvSpPr>
        <p:spPr>
          <a:xfrm>
            <a:off x="6720840" y="4114800"/>
            <a:ext cx="4754880" cy="320040"/>
          </a:xfrm>
          <a:prstGeom prst="rect">
            <a:avLst/>
          </a:prstGeom>
          <a:noFill/>
          <a:ln/>
        </p:spPr>
        <p:txBody>
          <a:bodyPr wrap="square" lIns="0" tIns="0" rIns="0" bIns="0" rtlCol="0" anchor="ctr"/>
          <a:lstStyle/>
          <a:p>
            <a:pPr marL="0" indent="0">
              <a:buNone/>
            </a:pPr>
            <a:r>
              <a:rPr lang="en-US" b="1" dirty="0">
                <a:solidFill>
                  <a:srgbClr val="9F1239"/>
                </a:solidFill>
                <a:latin typeface="Cambria" pitchFamily="34" charset="0"/>
                <a:ea typeface="Cambria" pitchFamily="34" charset="-122"/>
                <a:cs typeface="Cambria" pitchFamily="34" charset="-120"/>
              </a:rPr>
              <a:t>Limitations</a:t>
            </a:r>
            <a:endParaRPr lang="en-US" dirty="0"/>
          </a:p>
        </p:txBody>
      </p:sp>
      <p:sp>
        <p:nvSpPr>
          <p:cNvPr id="12" name="Text 10"/>
          <p:cNvSpPr/>
          <p:nvPr/>
        </p:nvSpPr>
        <p:spPr>
          <a:xfrm>
            <a:off x="6720840" y="4434840"/>
            <a:ext cx="4754880" cy="18288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One 24-hr integrated value per site per sample day (no diurnal)</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Manual — filter handling, weighing, transport = costly + slow</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Typical sampling cadence: 1-in-3 or 1-in-6 days per EPA schedule</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Semi-volatile organic losses can bias low even with FRM</a:t>
            </a:r>
            <a:endParaRPr lang="en-US" sz="1400" dirty="0"/>
          </a:p>
        </p:txBody>
      </p:sp>
      <p:sp>
        <p:nvSpPr>
          <p:cNvPr id="13" name="Text 11"/>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4" name="Text 12"/>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21 / 60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FEM — Beta Attenuation Monitor (BAM 1020)</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How a BAM works</a:t>
            </a:r>
            <a:endParaRPr lang="en-US" sz="2000"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300"/>
              </a:spcAft>
              <a:buNone/>
            </a:pPr>
            <a:r>
              <a:rPr lang="en-US" sz="1600" b="1" dirty="0">
                <a:solidFill>
                  <a:srgbClr val="C2410C"/>
                </a:solidFill>
                <a:latin typeface="Calibri" pitchFamily="34" charset="0"/>
                <a:ea typeface="Calibri" pitchFamily="34" charset="-122"/>
                <a:cs typeface="Calibri" pitchFamily="34" charset="-120"/>
              </a:rPr>
              <a:t>1. </a:t>
            </a:r>
            <a:r>
              <a:rPr lang="en-US" sz="1600" dirty="0">
                <a:solidFill>
                  <a:srgbClr val="333333"/>
                </a:solidFill>
                <a:latin typeface="Calibri" pitchFamily="34" charset="0"/>
                <a:ea typeface="Calibri" pitchFamily="34" charset="-122"/>
                <a:cs typeface="Calibri" pitchFamily="34" charset="-120"/>
              </a:rPr>
              <a:t>Ambient air pulled through a size-selective inlet (Sharp Cut Cyclone or PM2.5 impactor) at 16.67 L/min for one hour.
</a:t>
            </a:r>
            <a:r>
              <a:rPr lang="en-US" sz="1600" b="1" dirty="0">
                <a:solidFill>
                  <a:srgbClr val="C2410C"/>
                </a:solidFill>
                <a:latin typeface="Calibri" pitchFamily="34" charset="0"/>
                <a:ea typeface="Calibri" pitchFamily="34" charset="-122"/>
                <a:cs typeface="Calibri" pitchFamily="34" charset="-120"/>
              </a:rPr>
              <a:t>2. </a:t>
            </a:r>
            <a:r>
              <a:rPr lang="en-US" sz="1600" dirty="0">
                <a:solidFill>
                  <a:srgbClr val="333333"/>
                </a:solidFill>
                <a:latin typeface="Calibri" pitchFamily="34" charset="0"/>
                <a:ea typeface="Calibri" pitchFamily="34" charset="-122"/>
                <a:cs typeface="Calibri" pitchFamily="34" charset="-120"/>
              </a:rPr>
              <a:t>Particulate deposits on a glass-fiber filter tape.
</a:t>
            </a:r>
            <a:r>
              <a:rPr lang="en-US" sz="1600" b="1" dirty="0">
                <a:solidFill>
                  <a:srgbClr val="C2410C"/>
                </a:solidFill>
                <a:latin typeface="Calibri" pitchFamily="34" charset="0"/>
                <a:ea typeface="Calibri" pitchFamily="34" charset="-122"/>
                <a:cs typeface="Calibri" pitchFamily="34" charset="-120"/>
              </a:rPr>
              <a:t>3. </a:t>
            </a:r>
            <a:r>
              <a:rPr lang="en-US" sz="1600" dirty="0">
                <a:solidFill>
                  <a:srgbClr val="333333"/>
                </a:solidFill>
                <a:latin typeface="Calibri" pitchFamily="34" charset="0"/>
                <a:ea typeface="Calibri" pitchFamily="34" charset="-122"/>
                <a:cs typeface="Calibri" pitchFamily="34" charset="-120"/>
              </a:rPr>
              <a:t>A </a:t>
            </a:r>
            <a:r>
              <a:rPr lang="en-US" sz="1600" b="1" dirty="0">
                <a:solidFill>
                  <a:srgbClr val="333333"/>
                </a:solidFill>
                <a:latin typeface="Calibri" pitchFamily="34" charset="0"/>
                <a:ea typeface="Calibri" pitchFamily="34" charset="-122"/>
                <a:cs typeface="Calibri" pitchFamily="34" charset="-120"/>
              </a:rPr>
              <a:t>carbon-14 (¹⁴C) beta-particle source</a:t>
            </a:r>
            <a:r>
              <a:rPr lang="en-US" sz="1600" dirty="0">
                <a:solidFill>
                  <a:srgbClr val="333333"/>
                </a:solidFill>
                <a:latin typeface="Calibri" pitchFamily="34" charset="0"/>
                <a:ea typeface="Calibri" pitchFamily="34" charset="-122"/>
                <a:cs typeface="Calibri" pitchFamily="34" charset="-120"/>
              </a:rPr>
              <a:t> on one side of the tape and a Geiger-Müller detector on the other measure beta attenuation across the loaded spot.
</a:t>
            </a:r>
            <a:r>
              <a:rPr lang="en-US" sz="1600" b="1" dirty="0">
                <a:solidFill>
                  <a:srgbClr val="C2410C"/>
                </a:solidFill>
                <a:latin typeface="Calibri" pitchFamily="34" charset="0"/>
                <a:ea typeface="Calibri" pitchFamily="34" charset="-122"/>
                <a:cs typeface="Calibri" pitchFamily="34" charset="-120"/>
              </a:rPr>
              <a:t>4. </a:t>
            </a:r>
            <a:r>
              <a:rPr lang="en-US" sz="1600" dirty="0">
                <a:solidFill>
                  <a:srgbClr val="333333"/>
                </a:solidFill>
                <a:latin typeface="Calibri" pitchFamily="34" charset="0"/>
                <a:ea typeface="Calibri" pitchFamily="34" charset="-122"/>
                <a:cs typeface="Calibri" pitchFamily="34" charset="-120"/>
              </a:rPr>
              <a:t>Mass concentration derived from Beer-Lambert attenuation: more particulate = more beta absorption. Reported hourly.
</a:t>
            </a:r>
            <a:r>
              <a:rPr lang="en-US" sz="1600" b="1" dirty="0">
                <a:solidFill>
                  <a:srgbClr val="C2410C"/>
                </a:solidFill>
                <a:latin typeface="Calibri" pitchFamily="34" charset="0"/>
                <a:ea typeface="Calibri" pitchFamily="34" charset="-122"/>
                <a:cs typeface="Calibri" pitchFamily="34" charset="-120"/>
              </a:rPr>
              <a:t>TCEQ's continuous PM2.5 workhorse</a:t>
            </a:r>
            <a:endParaRPr lang="en-US" sz="1600" dirty="0"/>
          </a:p>
          <a:p>
            <a:pPr marL="0" indent="0">
              <a:spcAft>
                <a:spcPts val="300"/>
              </a:spcAft>
              <a:buNone/>
            </a:pPr>
            <a:r>
              <a:rPr lang="en-US" sz="1600" dirty="0">
                <a:solidFill>
                  <a:srgbClr val="333333"/>
                </a:solidFill>
                <a:latin typeface="Calibri" pitchFamily="34" charset="0"/>
                <a:ea typeface="Calibri" pitchFamily="34" charset="-122"/>
                <a:cs typeface="Calibri" pitchFamily="34" charset="-120"/>
              </a:rPr>
              <a:t>Met One BAM 1020 became the standard TCEQ CAMS PM2.5 instrument in the early 2010s. Newer BAM 1022 (method code 736) has better precision at low concentrations — relevant given the 9 µg/m³ NAAQS.</a:t>
            </a:r>
            <a:endParaRPr lang="en-US" sz="1600" dirty="0"/>
          </a:p>
        </p:txBody>
      </p:sp>
      <p:sp>
        <p:nvSpPr>
          <p:cNvPr id="7" name="Shape 5"/>
          <p:cNvSpPr/>
          <p:nvPr/>
        </p:nvSpPr>
        <p:spPr>
          <a:xfrm>
            <a:off x="653796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65760"/>
          </a:xfrm>
          <a:prstGeom prst="rect">
            <a:avLst/>
          </a:prstGeom>
          <a:noFill/>
          <a:ln/>
        </p:spPr>
        <p:txBody>
          <a:bodyPr wrap="square" lIns="0" tIns="0" rIns="0" bIns="0" rtlCol="0" anchor="ctr"/>
          <a:lstStyle/>
          <a:p>
            <a:pPr marL="0" indent="0">
              <a:buNone/>
            </a:pPr>
            <a:r>
              <a:rPr lang="en-US" sz="1300" b="1" dirty="0">
                <a:solidFill>
                  <a:srgbClr val="213C4E"/>
                </a:solidFill>
                <a:latin typeface="Cambria" pitchFamily="34" charset="0"/>
                <a:ea typeface="Cambria" pitchFamily="34" charset="-122"/>
                <a:cs typeface="Cambria" pitchFamily="34" charset="-120"/>
              </a:rPr>
              <a:t>EPA FEM designations relevant to Coastal Bend</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16727106"/>
              </p:ext>
            </p:extLst>
          </p:nvPr>
        </p:nvGraphicFramePr>
        <p:xfrm>
          <a:off x="6766560" y="1965960"/>
          <a:ext cx="4709160" cy="2209800"/>
        </p:xfrm>
        <a:graphic>
          <a:graphicData uri="http://schemas.openxmlformats.org/drawingml/2006/table">
            <a:tbl>
              <a:tblPr/>
              <a:tblGrid>
                <a:gridCol w="20116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5052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Designation</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Method code</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35052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BAM 1020 (Met One)</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EQPM-0308-170</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170</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052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BAM 1020 (later)</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EQPM-0715-266</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266</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35052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BAM 1020 (early)</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EQPM-0798-122</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122</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052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BAM 1020 (v3)</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EQPM-0308-170</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145 / 209</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350520">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BAM 1022 (trace)</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EQPM-1013-227</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latin typeface="Calibri" pitchFamily="34" charset="0"/>
                          <a:ea typeface="Calibri" pitchFamily="34" charset="-122"/>
                          <a:cs typeface="Calibri" pitchFamily="34" charset="-120"/>
                        </a:rPr>
                        <a:t>227 / 736</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p:nvPr/>
        </p:nvSpPr>
        <p:spPr>
          <a:xfrm>
            <a:off x="6766560" y="4267200"/>
            <a:ext cx="4709160" cy="944880"/>
          </a:xfrm>
          <a:prstGeom prst="rect">
            <a:avLst/>
          </a:prstGeom>
          <a:noFill/>
          <a:ln/>
        </p:spPr>
        <p:txBody>
          <a:bodyPr wrap="square" lIns="0" tIns="0" rIns="0" bIns="0" rtlCol="0" anchor="t"/>
          <a:lstStyle/>
          <a:p>
            <a:pPr marL="0" indent="0">
              <a:buNone/>
            </a:pPr>
            <a:r>
              <a:rPr lang="en-US" sz="1000" b="1" i="1" dirty="0">
                <a:solidFill>
                  <a:srgbClr val="C2410C"/>
                </a:solidFill>
                <a:latin typeface="Calibri" pitchFamily="34" charset="0"/>
                <a:ea typeface="Calibri" pitchFamily="34" charset="-122"/>
                <a:cs typeface="Calibri" pitchFamily="34" charset="-120"/>
              </a:rPr>
              <a:t>Note: </a:t>
            </a:r>
            <a:r>
              <a:rPr lang="en-US" sz="1000" i="1" dirty="0">
                <a:solidFill>
                  <a:srgbClr val="333333"/>
                </a:solidFill>
                <a:latin typeface="Calibri" pitchFamily="34" charset="0"/>
                <a:ea typeface="Calibri" pitchFamily="34" charset="-122"/>
                <a:cs typeface="Calibri" pitchFamily="34" charset="-120"/>
              </a:rPr>
              <a:t>the LAST 3 DIGITS of the designation typically become the method code in AQS. The same physical instrument can carry multiple designations if EPA re-tested it against a new NAAQS review.</a:t>
            </a:r>
            <a:endParaRPr lang="en-US" sz="1000" dirty="0"/>
          </a:p>
        </p:txBody>
      </p:sp>
      <p:sp>
        <p:nvSpPr>
          <p:cNvPr id="11" name="Shape 8"/>
          <p:cNvSpPr/>
          <p:nvPr/>
        </p:nvSpPr>
        <p:spPr>
          <a:xfrm>
            <a:off x="6766560" y="5257800"/>
            <a:ext cx="4709160" cy="960120"/>
          </a:xfrm>
          <a:prstGeom prst="roundRect">
            <a:avLst>
              <a:gd name="adj" fmla="val 5714"/>
            </a:avLst>
          </a:prstGeom>
          <a:solidFill>
            <a:srgbClr val="FDEBD3"/>
          </a:solidFill>
          <a:ln w="12700">
            <a:solidFill>
              <a:srgbClr val="C2410C"/>
            </a:solidFill>
            <a:prstDash val="solid"/>
          </a:ln>
        </p:spPr>
        <p:txBody>
          <a:bodyPr/>
          <a:lstStyle/>
          <a:p>
            <a:endParaRPr lang="en-US"/>
          </a:p>
        </p:txBody>
      </p:sp>
      <p:sp>
        <p:nvSpPr>
          <p:cNvPr id="12" name="Text 9"/>
          <p:cNvSpPr/>
          <p:nvPr/>
        </p:nvSpPr>
        <p:spPr>
          <a:xfrm>
            <a:off x="6903720" y="5349240"/>
            <a:ext cx="4480560" cy="822960"/>
          </a:xfrm>
          <a:prstGeom prst="rect">
            <a:avLst/>
          </a:prstGeom>
          <a:noFill/>
          <a:ln/>
        </p:spPr>
        <p:txBody>
          <a:bodyPr wrap="square" lIns="0" tIns="0" rIns="0" bIns="0" rtlCol="0" anchor="t"/>
          <a:lstStyle/>
          <a:p>
            <a:pPr marL="0" indent="0">
              <a:buNone/>
            </a:pPr>
            <a:r>
              <a:rPr lang="en-US" sz="1400" b="1" dirty="0">
                <a:solidFill>
                  <a:srgbClr val="C2410C"/>
                </a:solidFill>
                <a:latin typeface="Calibri" pitchFamily="34" charset="0"/>
                <a:ea typeface="Calibri" pitchFamily="34" charset="-122"/>
                <a:cs typeface="Calibri" pitchFamily="34" charset="-120"/>
              </a:rPr>
              <a:t>BAM in high-humidity coastal air</a:t>
            </a:r>
            <a:endParaRPr lang="en-US" sz="1400" dirty="0"/>
          </a:p>
          <a:p>
            <a:pPr marL="0" indent="0">
              <a:buNone/>
            </a:pPr>
            <a:r>
              <a:rPr lang="en-US" sz="1200" dirty="0">
                <a:solidFill>
                  <a:srgbClr val="333333"/>
                </a:solidFill>
                <a:latin typeface="Calibri" pitchFamily="34" charset="0"/>
                <a:ea typeface="Calibri" pitchFamily="34" charset="-122"/>
                <a:cs typeface="Calibri" pitchFamily="34" charset="-120"/>
              </a:rPr>
              <a:t>Sea-salt aerosol growth at RH &gt; 70% can inflate hourly BAM readings by ~10-15% relative to co-located FRM. Correction typically applied at TCEQ level.</a:t>
            </a:r>
            <a:endParaRPr lang="en-US" sz="1400" dirty="0"/>
          </a:p>
        </p:txBody>
      </p:sp>
      <p:sp>
        <p:nvSpPr>
          <p:cNvPr id="13" name="Text 1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4" name="Text 1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22 / 60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FEM alternatives — TEOM-FDMS and optical</a:t>
            </a:r>
            <a:endParaRPr lang="en-US" sz="3000" dirty="0"/>
          </a:p>
        </p:txBody>
      </p:sp>
      <p:sp>
        <p:nvSpPr>
          <p:cNvPr id="4" name="Shape 2"/>
          <p:cNvSpPr/>
          <p:nvPr/>
        </p:nvSpPr>
        <p:spPr>
          <a:xfrm>
            <a:off x="548640" y="1417320"/>
            <a:ext cx="566928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39496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TEOM 1405-F with FDMS</a:t>
            </a:r>
            <a:endParaRPr lang="en-US" dirty="0"/>
          </a:p>
        </p:txBody>
      </p:sp>
      <p:sp>
        <p:nvSpPr>
          <p:cNvPr id="6" name="Text 4"/>
          <p:cNvSpPr/>
          <p:nvPr/>
        </p:nvSpPr>
        <p:spPr>
          <a:xfrm>
            <a:off x="777240" y="1965960"/>
            <a:ext cx="5394960" cy="4206240"/>
          </a:xfrm>
          <a:prstGeom prst="rect">
            <a:avLst/>
          </a:prstGeom>
          <a:noFill/>
          <a:ln/>
        </p:spPr>
        <p:txBody>
          <a:bodyPr wrap="square" lIns="0" tIns="0" rIns="0" bIns="0" rtlCol="0" anchor="t"/>
          <a:lstStyle/>
          <a:p>
            <a:pPr marL="0" indent="0">
              <a:spcAft>
                <a:spcPts val="300"/>
              </a:spcAft>
              <a:buNone/>
            </a:pPr>
            <a:r>
              <a:rPr lang="en-US" sz="1400" i="1" dirty="0">
                <a:solidFill>
                  <a:srgbClr val="6B7A85"/>
                </a:solidFill>
                <a:latin typeface="Calibri" pitchFamily="34" charset="0"/>
                <a:ea typeface="Calibri" pitchFamily="34" charset="-122"/>
                <a:cs typeface="Calibri" pitchFamily="34" charset="-120"/>
              </a:rPr>
              <a:t>Tapered Element Oscillating Microbalance</a:t>
            </a:r>
            <a:endParaRPr lang="en-US" sz="1400" dirty="0"/>
          </a:p>
          <a:p>
            <a:pPr marL="0" indent="0">
              <a:spcAft>
                <a:spcPts val="300"/>
              </a:spcAft>
              <a:buNone/>
            </a:pPr>
            <a:endParaRPr lang="en-US" sz="1400" dirty="0"/>
          </a:p>
          <a:p>
            <a:pPr marL="0" indent="0">
              <a:spcAft>
                <a:spcPts val="300"/>
              </a:spcAft>
              <a:buNone/>
            </a:pPr>
            <a:r>
              <a:rPr lang="en-US" sz="1400" b="1" dirty="0">
                <a:solidFill>
                  <a:srgbClr val="333333"/>
                </a:solidFill>
                <a:latin typeface="Calibri" pitchFamily="34" charset="0"/>
                <a:ea typeface="Calibri" pitchFamily="34" charset="-122"/>
                <a:cs typeface="Calibri" pitchFamily="34" charset="-120"/>
              </a:rPr>
              <a:t>Principle: </a:t>
            </a:r>
            <a:endParaRPr lang="en-US" sz="1400" dirty="0"/>
          </a:p>
          <a:p>
            <a:pPr marL="0" indent="0">
              <a:spcAft>
                <a:spcPts val="300"/>
              </a:spcAft>
              <a:buNone/>
            </a:pPr>
            <a:r>
              <a:rPr lang="en-US" sz="1400" dirty="0">
                <a:solidFill>
                  <a:srgbClr val="333333"/>
                </a:solidFill>
                <a:latin typeface="Calibri" pitchFamily="34" charset="0"/>
                <a:ea typeface="Calibri" pitchFamily="34" charset="-122"/>
                <a:cs typeface="Calibri" pitchFamily="34" charset="-120"/>
              </a:rPr>
              <a:t>Particulate deposits on a filter mounted on the tip of an oscillating tapered element. As mass loads, resonant frequency shifts — mass computed from Δf.
</a:t>
            </a:r>
            <a:r>
              <a:rPr lang="en-US" sz="1400" b="1" dirty="0">
                <a:solidFill>
                  <a:srgbClr val="C2410C"/>
                </a:solidFill>
                <a:latin typeface="Calibri" pitchFamily="34" charset="0"/>
                <a:ea typeface="Calibri" pitchFamily="34" charset="-122"/>
                <a:cs typeface="Calibri" pitchFamily="34" charset="-120"/>
              </a:rPr>
              <a:t>Why the FDMS retrofit? </a:t>
            </a:r>
            <a:r>
              <a:rPr lang="en-US" sz="1400" dirty="0">
                <a:solidFill>
                  <a:srgbClr val="333333"/>
                </a:solidFill>
                <a:latin typeface="Calibri" pitchFamily="34" charset="0"/>
                <a:ea typeface="Calibri" pitchFamily="34" charset="-122"/>
                <a:cs typeface="Calibri" pitchFamily="34" charset="-120"/>
              </a:rPr>
              <a:t>The original 1400ab TEOM heated its inlet to reduce water bias — but this also volatilized ammonium nitrate and semi-volatile organics, producing systematic </a:t>
            </a:r>
            <a:r>
              <a:rPr lang="en-US" sz="1400" b="1" dirty="0">
                <a:solidFill>
                  <a:srgbClr val="333333"/>
                </a:solidFill>
                <a:latin typeface="Calibri" pitchFamily="34" charset="0"/>
                <a:ea typeface="Calibri" pitchFamily="34" charset="-122"/>
                <a:cs typeface="Calibri" pitchFamily="34" charset="-120"/>
              </a:rPr>
              <a:t>10–30% negative bias</a:t>
            </a:r>
            <a:r>
              <a:rPr lang="en-US" sz="1400" dirty="0">
                <a:solidFill>
                  <a:srgbClr val="333333"/>
                </a:solidFill>
                <a:latin typeface="Calibri" pitchFamily="34" charset="0"/>
                <a:ea typeface="Calibri" pitchFamily="34" charset="-122"/>
                <a:cs typeface="Calibri" pitchFamily="34" charset="-120"/>
              </a:rPr>
              <a:t> in warm climates. EPA withdrew 1400ab FEM designation ~2018.
The FDMS </a:t>
            </a:r>
            <a:r>
              <a:rPr lang="en-US" sz="1400" i="1" dirty="0">
                <a:solidFill>
                  <a:srgbClr val="333333"/>
                </a:solidFill>
                <a:latin typeface="Calibri" pitchFamily="34" charset="0"/>
                <a:ea typeface="Calibri" pitchFamily="34" charset="-122"/>
                <a:cs typeface="Calibri" pitchFamily="34" charset="-120"/>
              </a:rPr>
              <a:t>(Filter Dynamics Measurement System)</a:t>
            </a:r>
            <a:r>
              <a:rPr lang="en-US" sz="1400" dirty="0">
                <a:solidFill>
                  <a:srgbClr val="333333"/>
                </a:solidFill>
                <a:latin typeface="Calibri" pitchFamily="34" charset="0"/>
                <a:ea typeface="Calibri" pitchFamily="34" charset="-122"/>
                <a:cs typeface="Calibri" pitchFamily="34" charset="-120"/>
              </a:rPr>
              <a:t> uses an alternating dry / diffusion-dryer denuder configuration to capture semi-volatile losses. FEM designation </a:t>
            </a:r>
            <a:r>
              <a:rPr lang="en-US" sz="1400" b="1" dirty="0">
                <a:solidFill>
                  <a:srgbClr val="C2410C"/>
                </a:solidFill>
                <a:latin typeface="Calibri" pitchFamily="34" charset="0"/>
                <a:ea typeface="Calibri" pitchFamily="34" charset="-122"/>
                <a:cs typeface="Calibri" pitchFamily="34" charset="-120"/>
              </a:rPr>
              <a:t>EQPM-0609-181</a:t>
            </a:r>
            <a:r>
              <a:rPr lang="en-US" sz="1400" dirty="0">
                <a:solidFill>
                  <a:srgbClr val="333333"/>
                </a:solidFill>
                <a:latin typeface="Calibri" pitchFamily="34" charset="0"/>
                <a:ea typeface="Calibri" pitchFamily="34" charset="-122"/>
                <a:cs typeface="Calibri" pitchFamily="34" charset="-120"/>
              </a:rPr>
              <a:t> → method code 181.
</a:t>
            </a:r>
            <a:r>
              <a:rPr lang="en-US" sz="1100" i="1" dirty="0">
                <a:solidFill>
                  <a:srgbClr val="6B7A85"/>
                </a:solidFill>
                <a:latin typeface="Calibri" pitchFamily="34" charset="0"/>
                <a:ea typeface="Calibri" pitchFamily="34" charset="-122"/>
                <a:cs typeface="Calibri" pitchFamily="34" charset="-120"/>
              </a:rPr>
              <a:t>Tradeoff: ~3× the capital cost of a BAM 1020. Deployment is budget-limited at TCEQ.</a:t>
            </a:r>
            <a:endParaRPr lang="en-US" sz="1400" dirty="0"/>
          </a:p>
        </p:txBody>
      </p:sp>
      <p:sp>
        <p:nvSpPr>
          <p:cNvPr id="7" name="Shape 5"/>
          <p:cNvSpPr/>
          <p:nvPr/>
        </p:nvSpPr>
        <p:spPr>
          <a:xfrm>
            <a:off x="6355080" y="1417320"/>
            <a:ext cx="53492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583680" y="1600200"/>
            <a:ext cx="507492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Optical + low-cost</a:t>
            </a:r>
            <a:endParaRPr lang="en-US" dirty="0"/>
          </a:p>
        </p:txBody>
      </p:sp>
      <p:sp>
        <p:nvSpPr>
          <p:cNvPr id="9" name="Text 7"/>
          <p:cNvSpPr/>
          <p:nvPr/>
        </p:nvSpPr>
        <p:spPr>
          <a:xfrm>
            <a:off x="6583680" y="1965960"/>
            <a:ext cx="5074920" cy="4206240"/>
          </a:xfrm>
          <a:prstGeom prst="rect">
            <a:avLst/>
          </a:prstGeom>
          <a:noFill/>
          <a:ln/>
        </p:spPr>
        <p:txBody>
          <a:bodyPr wrap="square" lIns="0" tIns="0" rIns="0" bIns="0" rtlCol="0" anchor="t"/>
          <a:lstStyle/>
          <a:p>
            <a:pPr marL="0" indent="0">
              <a:spcAft>
                <a:spcPts val="300"/>
              </a:spcAft>
              <a:buNone/>
            </a:pPr>
            <a:r>
              <a:rPr lang="en-US" sz="1400" b="1" dirty="0">
                <a:solidFill>
                  <a:srgbClr val="333333"/>
                </a:solidFill>
                <a:latin typeface="Calibri" pitchFamily="34" charset="0"/>
                <a:ea typeface="Calibri" pitchFamily="34" charset="-122"/>
                <a:cs typeface="Calibri" pitchFamily="34" charset="-120"/>
              </a:rPr>
              <a:t>Optical particle spectrometers (FEM)</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GRIMM EDM 180: laser scattering, size-resolved, </a:t>
            </a:r>
            <a:r>
              <a:rPr lang="en-US" sz="1400" b="1" dirty="0">
                <a:solidFill>
                  <a:srgbClr val="C2410C"/>
                </a:solidFill>
                <a:latin typeface="Calibri" pitchFamily="34" charset="0"/>
                <a:ea typeface="Calibri" pitchFamily="34" charset="-122"/>
                <a:cs typeface="Calibri" pitchFamily="34" charset="-120"/>
              </a:rPr>
              <a:t>EQPM-0311-195</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 → method code 195. Class II FEM.</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Thermo 5030 SHARP: combined nephelometer + BAM in one box for cross-validation.</a:t>
            </a:r>
            <a:endParaRPr lang="en-US" sz="1400" dirty="0"/>
          </a:p>
          <a:p>
            <a:pPr marL="0" indent="0">
              <a:spcAft>
                <a:spcPts val="300"/>
              </a:spcAft>
              <a:buNone/>
            </a:pPr>
            <a:r>
              <a:rPr lang="en-US" sz="1400" b="1" dirty="0">
                <a:solidFill>
                  <a:srgbClr val="9F1239"/>
                </a:solidFill>
                <a:latin typeface="Calibri" pitchFamily="34" charset="0"/>
                <a:ea typeface="Calibri" pitchFamily="34" charset="-122"/>
                <a:cs typeface="Calibri" pitchFamily="34" charset="-120"/>
              </a:rPr>
              <a:t>Low-cost sensors (NOT FEM)</a:t>
            </a:r>
            <a:endParaRPr lang="en-US" sz="1400" dirty="0"/>
          </a:p>
          <a:p>
            <a:pPr marL="509588"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PurpleAir, Clarity Node-S, AirNow-Tech: laser scattering at ~$200-$500 per node.</a:t>
            </a:r>
            <a:endParaRPr lang="en-US" sz="1400" dirty="0"/>
          </a:p>
          <a:p>
            <a:pPr marL="509588"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Documented </a:t>
            </a:r>
            <a:endParaRPr lang="en-US" sz="1400" dirty="0"/>
          </a:p>
          <a:p>
            <a:pPr marL="509588" indent="-342900">
              <a:spcAft>
                <a:spcPts val="300"/>
              </a:spcAft>
              <a:buSzPct val="100000"/>
              <a:buChar char="•"/>
            </a:pPr>
            <a:r>
              <a:rPr lang="en-US" sz="1400" b="1" dirty="0">
                <a:solidFill>
                  <a:srgbClr val="333333"/>
                </a:solidFill>
                <a:latin typeface="Calibri" pitchFamily="34" charset="0"/>
                <a:ea typeface="Calibri" pitchFamily="34" charset="-122"/>
                <a:cs typeface="Calibri" pitchFamily="34" charset="-120"/>
              </a:rPr>
              <a:t>positive bias at high RH</a:t>
            </a:r>
            <a:endParaRPr lang="en-US" sz="1400" dirty="0"/>
          </a:p>
          <a:p>
            <a:pPr marL="509588"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 — problematic in Corpus Christi's chronic 70-80% RH.</a:t>
            </a:r>
            <a:endParaRPr lang="en-US" sz="1400" dirty="0"/>
          </a:p>
          <a:p>
            <a:pPr marL="509588"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Not eligible for regulatory NAAQS design values.</a:t>
            </a:r>
            <a:endParaRPr lang="en-US" sz="1400" dirty="0"/>
          </a:p>
          <a:p>
            <a:pPr marL="509588"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Useful for high spatial density but require correction (EPA publishes a PurpleAir correction equation for NAAQS-adjacent reporting).</a:t>
            </a:r>
            <a:endParaRPr lang="en-US" sz="1400" dirty="0"/>
          </a:p>
        </p:txBody>
      </p:sp>
      <p:sp>
        <p:nvSpPr>
          <p:cNvPr id="10"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1"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23 / 60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88101 vs 88502</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931548805"/>
              </p:ext>
            </p:extLst>
          </p:nvPr>
        </p:nvGraphicFramePr>
        <p:xfrm>
          <a:off x="548640" y="1417320"/>
          <a:ext cx="11064240" cy="4206240"/>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841248">
                <a:tc>
                  <a:txBody>
                    <a:bodyPr/>
                    <a:lstStyle/>
                    <a:p>
                      <a:pPr marL="0" indent="0" algn="l">
                        <a:buNone/>
                      </a:pP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88101 – Local Conditions</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88502 – Acceptable AQI/Speciation</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841248">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What it stores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FRM filter data + Class I FEM data + validated regulatory continuous FEM (BAM/TEOM under regulatory validation)</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Non-regulatory continuous data (BAM, TEOM, optical) intended for near-real-time AQI reporting</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NAAQS design value?</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YES — the ONLY source for annual mean + 24-hr 98th-percentile design values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NO — used for AQI + episode monitoring, not compliance calculations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841248">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Time resolution</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24-hr integrated (FRM) or 1-hr (validated continuous)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Typically 1-hr</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41248">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Coastal Bend example</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CC West, Kingsville filter-based FRM (dur=7); validated BAM data at CC Holly</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400" dirty="0">
                          <a:solidFill>
                            <a:srgbClr val="333333"/>
                          </a:solidFill>
                          <a:latin typeface="Calibri" pitchFamily="34" charset="0"/>
                          <a:ea typeface="Calibri" pitchFamily="34" charset="-122"/>
                          <a:cs typeface="Calibri" pitchFamily="34" charset="-120"/>
                        </a:rPr>
                        <a:t>Non-validated BAM/TEOM hourly at some CAMS sites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5806440"/>
            <a:ext cx="11064240" cy="548640"/>
          </a:xfrm>
          <a:prstGeom prst="roundRect">
            <a:avLst>
              <a:gd name="adj" fmla="val 13333"/>
            </a:avLst>
          </a:prstGeom>
          <a:solidFill>
            <a:srgbClr val="FDEBD3"/>
          </a:solidFill>
          <a:ln w="19050">
            <a:solidFill>
              <a:srgbClr val="C2410C"/>
            </a:solidFill>
            <a:prstDash val="solid"/>
          </a:ln>
        </p:spPr>
        <p:txBody>
          <a:bodyPr/>
          <a:lstStyle/>
          <a:p>
            <a:endParaRPr lang="en-US"/>
          </a:p>
        </p:txBody>
      </p:sp>
      <p:sp>
        <p:nvSpPr>
          <p:cNvPr id="6" name="Text 3"/>
          <p:cNvSpPr/>
          <p:nvPr/>
        </p:nvSpPr>
        <p:spPr>
          <a:xfrm>
            <a:off x="731520" y="5870448"/>
            <a:ext cx="10698480" cy="457200"/>
          </a:xfrm>
          <a:prstGeom prst="rect">
            <a:avLst/>
          </a:prstGeom>
          <a:noFill/>
          <a:ln/>
        </p:spPr>
        <p:txBody>
          <a:bodyPr wrap="square" lIns="0" tIns="0" rIns="0" bIns="0" rtlCol="0" anchor="ctr"/>
          <a:lstStyle/>
          <a:p>
            <a:pPr marL="0" indent="0">
              <a:buNone/>
            </a:pPr>
            <a:r>
              <a:rPr lang="en-US" sz="1150" b="1" dirty="0">
                <a:solidFill>
                  <a:srgbClr val="C2410C"/>
                </a:solidFill>
                <a:latin typeface="Calibri" pitchFamily="34" charset="0"/>
                <a:ea typeface="Calibri" pitchFamily="34" charset="-122"/>
                <a:cs typeface="Calibri" pitchFamily="34" charset="-120"/>
              </a:rPr>
              <a:t>QUERY RULE: </a:t>
            </a:r>
            <a:r>
              <a:rPr lang="en-US" sz="1150" dirty="0">
                <a:solidFill>
                  <a:srgbClr val="333333"/>
                </a:solidFill>
                <a:latin typeface="Calibri" pitchFamily="34" charset="0"/>
                <a:ea typeface="Calibri" pitchFamily="34" charset="-122"/>
                <a:cs typeface="Calibri" pitchFamily="34" charset="-120"/>
              </a:rPr>
              <a:t>For any NAAQS-comparable analysis, filter WHERE parameter_code = 88101. For general trend/episode/weather-correlation work, use both — but always retain parameter_code as a covariate so you can subset.</a:t>
            </a:r>
            <a:endParaRPr lang="en-US" sz="1150" dirty="0"/>
          </a:p>
        </p:txBody>
      </p:sp>
      <p:sp>
        <p:nvSpPr>
          <p:cNvPr id="7" name="Text 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8" name="Text 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24 / 60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PM2.5 method codes in Coastal Bend data</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4062500105"/>
              </p:ext>
            </p:extLst>
          </p:nvPr>
        </p:nvGraphicFramePr>
        <p:xfrm>
          <a:off x="548640" y="1417320"/>
          <a:ext cx="11064240" cy="4480564"/>
        </p:xfrm>
        <a:graphic>
          <a:graphicData uri="http://schemas.openxmlformats.org/drawingml/2006/table">
            <a:tbl>
              <a:tblPr/>
              <a:tblGrid>
                <a:gridCol w="9144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407324">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Instrument</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Notes for our data</a:t>
                      </a:r>
                      <a:endParaRPr lang="en-US" sz="14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141</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Hi-vol gravimetric filter (Appendix J)</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FRM (PM10)</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Not PM2.5 but flagged: appears at site 480290060 (Palo Alto) which is 24hr-only</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142</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Partisol / BGI PQ200 filter (Appendix L)</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FRM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The gold-standard PM2.5 FRM — validated 24-hr filter</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Met One BAM 1020 continuous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III FEM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Common TCEQ CAMS PM2.5 continuous; ~2010-mid-2010s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170</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TEOM 1400 (legacy, retired ~2018)</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III FEM (retired)</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Watch for step-change if a site transitions off 170</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181</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TEOM 1405-F with FDMS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III FEM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Semi-vol corrected; ~3× cost of BAM; selective deployment</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GRIMM EDM 180 optical</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 FEM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Less common in TCEQ Coastal Bend deployments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209</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Met One BAM 1020 (later designation)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III FEM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Newer CAMS deployments (Met One EQPM-0308-170)</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227</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Met One BAM 1022 (trace-level)</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III FEM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Improved precision at low concentrations — post-2015</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266</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Met One BAM 1020 (v3 designation)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III FEM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Later revision</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7324">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736</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Met One BAM 1022</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Class III FEM</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Standardized TCEQ code for BAM 1022</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0"/>
                  </a:ext>
                </a:extLst>
              </a:tr>
            </a:tbl>
          </a:graphicData>
        </a:graphic>
      </p:graphicFrame>
      <p:sp>
        <p:nvSpPr>
          <p:cNvPr id="5" name="Shape 2"/>
          <p:cNvSpPr/>
          <p:nvPr/>
        </p:nvSpPr>
        <p:spPr>
          <a:xfrm>
            <a:off x="548640" y="6035040"/>
            <a:ext cx="11064240" cy="320040"/>
          </a:xfrm>
          <a:prstGeom prst="roundRect">
            <a:avLst>
              <a:gd name="adj" fmla="val 2285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731520" y="6053328"/>
            <a:ext cx="10698480" cy="274320"/>
          </a:xfrm>
          <a:prstGeom prst="rect">
            <a:avLst/>
          </a:prstGeom>
          <a:noFill/>
          <a:ln/>
        </p:spPr>
        <p:txBody>
          <a:bodyPr wrap="square" lIns="0" tIns="0" rIns="0" bIns="0" rtlCol="0" anchor="ctr"/>
          <a:lstStyle/>
          <a:p>
            <a:pPr marL="0" indent="0">
              <a:buNone/>
            </a:pPr>
            <a:r>
              <a:rPr lang="en-US" sz="900" b="1" dirty="0">
                <a:solidFill>
                  <a:srgbClr val="C2410C"/>
                </a:solidFill>
                <a:latin typeface="Calibri" pitchFamily="34" charset="0"/>
                <a:ea typeface="Calibri" pitchFamily="34" charset="-122"/>
                <a:cs typeface="Calibri" pitchFamily="34" charset="-120"/>
              </a:rPr>
              <a:t>Method-code diagnostic: </a:t>
            </a:r>
            <a:r>
              <a:rPr lang="en-US" sz="900" dirty="0">
                <a:solidFill>
                  <a:srgbClr val="333333"/>
                </a:solidFill>
                <a:latin typeface="Courier New" pitchFamily="34" charset="0"/>
                <a:ea typeface="Courier New" pitchFamily="34" charset="-122"/>
                <a:cs typeface="Courier New" pitchFamily="34" charset="-120"/>
              </a:rPr>
              <a:t>SELECT aqsid, MIN(date_local), MAX(date_local), method_code FROM aq.pollutant_hourly WHERE pollutant_group='PM2.5' GROUP BY aqsid, method_code ORDER BY aqsid; — any AQSID with more than one method_code has had a sensor change.</a:t>
            </a:r>
            <a:endParaRPr lang="en-US" sz="900" dirty="0"/>
          </a:p>
        </p:txBody>
      </p:sp>
      <p:sp>
        <p:nvSpPr>
          <p:cNvPr id="7" name="Text 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8" name="Text 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25 / 60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TIMELINE</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PM2.5 sensor evolution at TCEQ CAMS 2010–2025</a:t>
            </a:r>
            <a:endParaRPr lang="en-US" sz="3000" dirty="0"/>
          </a:p>
        </p:txBody>
      </p:sp>
      <p:sp>
        <p:nvSpPr>
          <p:cNvPr id="4" name="Shape 2"/>
          <p:cNvSpPr/>
          <p:nvPr/>
        </p:nvSpPr>
        <p:spPr>
          <a:xfrm>
            <a:off x="548640" y="1417320"/>
            <a:ext cx="110642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106070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Coastal Bend PM2.5 instrumentation transitions</a:t>
            </a:r>
            <a:endParaRPr lang="en-US" sz="1400" dirty="0"/>
          </a:p>
        </p:txBody>
      </p:sp>
      <p:sp>
        <p:nvSpPr>
          <p:cNvPr id="6" name="Shape 4"/>
          <p:cNvSpPr/>
          <p:nvPr/>
        </p:nvSpPr>
        <p:spPr>
          <a:xfrm>
            <a:off x="1097280" y="3383280"/>
            <a:ext cx="10058400" cy="0"/>
          </a:xfrm>
          <a:prstGeom prst="line">
            <a:avLst/>
          </a:prstGeom>
          <a:noFill/>
          <a:ln w="38100">
            <a:solidFill>
              <a:srgbClr val="213C4E"/>
            </a:solidFill>
            <a:prstDash val="solid"/>
          </a:ln>
        </p:spPr>
        <p:txBody>
          <a:bodyPr/>
          <a:lstStyle/>
          <a:p>
            <a:endParaRPr lang="en-US"/>
          </a:p>
        </p:txBody>
      </p:sp>
      <p:sp>
        <p:nvSpPr>
          <p:cNvPr id="7" name="Shape 5"/>
          <p:cNvSpPr/>
          <p:nvPr/>
        </p:nvSpPr>
        <p:spPr>
          <a:xfrm>
            <a:off x="1097280" y="3291840"/>
            <a:ext cx="0" cy="182880"/>
          </a:xfrm>
          <a:prstGeom prst="line">
            <a:avLst/>
          </a:prstGeom>
          <a:noFill/>
          <a:ln w="19050">
            <a:solidFill>
              <a:srgbClr val="213C4E"/>
            </a:solidFill>
            <a:prstDash val="solid"/>
          </a:ln>
        </p:spPr>
        <p:txBody>
          <a:bodyPr/>
          <a:lstStyle/>
          <a:p>
            <a:endParaRPr lang="en-US"/>
          </a:p>
        </p:txBody>
      </p:sp>
      <p:sp>
        <p:nvSpPr>
          <p:cNvPr id="8" name="Text 6"/>
          <p:cNvSpPr/>
          <p:nvPr/>
        </p:nvSpPr>
        <p:spPr>
          <a:xfrm>
            <a:off x="82296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2010</a:t>
            </a:r>
            <a:endParaRPr lang="en-US" sz="900" dirty="0"/>
          </a:p>
        </p:txBody>
      </p:sp>
      <p:sp>
        <p:nvSpPr>
          <p:cNvPr id="9" name="Shape 7"/>
          <p:cNvSpPr/>
          <p:nvPr/>
        </p:nvSpPr>
        <p:spPr>
          <a:xfrm>
            <a:off x="1767840" y="3291840"/>
            <a:ext cx="0" cy="182880"/>
          </a:xfrm>
          <a:prstGeom prst="line">
            <a:avLst/>
          </a:prstGeom>
          <a:noFill/>
          <a:ln w="19050">
            <a:solidFill>
              <a:srgbClr val="213C4E"/>
            </a:solidFill>
            <a:prstDash val="solid"/>
          </a:ln>
        </p:spPr>
        <p:txBody>
          <a:bodyPr/>
          <a:lstStyle/>
          <a:p>
            <a:endParaRPr lang="en-US"/>
          </a:p>
        </p:txBody>
      </p:sp>
      <p:sp>
        <p:nvSpPr>
          <p:cNvPr id="10" name="Shape 8"/>
          <p:cNvSpPr/>
          <p:nvPr/>
        </p:nvSpPr>
        <p:spPr>
          <a:xfrm>
            <a:off x="2438400" y="3291840"/>
            <a:ext cx="0" cy="182880"/>
          </a:xfrm>
          <a:prstGeom prst="line">
            <a:avLst/>
          </a:prstGeom>
          <a:noFill/>
          <a:ln w="19050">
            <a:solidFill>
              <a:srgbClr val="213C4E"/>
            </a:solidFill>
            <a:prstDash val="solid"/>
          </a:ln>
        </p:spPr>
        <p:txBody>
          <a:bodyPr/>
          <a:lstStyle/>
          <a:p>
            <a:endParaRPr lang="en-US"/>
          </a:p>
        </p:txBody>
      </p:sp>
      <p:sp>
        <p:nvSpPr>
          <p:cNvPr id="11" name="Text 9"/>
          <p:cNvSpPr/>
          <p:nvPr/>
        </p:nvSpPr>
        <p:spPr>
          <a:xfrm>
            <a:off x="216408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2012</a:t>
            </a:r>
            <a:endParaRPr lang="en-US" sz="900" dirty="0"/>
          </a:p>
        </p:txBody>
      </p:sp>
      <p:sp>
        <p:nvSpPr>
          <p:cNvPr id="12" name="Shape 10"/>
          <p:cNvSpPr/>
          <p:nvPr/>
        </p:nvSpPr>
        <p:spPr>
          <a:xfrm>
            <a:off x="3108960" y="3291840"/>
            <a:ext cx="0" cy="182880"/>
          </a:xfrm>
          <a:prstGeom prst="line">
            <a:avLst/>
          </a:prstGeom>
          <a:noFill/>
          <a:ln w="19050">
            <a:solidFill>
              <a:srgbClr val="213C4E"/>
            </a:solidFill>
            <a:prstDash val="solid"/>
          </a:ln>
        </p:spPr>
        <p:txBody>
          <a:bodyPr/>
          <a:lstStyle/>
          <a:p>
            <a:endParaRPr lang="en-US"/>
          </a:p>
        </p:txBody>
      </p:sp>
      <p:sp>
        <p:nvSpPr>
          <p:cNvPr id="13" name="Shape 11"/>
          <p:cNvSpPr/>
          <p:nvPr/>
        </p:nvSpPr>
        <p:spPr>
          <a:xfrm>
            <a:off x="3779520" y="3291840"/>
            <a:ext cx="0" cy="182880"/>
          </a:xfrm>
          <a:prstGeom prst="line">
            <a:avLst/>
          </a:prstGeom>
          <a:noFill/>
          <a:ln w="19050">
            <a:solidFill>
              <a:srgbClr val="213C4E"/>
            </a:solidFill>
            <a:prstDash val="solid"/>
          </a:ln>
        </p:spPr>
        <p:txBody>
          <a:bodyPr/>
          <a:lstStyle/>
          <a:p>
            <a:endParaRPr lang="en-US"/>
          </a:p>
        </p:txBody>
      </p:sp>
      <p:sp>
        <p:nvSpPr>
          <p:cNvPr id="14" name="Text 12"/>
          <p:cNvSpPr/>
          <p:nvPr/>
        </p:nvSpPr>
        <p:spPr>
          <a:xfrm>
            <a:off x="350520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2014</a:t>
            </a:r>
            <a:endParaRPr lang="en-US" sz="900" dirty="0"/>
          </a:p>
        </p:txBody>
      </p:sp>
      <p:sp>
        <p:nvSpPr>
          <p:cNvPr id="15" name="Shape 13"/>
          <p:cNvSpPr/>
          <p:nvPr/>
        </p:nvSpPr>
        <p:spPr>
          <a:xfrm>
            <a:off x="4450080" y="3291840"/>
            <a:ext cx="0" cy="182880"/>
          </a:xfrm>
          <a:prstGeom prst="line">
            <a:avLst/>
          </a:prstGeom>
          <a:noFill/>
          <a:ln w="19050">
            <a:solidFill>
              <a:srgbClr val="213C4E"/>
            </a:solidFill>
            <a:prstDash val="solid"/>
          </a:ln>
        </p:spPr>
        <p:txBody>
          <a:bodyPr/>
          <a:lstStyle/>
          <a:p>
            <a:endParaRPr lang="en-US"/>
          </a:p>
        </p:txBody>
      </p:sp>
      <p:sp>
        <p:nvSpPr>
          <p:cNvPr id="16" name="Shape 14"/>
          <p:cNvSpPr/>
          <p:nvPr/>
        </p:nvSpPr>
        <p:spPr>
          <a:xfrm>
            <a:off x="5120640" y="3291840"/>
            <a:ext cx="0" cy="182880"/>
          </a:xfrm>
          <a:prstGeom prst="line">
            <a:avLst/>
          </a:prstGeom>
          <a:noFill/>
          <a:ln w="19050">
            <a:solidFill>
              <a:srgbClr val="213C4E"/>
            </a:solidFill>
            <a:prstDash val="solid"/>
          </a:ln>
        </p:spPr>
        <p:txBody>
          <a:bodyPr/>
          <a:lstStyle/>
          <a:p>
            <a:endParaRPr lang="en-US"/>
          </a:p>
        </p:txBody>
      </p:sp>
      <p:sp>
        <p:nvSpPr>
          <p:cNvPr id="17" name="Text 15"/>
          <p:cNvSpPr/>
          <p:nvPr/>
        </p:nvSpPr>
        <p:spPr>
          <a:xfrm>
            <a:off x="484632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2016</a:t>
            </a:r>
            <a:endParaRPr lang="en-US" sz="900" dirty="0"/>
          </a:p>
        </p:txBody>
      </p:sp>
      <p:sp>
        <p:nvSpPr>
          <p:cNvPr id="18" name="Shape 16"/>
          <p:cNvSpPr/>
          <p:nvPr/>
        </p:nvSpPr>
        <p:spPr>
          <a:xfrm>
            <a:off x="5791200" y="3291840"/>
            <a:ext cx="0" cy="182880"/>
          </a:xfrm>
          <a:prstGeom prst="line">
            <a:avLst/>
          </a:prstGeom>
          <a:noFill/>
          <a:ln w="19050">
            <a:solidFill>
              <a:srgbClr val="213C4E"/>
            </a:solidFill>
            <a:prstDash val="solid"/>
          </a:ln>
        </p:spPr>
        <p:txBody>
          <a:bodyPr/>
          <a:lstStyle/>
          <a:p>
            <a:endParaRPr lang="en-US"/>
          </a:p>
        </p:txBody>
      </p:sp>
      <p:sp>
        <p:nvSpPr>
          <p:cNvPr id="19" name="Shape 17"/>
          <p:cNvSpPr/>
          <p:nvPr/>
        </p:nvSpPr>
        <p:spPr>
          <a:xfrm>
            <a:off x="6461760" y="3291840"/>
            <a:ext cx="0" cy="182880"/>
          </a:xfrm>
          <a:prstGeom prst="line">
            <a:avLst/>
          </a:prstGeom>
          <a:noFill/>
          <a:ln w="19050">
            <a:solidFill>
              <a:srgbClr val="213C4E"/>
            </a:solidFill>
            <a:prstDash val="solid"/>
          </a:ln>
        </p:spPr>
        <p:txBody>
          <a:bodyPr/>
          <a:lstStyle/>
          <a:p>
            <a:endParaRPr lang="en-US"/>
          </a:p>
        </p:txBody>
      </p:sp>
      <p:sp>
        <p:nvSpPr>
          <p:cNvPr id="20" name="Text 18"/>
          <p:cNvSpPr/>
          <p:nvPr/>
        </p:nvSpPr>
        <p:spPr>
          <a:xfrm>
            <a:off x="618744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2018</a:t>
            </a:r>
            <a:endParaRPr lang="en-US" sz="900" dirty="0"/>
          </a:p>
        </p:txBody>
      </p:sp>
      <p:sp>
        <p:nvSpPr>
          <p:cNvPr id="21" name="Shape 19"/>
          <p:cNvSpPr/>
          <p:nvPr/>
        </p:nvSpPr>
        <p:spPr>
          <a:xfrm>
            <a:off x="7132320" y="3291840"/>
            <a:ext cx="0" cy="182880"/>
          </a:xfrm>
          <a:prstGeom prst="line">
            <a:avLst/>
          </a:prstGeom>
          <a:noFill/>
          <a:ln w="19050">
            <a:solidFill>
              <a:srgbClr val="213C4E"/>
            </a:solidFill>
            <a:prstDash val="solid"/>
          </a:ln>
        </p:spPr>
        <p:txBody>
          <a:bodyPr/>
          <a:lstStyle/>
          <a:p>
            <a:endParaRPr lang="en-US"/>
          </a:p>
        </p:txBody>
      </p:sp>
      <p:sp>
        <p:nvSpPr>
          <p:cNvPr id="22" name="Shape 20"/>
          <p:cNvSpPr/>
          <p:nvPr/>
        </p:nvSpPr>
        <p:spPr>
          <a:xfrm>
            <a:off x="7802880" y="3291840"/>
            <a:ext cx="0" cy="182880"/>
          </a:xfrm>
          <a:prstGeom prst="line">
            <a:avLst/>
          </a:prstGeom>
          <a:noFill/>
          <a:ln w="19050">
            <a:solidFill>
              <a:srgbClr val="213C4E"/>
            </a:solidFill>
            <a:prstDash val="solid"/>
          </a:ln>
        </p:spPr>
        <p:txBody>
          <a:bodyPr/>
          <a:lstStyle/>
          <a:p>
            <a:endParaRPr lang="en-US"/>
          </a:p>
        </p:txBody>
      </p:sp>
      <p:sp>
        <p:nvSpPr>
          <p:cNvPr id="23" name="Text 21"/>
          <p:cNvSpPr/>
          <p:nvPr/>
        </p:nvSpPr>
        <p:spPr>
          <a:xfrm>
            <a:off x="752856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2020</a:t>
            </a:r>
            <a:endParaRPr lang="en-US" sz="900" dirty="0"/>
          </a:p>
        </p:txBody>
      </p:sp>
      <p:sp>
        <p:nvSpPr>
          <p:cNvPr id="24" name="Shape 22"/>
          <p:cNvSpPr/>
          <p:nvPr/>
        </p:nvSpPr>
        <p:spPr>
          <a:xfrm>
            <a:off x="8473440" y="3291840"/>
            <a:ext cx="0" cy="182880"/>
          </a:xfrm>
          <a:prstGeom prst="line">
            <a:avLst/>
          </a:prstGeom>
          <a:noFill/>
          <a:ln w="19050">
            <a:solidFill>
              <a:srgbClr val="213C4E"/>
            </a:solidFill>
            <a:prstDash val="solid"/>
          </a:ln>
        </p:spPr>
        <p:txBody>
          <a:bodyPr/>
          <a:lstStyle/>
          <a:p>
            <a:endParaRPr lang="en-US"/>
          </a:p>
        </p:txBody>
      </p:sp>
      <p:sp>
        <p:nvSpPr>
          <p:cNvPr id="25" name="Shape 23"/>
          <p:cNvSpPr/>
          <p:nvPr/>
        </p:nvSpPr>
        <p:spPr>
          <a:xfrm>
            <a:off x="9144000" y="3291840"/>
            <a:ext cx="0" cy="182880"/>
          </a:xfrm>
          <a:prstGeom prst="line">
            <a:avLst/>
          </a:prstGeom>
          <a:noFill/>
          <a:ln w="19050">
            <a:solidFill>
              <a:srgbClr val="213C4E"/>
            </a:solidFill>
            <a:prstDash val="solid"/>
          </a:ln>
        </p:spPr>
        <p:txBody>
          <a:bodyPr/>
          <a:lstStyle/>
          <a:p>
            <a:endParaRPr lang="en-US"/>
          </a:p>
        </p:txBody>
      </p:sp>
      <p:sp>
        <p:nvSpPr>
          <p:cNvPr id="26" name="Text 24"/>
          <p:cNvSpPr/>
          <p:nvPr/>
        </p:nvSpPr>
        <p:spPr>
          <a:xfrm>
            <a:off x="886968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2022</a:t>
            </a:r>
            <a:endParaRPr lang="en-US" sz="900" dirty="0"/>
          </a:p>
        </p:txBody>
      </p:sp>
      <p:sp>
        <p:nvSpPr>
          <p:cNvPr id="27" name="Shape 25"/>
          <p:cNvSpPr/>
          <p:nvPr/>
        </p:nvSpPr>
        <p:spPr>
          <a:xfrm>
            <a:off x="9814560" y="3291840"/>
            <a:ext cx="0" cy="182880"/>
          </a:xfrm>
          <a:prstGeom prst="line">
            <a:avLst/>
          </a:prstGeom>
          <a:noFill/>
          <a:ln w="19050">
            <a:solidFill>
              <a:srgbClr val="213C4E"/>
            </a:solidFill>
            <a:prstDash val="solid"/>
          </a:ln>
        </p:spPr>
        <p:txBody>
          <a:bodyPr/>
          <a:lstStyle/>
          <a:p>
            <a:endParaRPr lang="en-US"/>
          </a:p>
        </p:txBody>
      </p:sp>
      <p:sp>
        <p:nvSpPr>
          <p:cNvPr id="28" name="Shape 26"/>
          <p:cNvSpPr/>
          <p:nvPr/>
        </p:nvSpPr>
        <p:spPr>
          <a:xfrm>
            <a:off x="10485120" y="3291840"/>
            <a:ext cx="0" cy="182880"/>
          </a:xfrm>
          <a:prstGeom prst="line">
            <a:avLst/>
          </a:prstGeom>
          <a:noFill/>
          <a:ln w="19050">
            <a:solidFill>
              <a:srgbClr val="213C4E"/>
            </a:solidFill>
            <a:prstDash val="solid"/>
          </a:ln>
        </p:spPr>
        <p:txBody>
          <a:bodyPr/>
          <a:lstStyle/>
          <a:p>
            <a:endParaRPr lang="en-US"/>
          </a:p>
        </p:txBody>
      </p:sp>
      <p:sp>
        <p:nvSpPr>
          <p:cNvPr id="29" name="Text 27"/>
          <p:cNvSpPr/>
          <p:nvPr/>
        </p:nvSpPr>
        <p:spPr>
          <a:xfrm>
            <a:off x="1021080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2024</a:t>
            </a:r>
            <a:endParaRPr lang="en-US" sz="900" dirty="0"/>
          </a:p>
        </p:txBody>
      </p:sp>
      <p:sp>
        <p:nvSpPr>
          <p:cNvPr id="30" name="Shape 28"/>
          <p:cNvSpPr/>
          <p:nvPr/>
        </p:nvSpPr>
        <p:spPr>
          <a:xfrm>
            <a:off x="11155680" y="3291840"/>
            <a:ext cx="0" cy="182880"/>
          </a:xfrm>
          <a:prstGeom prst="line">
            <a:avLst/>
          </a:prstGeom>
          <a:noFill/>
          <a:ln w="19050">
            <a:solidFill>
              <a:srgbClr val="213C4E"/>
            </a:solidFill>
            <a:prstDash val="solid"/>
          </a:ln>
        </p:spPr>
        <p:txBody>
          <a:bodyPr/>
          <a:lstStyle/>
          <a:p>
            <a:endParaRPr lang="en-US"/>
          </a:p>
        </p:txBody>
      </p:sp>
      <p:sp>
        <p:nvSpPr>
          <p:cNvPr id="31" name="Text 29"/>
          <p:cNvSpPr/>
          <p:nvPr/>
        </p:nvSpPr>
        <p:spPr>
          <a:xfrm>
            <a:off x="10881360" y="3520440"/>
            <a:ext cx="548640" cy="228600"/>
          </a:xfrm>
          <a:prstGeom prst="rect">
            <a:avLst/>
          </a:prstGeom>
          <a:noFill/>
          <a:ln/>
        </p:spPr>
        <p:txBody>
          <a:bodyPr wrap="square" lIns="0" tIns="0" rIns="0" bIns="0" rtlCol="0" anchor="ctr"/>
          <a:lstStyle/>
          <a:p>
            <a:pPr marL="0" indent="0" algn="ctr">
              <a:buNone/>
            </a:pPr>
            <a:r>
              <a:rPr lang="en-US" sz="900" dirty="0">
                <a:solidFill>
                  <a:srgbClr val="6B7A85"/>
                </a:solidFill>
                <a:latin typeface="Calibri" pitchFamily="34" charset="0"/>
                <a:ea typeface="Calibri" pitchFamily="34" charset="-122"/>
                <a:cs typeface="Calibri" pitchFamily="34" charset="-120"/>
              </a:rPr>
              <a:t>2025</a:t>
            </a:r>
            <a:endParaRPr lang="en-US" sz="900" dirty="0"/>
          </a:p>
        </p:txBody>
      </p:sp>
      <p:sp>
        <p:nvSpPr>
          <p:cNvPr id="32" name="Shape 30"/>
          <p:cNvSpPr/>
          <p:nvPr/>
        </p:nvSpPr>
        <p:spPr>
          <a:xfrm>
            <a:off x="1024128" y="3310128"/>
            <a:ext cx="146304" cy="146304"/>
          </a:xfrm>
          <a:prstGeom prst="ellipse">
            <a:avLst/>
          </a:prstGeom>
          <a:solidFill>
            <a:srgbClr val="213C4E"/>
          </a:solidFill>
          <a:ln w="12700">
            <a:solidFill>
              <a:srgbClr val="213C4E"/>
            </a:solidFill>
            <a:prstDash val="solid"/>
          </a:ln>
        </p:spPr>
        <p:txBody>
          <a:bodyPr/>
          <a:lstStyle/>
          <a:p>
            <a:endParaRPr lang="en-US"/>
          </a:p>
        </p:txBody>
      </p:sp>
      <p:sp>
        <p:nvSpPr>
          <p:cNvPr id="33" name="Text 31"/>
          <p:cNvSpPr/>
          <p:nvPr/>
        </p:nvSpPr>
        <p:spPr>
          <a:xfrm>
            <a:off x="365760" y="2377440"/>
            <a:ext cx="1463040" cy="502920"/>
          </a:xfrm>
          <a:prstGeom prst="rect">
            <a:avLst/>
          </a:prstGeom>
          <a:noFill/>
          <a:ln/>
        </p:spPr>
        <p:txBody>
          <a:bodyPr wrap="square" lIns="0" tIns="0" rIns="0" bIns="0" rtlCol="0" anchor="b"/>
          <a:lstStyle/>
          <a:p>
            <a:pPr marL="0" indent="0" algn="ctr">
              <a:buNone/>
            </a:pPr>
            <a:r>
              <a:rPr lang="en-US" sz="950" dirty="0">
                <a:solidFill>
                  <a:srgbClr val="213C4E"/>
                </a:solidFill>
                <a:latin typeface="Calibri" pitchFamily="34" charset="0"/>
                <a:ea typeface="Calibri" pitchFamily="34" charset="-122"/>
                <a:cs typeface="Calibri" pitchFamily="34" charset="-120"/>
              </a:rPr>
              <a:t>TCEQ pilot BAM 1020</a:t>
            </a:r>
            <a:endParaRPr lang="en-US" sz="950" dirty="0"/>
          </a:p>
          <a:p>
            <a:pPr marL="0" indent="0" algn="ctr">
              <a:buNone/>
            </a:pPr>
            <a:r>
              <a:rPr lang="en-US" sz="950" dirty="0">
                <a:solidFill>
                  <a:srgbClr val="213C4E"/>
                </a:solidFill>
                <a:latin typeface="Calibri" pitchFamily="34" charset="0"/>
                <a:ea typeface="Calibri" pitchFamily="34" charset="-122"/>
                <a:cs typeface="Calibri" pitchFamily="34" charset="-120"/>
              </a:rPr>
              <a:t>deployments</a:t>
            </a:r>
            <a:endParaRPr lang="en-US" sz="950" dirty="0"/>
          </a:p>
        </p:txBody>
      </p:sp>
      <p:sp>
        <p:nvSpPr>
          <p:cNvPr id="34" name="Shape 32"/>
          <p:cNvSpPr/>
          <p:nvPr/>
        </p:nvSpPr>
        <p:spPr>
          <a:xfrm>
            <a:off x="1097280" y="2880360"/>
            <a:ext cx="0" cy="457200"/>
          </a:xfrm>
          <a:prstGeom prst="line">
            <a:avLst/>
          </a:prstGeom>
          <a:noFill/>
          <a:ln w="12700">
            <a:solidFill>
              <a:srgbClr val="213C4E"/>
            </a:solidFill>
            <a:prstDash val="dash"/>
          </a:ln>
        </p:spPr>
        <p:txBody>
          <a:bodyPr/>
          <a:lstStyle/>
          <a:p>
            <a:endParaRPr lang="en-US"/>
          </a:p>
        </p:txBody>
      </p:sp>
      <p:sp>
        <p:nvSpPr>
          <p:cNvPr id="35" name="Shape 33"/>
          <p:cNvSpPr/>
          <p:nvPr/>
        </p:nvSpPr>
        <p:spPr>
          <a:xfrm>
            <a:off x="3035808" y="3310128"/>
            <a:ext cx="146304" cy="146304"/>
          </a:xfrm>
          <a:prstGeom prst="ellipse">
            <a:avLst/>
          </a:prstGeom>
          <a:solidFill>
            <a:srgbClr val="C2410C"/>
          </a:solidFill>
          <a:ln w="12700">
            <a:solidFill>
              <a:srgbClr val="C2410C"/>
            </a:solidFill>
            <a:prstDash val="solid"/>
          </a:ln>
        </p:spPr>
        <p:txBody>
          <a:bodyPr/>
          <a:lstStyle/>
          <a:p>
            <a:endParaRPr lang="en-US"/>
          </a:p>
        </p:txBody>
      </p:sp>
      <p:sp>
        <p:nvSpPr>
          <p:cNvPr id="36" name="Text 34"/>
          <p:cNvSpPr/>
          <p:nvPr/>
        </p:nvSpPr>
        <p:spPr>
          <a:xfrm>
            <a:off x="2377440" y="3840480"/>
            <a:ext cx="1463040" cy="502920"/>
          </a:xfrm>
          <a:prstGeom prst="rect">
            <a:avLst/>
          </a:prstGeom>
          <a:noFill/>
          <a:ln/>
        </p:spPr>
        <p:txBody>
          <a:bodyPr wrap="square" lIns="0" tIns="0" rIns="0" bIns="0" rtlCol="0" anchor="t"/>
          <a:lstStyle/>
          <a:p>
            <a:pPr marL="0" indent="0" algn="ctr">
              <a:buNone/>
            </a:pPr>
            <a:r>
              <a:rPr lang="en-US" sz="950" dirty="0">
                <a:solidFill>
                  <a:srgbClr val="C2410C"/>
                </a:solidFill>
                <a:latin typeface="Calibri" pitchFamily="34" charset="0"/>
                <a:ea typeface="Calibri" pitchFamily="34" charset="-122"/>
                <a:cs typeface="Calibri" pitchFamily="34" charset="-120"/>
              </a:rPr>
              <a:t>BAM 1020 becomes</a:t>
            </a:r>
            <a:endParaRPr lang="en-US" sz="950" dirty="0"/>
          </a:p>
          <a:p>
            <a:pPr marL="0" indent="0" algn="ctr">
              <a:buNone/>
            </a:pPr>
            <a:r>
              <a:rPr lang="en-US" sz="950" dirty="0">
                <a:solidFill>
                  <a:srgbClr val="C2410C"/>
                </a:solidFill>
                <a:latin typeface="Calibri" pitchFamily="34" charset="0"/>
                <a:ea typeface="Calibri" pitchFamily="34" charset="-122"/>
                <a:cs typeface="Calibri" pitchFamily="34" charset="-120"/>
              </a:rPr>
              <a:t>TCEQ CAMS standard</a:t>
            </a:r>
            <a:endParaRPr lang="en-US" sz="950" dirty="0"/>
          </a:p>
        </p:txBody>
      </p:sp>
      <p:sp>
        <p:nvSpPr>
          <p:cNvPr id="37" name="Shape 35"/>
          <p:cNvSpPr/>
          <p:nvPr/>
        </p:nvSpPr>
        <p:spPr>
          <a:xfrm>
            <a:off x="3108960" y="3429000"/>
            <a:ext cx="0" cy="411480"/>
          </a:xfrm>
          <a:prstGeom prst="line">
            <a:avLst/>
          </a:prstGeom>
          <a:noFill/>
          <a:ln w="12700">
            <a:solidFill>
              <a:srgbClr val="C2410C"/>
            </a:solidFill>
            <a:prstDash val="dash"/>
          </a:ln>
        </p:spPr>
        <p:txBody>
          <a:bodyPr/>
          <a:lstStyle/>
          <a:p>
            <a:endParaRPr lang="en-US"/>
          </a:p>
        </p:txBody>
      </p:sp>
      <p:sp>
        <p:nvSpPr>
          <p:cNvPr id="38" name="Shape 36"/>
          <p:cNvSpPr/>
          <p:nvPr/>
        </p:nvSpPr>
        <p:spPr>
          <a:xfrm>
            <a:off x="4376928" y="3310128"/>
            <a:ext cx="146304" cy="146304"/>
          </a:xfrm>
          <a:prstGeom prst="ellipse">
            <a:avLst/>
          </a:prstGeom>
          <a:solidFill>
            <a:srgbClr val="0F766E"/>
          </a:solidFill>
          <a:ln w="12700">
            <a:solidFill>
              <a:srgbClr val="0F766E"/>
            </a:solidFill>
            <a:prstDash val="solid"/>
          </a:ln>
        </p:spPr>
        <p:txBody>
          <a:bodyPr/>
          <a:lstStyle/>
          <a:p>
            <a:endParaRPr lang="en-US"/>
          </a:p>
        </p:txBody>
      </p:sp>
      <p:sp>
        <p:nvSpPr>
          <p:cNvPr id="39" name="Text 37"/>
          <p:cNvSpPr/>
          <p:nvPr/>
        </p:nvSpPr>
        <p:spPr>
          <a:xfrm>
            <a:off x="3718560" y="2377440"/>
            <a:ext cx="1463040" cy="502920"/>
          </a:xfrm>
          <a:prstGeom prst="rect">
            <a:avLst/>
          </a:prstGeom>
          <a:noFill/>
          <a:ln/>
        </p:spPr>
        <p:txBody>
          <a:bodyPr wrap="square" lIns="0" tIns="0" rIns="0" bIns="0" rtlCol="0" anchor="b"/>
          <a:lstStyle/>
          <a:p>
            <a:pPr marL="0" indent="0" algn="ctr">
              <a:buNone/>
            </a:pPr>
            <a:r>
              <a:rPr lang="en-US" sz="950" dirty="0">
                <a:solidFill>
                  <a:srgbClr val="0F766E"/>
                </a:solidFill>
                <a:latin typeface="Calibri" pitchFamily="34" charset="0"/>
                <a:ea typeface="Calibri" pitchFamily="34" charset="-122"/>
                <a:cs typeface="Calibri" pitchFamily="34" charset="-120"/>
              </a:rPr>
              <a:t>BAM 1022 begins</a:t>
            </a:r>
            <a:endParaRPr lang="en-US" sz="950" dirty="0"/>
          </a:p>
          <a:p>
            <a:pPr marL="0" indent="0" algn="ctr">
              <a:buNone/>
            </a:pPr>
            <a:r>
              <a:rPr lang="en-US" sz="950" dirty="0">
                <a:solidFill>
                  <a:srgbClr val="0F766E"/>
                </a:solidFill>
                <a:latin typeface="Calibri" pitchFamily="34" charset="0"/>
                <a:ea typeface="Calibri" pitchFamily="34" charset="-122"/>
                <a:cs typeface="Calibri" pitchFamily="34" charset="-120"/>
              </a:rPr>
              <a:t>rollout (trace-level)</a:t>
            </a:r>
            <a:endParaRPr lang="en-US" sz="950" dirty="0"/>
          </a:p>
        </p:txBody>
      </p:sp>
      <p:sp>
        <p:nvSpPr>
          <p:cNvPr id="40" name="Shape 38"/>
          <p:cNvSpPr/>
          <p:nvPr/>
        </p:nvSpPr>
        <p:spPr>
          <a:xfrm>
            <a:off x="4450080" y="2880360"/>
            <a:ext cx="0" cy="457200"/>
          </a:xfrm>
          <a:prstGeom prst="line">
            <a:avLst/>
          </a:prstGeom>
          <a:noFill/>
          <a:ln w="12700">
            <a:solidFill>
              <a:srgbClr val="0F766E"/>
            </a:solidFill>
            <a:prstDash val="dash"/>
          </a:ln>
        </p:spPr>
        <p:txBody>
          <a:bodyPr/>
          <a:lstStyle/>
          <a:p>
            <a:endParaRPr lang="en-US"/>
          </a:p>
        </p:txBody>
      </p:sp>
      <p:sp>
        <p:nvSpPr>
          <p:cNvPr id="41" name="Shape 39"/>
          <p:cNvSpPr/>
          <p:nvPr/>
        </p:nvSpPr>
        <p:spPr>
          <a:xfrm>
            <a:off x="6388608" y="3310128"/>
            <a:ext cx="146304" cy="146304"/>
          </a:xfrm>
          <a:prstGeom prst="ellipse">
            <a:avLst/>
          </a:prstGeom>
          <a:solidFill>
            <a:srgbClr val="9F1239"/>
          </a:solidFill>
          <a:ln w="12700">
            <a:solidFill>
              <a:srgbClr val="9F1239"/>
            </a:solidFill>
            <a:prstDash val="solid"/>
          </a:ln>
        </p:spPr>
        <p:txBody>
          <a:bodyPr/>
          <a:lstStyle/>
          <a:p>
            <a:endParaRPr lang="en-US"/>
          </a:p>
        </p:txBody>
      </p:sp>
      <p:sp>
        <p:nvSpPr>
          <p:cNvPr id="42" name="Text 40"/>
          <p:cNvSpPr/>
          <p:nvPr/>
        </p:nvSpPr>
        <p:spPr>
          <a:xfrm>
            <a:off x="5730240" y="3840480"/>
            <a:ext cx="1463040" cy="502920"/>
          </a:xfrm>
          <a:prstGeom prst="rect">
            <a:avLst/>
          </a:prstGeom>
          <a:noFill/>
          <a:ln/>
        </p:spPr>
        <p:txBody>
          <a:bodyPr wrap="square" lIns="0" tIns="0" rIns="0" bIns="0" rtlCol="0" anchor="t"/>
          <a:lstStyle/>
          <a:p>
            <a:pPr marL="0" indent="0" algn="ctr">
              <a:buNone/>
            </a:pPr>
            <a:r>
              <a:rPr lang="en-US" sz="950" dirty="0">
                <a:solidFill>
                  <a:srgbClr val="9F1239"/>
                </a:solidFill>
                <a:latin typeface="Calibri" pitchFamily="34" charset="0"/>
                <a:ea typeface="Calibri" pitchFamily="34" charset="-122"/>
                <a:cs typeface="Calibri" pitchFamily="34" charset="-120"/>
              </a:rPr>
              <a:t>EPA withdraws TEOM 1400</a:t>
            </a:r>
            <a:endParaRPr lang="en-US" sz="950" dirty="0"/>
          </a:p>
          <a:p>
            <a:pPr marL="0" indent="0" algn="ctr">
              <a:buNone/>
            </a:pPr>
            <a:r>
              <a:rPr lang="en-US" sz="950" dirty="0">
                <a:solidFill>
                  <a:srgbClr val="9F1239"/>
                </a:solidFill>
                <a:latin typeface="Calibri" pitchFamily="34" charset="0"/>
                <a:ea typeface="Calibri" pitchFamily="34" charset="-122"/>
                <a:cs typeface="Calibri" pitchFamily="34" charset="-120"/>
              </a:rPr>
              <a:t>FEM designation (semi-vol)</a:t>
            </a:r>
            <a:endParaRPr lang="en-US" sz="950" dirty="0"/>
          </a:p>
        </p:txBody>
      </p:sp>
      <p:sp>
        <p:nvSpPr>
          <p:cNvPr id="43" name="Shape 41"/>
          <p:cNvSpPr/>
          <p:nvPr/>
        </p:nvSpPr>
        <p:spPr>
          <a:xfrm>
            <a:off x="6461760" y="3429000"/>
            <a:ext cx="0" cy="411480"/>
          </a:xfrm>
          <a:prstGeom prst="line">
            <a:avLst/>
          </a:prstGeom>
          <a:noFill/>
          <a:ln w="12700">
            <a:solidFill>
              <a:srgbClr val="9F1239"/>
            </a:solidFill>
            <a:prstDash val="dash"/>
          </a:ln>
        </p:spPr>
        <p:txBody>
          <a:bodyPr/>
          <a:lstStyle/>
          <a:p>
            <a:endParaRPr lang="en-US"/>
          </a:p>
        </p:txBody>
      </p:sp>
      <p:sp>
        <p:nvSpPr>
          <p:cNvPr id="44" name="Shape 42"/>
          <p:cNvSpPr/>
          <p:nvPr/>
        </p:nvSpPr>
        <p:spPr>
          <a:xfrm>
            <a:off x="7059168" y="3310128"/>
            <a:ext cx="146304" cy="146304"/>
          </a:xfrm>
          <a:prstGeom prst="ellipse">
            <a:avLst/>
          </a:prstGeom>
          <a:solidFill>
            <a:srgbClr val="213C4E"/>
          </a:solidFill>
          <a:ln w="12700">
            <a:solidFill>
              <a:srgbClr val="213C4E"/>
            </a:solidFill>
            <a:prstDash val="solid"/>
          </a:ln>
        </p:spPr>
        <p:txBody>
          <a:bodyPr/>
          <a:lstStyle/>
          <a:p>
            <a:endParaRPr lang="en-US"/>
          </a:p>
        </p:txBody>
      </p:sp>
      <p:sp>
        <p:nvSpPr>
          <p:cNvPr id="45" name="Text 43"/>
          <p:cNvSpPr/>
          <p:nvPr/>
        </p:nvSpPr>
        <p:spPr>
          <a:xfrm>
            <a:off x="6400800" y="2377440"/>
            <a:ext cx="1463040" cy="502920"/>
          </a:xfrm>
          <a:prstGeom prst="rect">
            <a:avLst/>
          </a:prstGeom>
          <a:noFill/>
          <a:ln/>
        </p:spPr>
        <p:txBody>
          <a:bodyPr wrap="square" lIns="0" tIns="0" rIns="0" bIns="0" rtlCol="0" anchor="b"/>
          <a:lstStyle/>
          <a:p>
            <a:pPr marL="0" indent="0" algn="ctr">
              <a:buNone/>
            </a:pPr>
            <a:r>
              <a:rPr lang="en-US" sz="950" dirty="0">
                <a:solidFill>
                  <a:srgbClr val="213C4E"/>
                </a:solidFill>
                <a:latin typeface="Calibri" pitchFamily="34" charset="0"/>
                <a:ea typeface="Calibri" pitchFamily="34" charset="-122"/>
                <a:cs typeface="Calibri" pitchFamily="34" charset="-120"/>
              </a:rPr>
              <a:t>TEOM 1405-F/FDMS</a:t>
            </a:r>
            <a:endParaRPr lang="en-US" sz="950" dirty="0"/>
          </a:p>
          <a:p>
            <a:pPr marL="0" indent="0" algn="ctr">
              <a:buNone/>
            </a:pPr>
            <a:r>
              <a:rPr lang="en-US" sz="950" dirty="0">
                <a:solidFill>
                  <a:srgbClr val="213C4E"/>
                </a:solidFill>
                <a:latin typeface="Calibri" pitchFamily="34" charset="0"/>
                <a:ea typeface="Calibri" pitchFamily="34" charset="-122"/>
                <a:cs typeface="Calibri" pitchFamily="34" charset="-120"/>
              </a:rPr>
              <a:t>selective deployment</a:t>
            </a:r>
            <a:endParaRPr lang="en-US" sz="950" dirty="0"/>
          </a:p>
        </p:txBody>
      </p:sp>
      <p:sp>
        <p:nvSpPr>
          <p:cNvPr id="46" name="Shape 44"/>
          <p:cNvSpPr/>
          <p:nvPr/>
        </p:nvSpPr>
        <p:spPr>
          <a:xfrm>
            <a:off x="7132320" y="2880360"/>
            <a:ext cx="0" cy="457200"/>
          </a:xfrm>
          <a:prstGeom prst="line">
            <a:avLst/>
          </a:prstGeom>
          <a:noFill/>
          <a:ln w="12700">
            <a:solidFill>
              <a:srgbClr val="213C4E"/>
            </a:solidFill>
            <a:prstDash val="dash"/>
          </a:ln>
        </p:spPr>
        <p:txBody>
          <a:bodyPr/>
          <a:lstStyle/>
          <a:p>
            <a:endParaRPr lang="en-US"/>
          </a:p>
        </p:txBody>
      </p:sp>
      <p:sp>
        <p:nvSpPr>
          <p:cNvPr id="47" name="Shape 45"/>
          <p:cNvSpPr/>
          <p:nvPr/>
        </p:nvSpPr>
        <p:spPr>
          <a:xfrm>
            <a:off x="7729728" y="3310128"/>
            <a:ext cx="146304" cy="146304"/>
          </a:xfrm>
          <a:prstGeom prst="ellipse">
            <a:avLst/>
          </a:prstGeom>
          <a:solidFill>
            <a:srgbClr val="6B7A85"/>
          </a:solidFill>
          <a:ln w="12700">
            <a:solidFill>
              <a:srgbClr val="6B7A85"/>
            </a:solidFill>
            <a:prstDash val="solid"/>
          </a:ln>
        </p:spPr>
        <p:txBody>
          <a:bodyPr/>
          <a:lstStyle/>
          <a:p>
            <a:endParaRPr lang="en-US"/>
          </a:p>
        </p:txBody>
      </p:sp>
      <p:sp>
        <p:nvSpPr>
          <p:cNvPr id="48" name="Text 46"/>
          <p:cNvSpPr/>
          <p:nvPr/>
        </p:nvSpPr>
        <p:spPr>
          <a:xfrm>
            <a:off x="7071360" y="3840480"/>
            <a:ext cx="1463040" cy="502920"/>
          </a:xfrm>
          <a:prstGeom prst="rect">
            <a:avLst/>
          </a:prstGeom>
          <a:noFill/>
          <a:ln/>
        </p:spPr>
        <p:txBody>
          <a:bodyPr wrap="square" lIns="0" tIns="0" rIns="0" bIns="0" rtlCol="0" anchor="t"/>
          <a:lstStyle/>
          <a:p>
            <a:pPr marL="0" indent="0" algn="ctr">
              <a:buNone/>
            </a:pPr>
            <a:r>
              <a:rPr lang="en-US" sz="950" dirty="0">
                <a:solidFill>
                  <a:srgbClr val="6B7A85"/>
                </a:solidFill>
                <a:latin typeface="Calibri" pitchFamily="34" charset="0"/>
                <a:ea typeface="Calibri" pitchFamily="34" charset="-122"/>
                <a:cs typeface="Calibri" pitchFamily="34" charset="-120"/>
              </a:rPr>
              <a:t>Low-cost sensor networks</a:t>
            </a:r>
            <a:endParaRPr lang="en-US" sz="950" dirty="0"/>
          </a:p>
          <a:p>
            <a:pPr marL="0" indent="0" algn="ctr">
              <a:buNone/>
            </a:pPr>
            <a:r>
              <a:rPr lang="en-US" sz="950" dirty="0">
                <a:solidFill>
                  <a:srgbClr val="6B7A85"/>
                </a:solidFill>
                <a:latin typeface="Calibri" pitchFamily="34" charset="0"/>
                <a:ea typeface="Calibri" pitchFamily="34" charset="-122"/>
                <a:cs typeface="Calibri" pitchFamily="34" charset="-120"/>
              </a:rPr>
              <a:t>proliferate in Corpus</a:t>
            </a:r>
            <a:endParaRPr lang="en-US" sz="950" dirty="0"/>
          </a:p>
        </p:txBody>
      </p:sp>
      <p:sp>
        <p:nvSpPr>
          <p:cNvPr id="49" name="Shape 47"/>
          <p:cNvSpPr/>
          <p:nvPr/>
        </p:nvSpPr>
        <p:spPr>
          <a:xfrm>
            <a:off x="7802880" y="3429000"/>
            <a:ext cx="0" cy="411480"/>
          </a:xfrm>
          <a:prstGeom prst="line">
            <a:avLst/>
          </a:prstGeom>
          <a:noFill/>
          <a:ln w="12700">
            <a:solidFill>
              <a:srgbClr val="6B7A85"/>
            </a:solidFill>
            <a:prstDash val="dash"/>
          </a:ln>
        </p:spPr>
        <p:txBody>
          <a:bodyPr/>
          <a:lstStyle/>
          <a:p>
            <a:endParaRPr lang="en-US"/>
          </a:p>
        </p:txBody>
      </p:sp>
      <p:sp>
        <p:nvSpPr>
          <p:cNvPr id="50" name="Shape 48"/>
          <p:cNvSpPr/>
          <p:nvPr/>
        </p:nvSpPr>
        <p:spPr>
          <a:xfrm>
            <a:off x="10411968" y="3310128"/>
            <a:ext cx="146304" cy="146304"/>
          </a:xfrm>
          <a:prstGeom prst="ellipse">
            <a:avLst/>
          </a:prstGeom>
          <a:solidFill>
            <a:srgbClr val="9F1239"/>
          </a:solidFill>
          <a:ln w="12700">
            <a:solidFill>
              <a:srgbClr val="9F1239"/>
            </a:solidFill>
            <a:prstDash val="solid"/>
          </a:ln>
        </p:spPr>
        <p:txBody>
          <a:bodyPr/>
          <a:lstStyle/>
          <a:p>
            <a:endParaRPr lang="en-US"/>
          </a:p>
        </p:txBody>
      </p:sp>
      <p:sp>
        <p:nvSpPr>
          <p:cNvPr id="51" name="Text 49"/>
          <p:cNvSpPr/>
          <p:nvPr/>
        </p:nvSpPr>
        <p:spPr>
          <a:xfrm>
            <a:off x="9753600" y="2377440"/>
            <a:ext cx="1463040" cy="502920"/>
          </a:xfrm>
          <a:prstGeom prst="rect">
            <a:avLst/>
          </a:prstGeom>
          <a:noFill/>
          <a:ln/>
        </p:spPr>
        <p:txBody>
          <a:bodyPr wrap="square" lIns="0" tIns="0" rIns="0" bIns="0" rtlCol="0" anchor="b"/>
          <a:lstStyle/>
          <a:p>
            <a:pPr marL="0" indent="0" algn="ctr">
              <a:buNone/>
            </a:pPr>
            <a:r>
              <a:rPr lang="en-US" sz="950" dirty="0">
                <a:solidFill>
                  <a:srgbClr val="9F1239"/>
                </a:solidFill>
                <a:latin typeface="Calibri" pitchFamily="34" charset="0"/>
                <a:ea typeface="Calibri" pitchFamily="34" charset="-122"/>
                <a:cs typeface="Calibri" pitchFamily="34" charset="-120"/>
              </a:rPr>
              <a:t>PM2.5 NAAQS</a:t>
            </a:r>
            <a:endParaRPr lang="en-US" sz="950" dirty="0"/>
          </a:p>
          <a:p>
            <a:pPr marL="0" indent="0" algn="ctr">
              <a:buNone/>
            </a:pPr>
            <a:r>
              <a:rPr lang="en-US" sz="950" dirty="0">
                <a:solidFill>
                  <a:srgbClr val="9F1239"/>
                </a:solidFill>
                <a:latin typeface="Calibri" pitchFamily="34" charset="0"/>
                <a:ea typeface="Calibri" pitchFamily="34" charset="-122"/>
                <a:cs typeface="Calibri" pitchFamily="34" charset="-120"/>
              </a:rPr>
              <a:t>tightened 12 → 9 µg/m³</a:t>
            </a:r>
            <a:endParaRPr lang="en-US" sz="950" dirty="0"/>
          </a:p>
        </p:txBody>
      </p:sp>
      <p:sp>
        <p:nvSpPr>
          <p:cNvPr id="52" name="Shape 50"/>
          <p:cNvSpPr/>
          <p:nvPr/>
        </p:nvSpPr>
        <p:spPr>
          <a:xfrm>
            <a:off x="10485120" y="2880360"/>
            <a:ext cx="0" cy="457200"/>
          </a:xfrm>
          <a:prstGeom prst="line">
            <a:avLst/>
          </a:prstGeom>
          <a:noFill/>
          <a:ln w="12700">
            <a:solidFill>
              <a:srgbClr val="9F1239"/>
            </a:solidFill>
            <a:prstDash val="dash"/>
          </a:ln>
        </p:spPr>
        <p:txBody>
          <a:bodyPr/>
          <a:lstStyle/>
          <a:p>
            <a:endParaRPr lang="en-US"/>
          </a:p>
        </p:txBody>
      </p:sp>
      <p:sp>
        <p:nvSpPr>
          <p:cNvPr id="53" name="Text 51"/>
          <p:cNvSpPr/>
          <p:nvPr/>
        </p:nvSpPr>
        <p:spPr>
          <a:xfrm>
            <a:off x="777240" y="5303520"/>
            <a:ext cx="10607040" cy="685800"/>
          </a:xfrm>
          <a:prstGeom prst="rect">
            <a:avLst/>
          </a:prstGeom>
          <a:noFill/>
          <a:ln/>
        </p:spPr>
        <p:txBody>
          <a:bodyPr wrap="square" lIns="0" tIns="0" rIns="0" bIns="0" rtlCol="0" anchor="t"/>
          <a:lstStyle/>
          <a:p>
            <a:pPr marL="0" indent="0">
              <a:buNone/>
            </a:pPr>
            <a:r>
              <a:rPr lang="en-US" sz="1400" b="1" dirty="0">
                <a:solidFill>
                  <a:srgbClr val="C2410C"/>
                </a:solidFill>
                <a:latin typeface="Calibri" pitchFamily="34" charset="0"/>
                <a:ea typeface="Calibri" pitchFamily="34" charset="-122"/>
                <a:cs typeface="Calibri" pitchFamily="34" charset="-120"/>
              </a:rPr>
              <a:t>Action: </a:t>
            </a:r>
            <a:r>
              <a:rPr lang="en-US" sz="1400" dirty="0">
                <a:solidFill>
                  <a:srgbClr val="333333"/>
                </a:solidFill>
                <a:latin typeface="Calibri" pitchFamily="34" charset="0"/>
                <a:ea typeface="Calibri" pitchFamily="34" charset="-122"/>
                <a:cs typeface="Calibri" pitchFamily="34" charset="-120"/>
              </a:rPr>
              <a:t>Query aq.pollutant_hourly for PM2.5 method_code transitions at each of our 5 Coastal Bend PM2.5 sites. Any transition through code 170 → 145/209 needs to be documented in our methods writeup and considered as a potential step change in the time series.</a:t>
            </a:r>
            <a:endParaRPr lang="en-US" sz="1400" dirty="0"/>
          </a:p>
        </p:txBody>
      </p:sp>
      <p:sp>
        <p:nvSpPr>
          <p:cNvPr id="54" name="Text 52"/>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55" name="Text 53"/>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26 / 60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WEATHER</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PM2.5 – weather relationships (peer-reviewed)</a:t>
            </a:r>
            <a:endParaRPr lang="en-US" sz="3000" dirty="0"/>
          </a:p>
        </p:txBody>
      </p:sp>
      <p:sp>
        <p:nvSpPr>
          <p:cNvPr id="4" name="Shape 2"/>
          <p:cNvSpPr/>
          <p:nvPr/>
        </p:nvSpPr>
        <p:spPr>
          <a:xfrm>
            <a:off x="54864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365760" cy="365760"/>
          </a:xfrm>
          <a:prstGeom prst="rect">
            <a:avLst/>
          </a:prstGeom>
        </p:spPr>
      </p:pic>
      <p:sp>
        <p:nvSpPr>
          <p:cNvPr id="6" name="Text 3"/>
          <p:cNvSpPr/>
          <p:nvPr/>
        </p:nvSpPr>
        <p:spPr>
          <a:xfrm>
            <a:off x="1234440" y="1645920"/>
            <a:ext cx="2788920" cy="45720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Wind speed</a:t>
            </a:r>
            <a:endParaRPr lang="en-US" sz="2000" dirty="0"/>
          </a:p>
        </p:txBody>
      </p:sp>
      <p:sp>
        <p:nvSpPr>
          <p:cNvPr id="7" name="Text 4"/>
          <p:cNvSpPr/>
          <p:nvPr/>
        </p:nvSpPr>
        <p:spPr>
          <a:xfrm>
            <a:off x="73152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Higher winds dilute local emissions but transport marine sea salt AND long-range Saharan dust. Coastal Bend's ESE 5-10 m/s brings cleaner marine air; strong easterly waves (summer) bring dust.</a:t>
            </a:r>
            <a:endParaRPr lang="en-US" sz="1400" dirty="0"/>
          </a:p>
        </p:txBody>
      </p:sp>
      <p:sp>
        <p:nvSpPr>
          <p:cNvPr id="8" name="Shape 5"/>
          <p:cNvSpPr/>
          <p:nvPr/>
        </p:nvSpPr>
        <p:spPr>
          <a:xfrm>
            <a:off x="448056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63440" y="1691640"/>
            <a:ext cx="365760" cy="365760"/>
          </a:xfrm>
          <a:prstGeom prst="rect">
            <a:avLst/>
          </a:prstGeom>
        </p:spPr>
      </p:pic>
      <p:sp>
        <p:nvSpPr>
          <p:cNvPr id="10" name="Text 6"/>
          <p:cNvSpPr/>
          <p:nvPr/>
        </p:nvSpPr>
        <p:spPr>
          <a:xfrm>
            <a:off x="5166360" y="1645920"/>
            <a:ext cx="2788920" cy="45720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Wind direction (biggest signal)</a:t>
            </a:r>
            <a:endParaRPr lang="en-US" sz="2000" dirty="0"/>
          </a:p>
        </p:txBody>
      </p:sp>
      <p:sp>
        <p:nvSpPr>
          <p:cNvPr id="11" name="Text 7"/>
          <p:cNvSpPr/>
          <p:nvPr/>
        </p:nvSpPr>
        <p:spPr>
          <a:xfrm>
            <a:off x="466344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Single most important variable for Coastal Bend source attribution. Ship Channel wind rose points at Hillcrest/Dona Park/Holly; ESE = Saharan dust chemistry (Si, Al, Fe, Ca).</a:t>
            </a:r>
            <a:endParaRPr lang="en-US" sz="1400" dirty="0"/>
          </a:p>
        </p:txBody>
      </p:sp>
      <p:sp>
        <p:nvSpPr>
          <p:cNvPr id="12" name="Shape 8"/>
          <p:cNvSpPr/>
          <p:nvPr/>
        </p:nvSpPr>
        <p:spPr>
          <a:xfrm>
            <a:off x="841248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595360" y="1691640"/>
            <a:ext cx="365760" cy="365760"/>
          </a:xfrm>
          <a:prstGeom prst="rect">
            <a:avLst/>
          </a:prstGeom>
        </p:spPr>
      </p:pic>
      <p:sp>
        <p:nvSpPr>
          <p:cNvPr id="14" name="Text 9"/>
          <p:cNvSpPr/>
          <p:nvPr/>
        </p:nvSpPr>
        <p:spPr>
          <a:xfrm>
            <a:off x="9098280" y="1645920"/>
            <a:ext cx="2788920" cy="45720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Boundary layer height</a:t>
            </a:r>
            <a:endParaRPr lang="en-US" sz="2000" dirty="0"/>
          </a:p>
        </p:txBody>
      </p:sp>
      <p:sp>
        <p:nvSpPr>
          <p:cNvPr id="15" name="Text 10"/>
          <p:cNvSpPr/>
          <p:nvPr/>
        </p:nvSpPr>
        <p:spPr>
          <a:xfrm>
            <a:off x="859536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Nocturnal stable BL (100–300 m winter) traps emissions → morning peaks. Convective daytime BL (1500–2500 m summer) dilutes. Sea breeze creates internal structure → fumigation peaks inland.</a:t>
            </a:r>
            <a:endParaRPr lang="en-US" sz="1400" dirty="0"/>
          </a:p>
        </p:txBody>
      </p:sp>
      <p:sp>
        <p:nvSpPr>
          <p:cNvPr id="16" name="Shape 11"/>
          <p:cNvSpPr/>
          <p:nvPr/>
        </p:nvSpPr>
        <p:spPr>
          <a:xfrm>
            <a:off x="54864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4206240"/>
            <a:ext cx="365760" cy="365760"/>
          </a:xfrm>
          <a:prstGeom prst="rect">
            <a:avLst/>
          </a:prstGeom>
        </p:spPr>
      </p:pic>
      <p:sp>
        <p:nvSpPr>
          <p:cNvPr id="18" name="Text 12"/>
          <p:cNvSpPr/>
          <p:nvPr/>
        </p:nvSpPr>
        <p:spPr>
          <a:xfrm>
            <a:off x="1234440" y="4160520"/>
            <a:ext cx="2788920" cy="45720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Temperature</a:t>
            </a:r>
            <a:endParaRPr lang="en-US" sz="2000" dirty="0"/>
          </a:p>
        </p:txBody>
      </p:sp>
      <p:sp>
        <p:nvSpPr>
          <p:cNvPr id="19" name="Text 13"/>
          <p:cNvSpPr/>
          <p:nvPr/>
        </p:nvSpPr>
        <p:spPr>
          <a:xfrm>
            <a:off x="731520" y="47091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Net effect complex: higher T accelerates SOA formation but shifts NH4NO3 to gas phase and enhances mixing. Dawson 2007, Tai 2010.</a:t>
            </a:r>
            <a:endParaRPr lang="en-US" sz="1400" dirty="0"/>
          </a:p>
        </p:txBody>
      </p:sp>
      <p:sp>
        <p:nvSpPr>
          <p:cNvPr id="20" name="Shape 14"/>
          <p:cNvSpPr/>
          <p:nvPr/>
        </p:nvSpPr>
        <p:spPr>
          <a:xfrm>
            <a:off x="448056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663440" y="4206240"/>
            <a:ext cx="365760" cy="365760"/>
          </a:xfrm>
          <a:prstGeom prst="rect">
            <a:avLst/>
          </a:prstGeom>
        </p:spPr>
      </p:pic>
      <p:sp>
        <p:nvSpPr>
          <p:cNvPr id="22" name="Text 15"/>
          <p:cNvSpPr/>
          <p:nvPr/>
        </p:nvSpPr>
        <p:spPr>
          <a:xfrm>
            <a:off x="5166360" y="4160520"/>
            <a:ext cx="2788920" cy="45720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Humidity (RH)</a:t>
            </a:r>
            <a:endParaRPr lang="en-US" sz="2000" dirty="0"/>
          </a:p>
        </p:txBody>
      </p:sp>
      <p:sp>
        <p:nvSpPr>
          <p:cNvPr id="23" name="Text 16"/>
          <p:cNvSpPr/>
          <p:nvPr/>
        </p:nvSpPr>
        <p:spPr>
          <a:xfrm>
            <a:off x="4663440" y="47091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Sulfate/nitrate/ammonium undergo hygroscopic growth at RH &gt; 70%. Inflates optical + BAM readings in chronic 74–78% RH of Corpus Christi. FRM controls via 30-40% RH equilibration.</a:t>
            </a:r>
            <a:endParaRPr lang="en-US" sz="1400" dirty="0"/>
          </a:p>
        </p:txBody>
      </p:sp>
      <p:sp>
        <p:nvSpPr>
          <p:cNvPr id="24" name="Shape 17"/>
          <p:cNvSpPr/>
          <p:nvPr/>
        </p:nvSpPr>
        <p:spPr>
          <a:xfrm>
            <a:off x="841248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8595360" y="4206240"/>
            <a:ext cx="365760" cy="365760"/>
          </a:xfrm>
          <a:prstGeom prst="rect">
            <a:avLst/>
          </a:prstGeom>
        </p:spPr>
      </p:pic>
      <p:sp>
        <p:nvSpPr>
          <p:cNvPr id="26" name="Text 18"/>
          <p:cNvSpPr/>
          <p:nvPr/>
        </p:nvSpPr>
        <p:spPr>
          <a:xfrm>
            <a:off x="9098280" y="4160520"/>
            <a:ext cx="2788920" cy="45720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Sea-breeze cycle</a:t>
            </a:r>
            <a:endParaRPr lang="en-US" sz="2000" dirty="0"/>
          </a:p>
        </p:txBody>
      </p:sp>
      <p:sp>
        <p:nvSpPr>
          <p:cNvPr id="27" name="Text 19"/>
          <p:cNvSpPr/>
          <p:nvPr/>
        </p:nvSpPr>
        <p:spPr>
          <a:xfrm>
            <a:off x="8595360" y="47091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Dominant mesoscale feature in Coastal Bend. Daily onshore front concentrates emissions at the leading edge → short, high-conc PM2.5 pulses at inland receptor sites. Ignore this and source attribution goes wrong.</a:t>
            </a:r>
            <a:endParaRPr lang="en-US" sz="140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27 / 60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PM2.5 · OUR DATA</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Coastal Bend PM2.5 — 2024 in our pipeline</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260215258"/>
              </p:ext>
            </p:extLst>
          </p:nvPr>
        </p:nvGraphicFramePr>
        <p:xfrm>
          <a:off x="548640" y="1417320"/>
          <a:ext cx="11064240" cy="3699510"/>
        </p:xfrm>
        <a:graphic>
          <a:graphicData uri="http://schemas.openxmlformats.org/drawingml/2006/table">
            <a:tbl>
              <a:tblPr/>
              <a:tblGrid>
                <a:gridCol w="3108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44577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Site (AQSID)</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County</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2024 annual mean</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vs 9 µg/m³</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2024 24-hr 98p</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vs 35 µg/m³</a:t>
                      </a:r>
                      <a:endParaRPr lang="en-US" sz="16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4577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Port Isabel (480612004)</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Cameron</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21.02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EXCEEDS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64.96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EXCEEDS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77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Corpus Christi Holly (483550034)</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Nueces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11.61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EXCEEDS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39.67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EXCEEDS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4577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Corpus Christi Dona Park (483550032)</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Nueces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10.34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EXCEEDS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n/a in 2024</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77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Brownsville Roca (480611098)</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Cameron</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36.56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EXCEEDS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4577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Corpus Christi West (483550025)</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Nueces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&lt; 9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&lt; 35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77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Corpus Christi Tuloso (483550026)</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Nueces</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&lt; 9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&lt; 35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45770">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Kingsville (482730314)</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Kleberg</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&lt; 9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&lt; 35 µg/m³</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166360"/>
            <a:ext cx="11064240" cy="1188720"/>
          </a:xfrm>
          <a:prstGeom prst="roundRect">
            <a:avLst>
              <a:gd name="adj" fmla="val 6154"/>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777240" y="5257800"/>
            <a:ext cx="10607040" cy="1051560"/>
          </a:xfrm>
          <a:prstGeom prst="rect">
            <a:avLst/>
          </a:prstGeom>
          <a:noFill/>
          <a:ln/>
        </p:spPr>
        <p:txBody>
          <a:bodyPr wrap="square" lIns="0" tIns="0" rIns="0" bIns="0" rtlCol="0" anchor="t"/>
          <a:lstStyle/>
          <a:p>
            <a:pPr marL="0" indent="0">
              <a:buNone/>
            </a:pPr>
            <a:r>
              <a:rPr lang="en-US" sz="1400" b="1" dirty="0">
                <a:solidFill>
                  <a:srgbClr val="C2410C"/>
                </a:solidFill>
                <a:latin typeface="Calibri" pitchFamily="34" charset="0"/>
                <a:ea typeface="Calibri" pitchFamily="34" charset="-122"/>
                <a:cs typeface="Calibri" pitchFamily="34" charset="-120"/>
              </a:rPr>
              <a:t>Reading these numbers: </a:t>
            </a:r>
            <a:r>
              <a:rPr lang="en-US" sz="1400" dirty="0">
                <a:solidFill>
                  <a:srgbClr val="333333"/>
                </a:solidFill>
                <a:latin typeface="Calibri" pitchFamily="34" charset="0"/>
                <a:ea typeface="Calibri" pitchFamily="34" charset="-122"/>
                <a:cs typeface="Calibri" pitchFamily="34" charset="-120"/>
              </a:rPr>
              <a:t>Port Isabel's 21 µg/m³ annual is extreme — investigate for a very localized source, a dust-dominated regime, or a sensor issue before publishing.  Corpus Christi Holly's 11.61 exceeding the new 9 µg/m³ standard is the most population-consequential finding — residential neighborhood adjacent to the Ship Channel, historically Hispanic/Latino, aligns with the Bekkar 2020 environmental-justice risk profile.  Dona Park is a similar story at 10.34.  Follow-up: site-specific method_code audit for all three, review 3-yr rolling average (design value is 3-yr avg, not single-year), confirm 88101 vs 88502 subset used.</a:t>
            </a:r>
            <a:endParaRPr lang="en-US" sz="1400" dirty="0"/>
          </a:p>
        </p:txBody>
      </p:sp>
      <p:sp>
        <p:nvSpPr>
          <p:cNvPr id="7" name="Text 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8" name="Text 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28 / 60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A38"/>
        </a:solidFill>
        <a:effectLst/>
      </p:bgPr>
    </p:bg>
    <p:spTree>
      <p:nvGrpSpPr>
        <p:cNvPr id="1" name=""/>
        <p:cNvGrpSpPr/>
        <p:nvPr/>
      </p:nvGrpSpPr>
      <p:grpSpPr>
        <a:xfrm>
          <a:off x="0" y="0"/>
          <a:ext cx="0" cy="0"/>
          <a:chOff x="0" y="0"/>
          <a:chExt cx="0" cy="0"/>
        </a:xfrm>
      </p:grpSpPr>
      <p:sp>
        <p:nvSpPr>
          <p:cNvPr id="2" name="Text 0"/>
          <p:cNvSpPr/>
          <p:nvPr/>
        </p:nvSpPr>
        <p:spPr>
          <a:xfrm>
            <a:off x="548640" y="2743200"/>
            <a:ext cx="10972800" cy="365760"/>
          </a:xfrm>
          <a:prstGeom prst="rect">
            <a:avLst/>
          </a:prstGeom>
          <a:noFill/>
          <a:ln/>
        </p:spPr>
        <p:txBody>
          <a:bodyPr wrap="square" lIns="0" tIns="0" rIns="0" bIns="0" rtlCol="0" anchor="ctr"/>
          <a:lstStyle/>
          <a:p>
            <a:pPr marL="0" indent="0">
              <a:buNone/>
            </a:pPr>
            <a:r>
              <a:rPr lang="en-US" sz="1200" b="1" kern="0" spc="400" dirty="0">
                <a:solidFill>
                  <a:srgbClr val="C2410C"/>
                </a:solidFill>
                <a:latin typeface="Calibri" pitchFamily="34" charset="0"/>
                <a:ea typeface="Calibri" pitchFamily="34" charset="-122"/>
                <a:cs typeface="Calibri" pitchFamily="34" charset="-120"/>
              </a:rPr>
              <a:t>SECTION 4</a:t>
            </a:r>
            <a:endParaRPr lang="en-US" sz="1200" dirty="0"/>
          </a:p>
        </p:txBody>
      </p:sp>
      <p:sp>
        <p:nvSpPr>
          <p:cNvPr id="3" name="Text 1"/>
          <p:cNvSpPr/>
          <p:nvPr/>
        </p:nvSpPr>
        <p:spPr>
          <a:xfrm>
            <a:off x="548640" y="3108960"/>
            <a:ext cx="10972800" cy="14630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PM10 — coarse particulate matter</a:t>
            </a:r>
            <a:endParaRPr lang="en-US" sz="5400" dirty="0"/>
          </a:p>
        </p:txBody>
      </p:sp>
      <p:sp>
        <p:nvSpPr>
          <p:cNvPr id="4" name="Text 2"/>
          <p:cNvSpPr/>
          <p:nvPr/>
        </p:nvSpPr>
        <p:spPr>
          <a:xfrm>
            <a:off x="548640" y="4480560"/>
            <a:ext cx="10972800" cy="457200"/>
          </a:xfrm>
          <a:prstGeom prst="rect">
            <a:avLst/>
          </a:prstGeom>
          <a:noFill/>
          <a:ln/>
        </p:spPr>
        <p:txBody>
          <a:bodyPr wrap="square" lIns="0" tIns="0" rIns="0" bIns="0" rtlCol="0" anchor="ctr"/>
          <a:lstStyle/>
          <a:p>
            <a:pPr marL="0" indent="0">
              <a:buNone/>
            </a:pPr>
            <a:r>
              <a:rPr lang="en-US" sz="1600" i="1" dirty="0">
                <a:solidFill>
                  <a:srgbClr val="AABBC8"/>
                </a:solidFill>
                <a:latin typeface="Calibri" pitchFamily="34" charset="0"/>
                <a:ea typeface="Calibri" pitchFamily="34" charset="-122"/>
                <a:cs typeface="Calibri" pitchFamily="34" charset="-120"/>
              </a:rPr>
              <a:t>Thoracic-fraction mass. In the Coastal Bend, dominated by sea salt + episodic Saharan dust.</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What PM10 is — the thoracic fraction</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Definition (40 CFR Part 50 Appendix J)</a:t>
            </a:r>
            <a:endParaRPr lang="en-US"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300"/>
              </a:spcAft>
              <a:buNone/>
            </a:pPr>
            <a:r>
              <a:rPr lang="en-US" sz="1400" dirty="0">
                <a:solidFill>
                  <a:srgbClr val="333333"/>
                </a:solidFill>
                <a:latin typeface="Calibri" pitchFamily="34" charset="0"/>
                <a:ea typeface="Calibri" pitchFamily="34" charset="-122"/>
                <a:cs typeface="Calibri" pitchFamily="34" charset="-120"/>
              </a:rPr>
              <a:t>Airborne particulate matter with </a:t>
            </a:r>
            <a:r>
              <a:rPr lang="en-US" sz="1400" b="1" dirty="0">
                <a:solidFill>
                  <a:srgbClr val="C2410C"/>
                </a:solidFill>
                <a:latin typeface="Calibri" pitchFamily="34" charset="0"/>
                <a:ea typeface="Calibri" pitchFamily="34" charset="-122"/>
                <a:cs typeface="Calibri" pitchFamily="34" charset="-120"/>
              </a:rPr>
              <a:t>aerodynamic diameter ≤ 10 µm</a:t>
            </a:r>
            <a:r>
              <a:rPr lang="en-US" sz="1400" dirty="0">
                <a:solidFill>
                  <a:srgbClr val="333333"/>
                </a:solidFill>
                <a:latin typeface="Calibri" pitchFamily="34" charset="0"/>
                <a:ea typeface="Calibri" pitchFamily="34" charset="-122"/>
                <a:cs typeface="Calibri" pitchFamily="34" charset="-120"/>
              </a:rPr>
              <a:t> — often called the thoracic fraction because these particles penetrate past the larynx.
PM10 is not a single population — it's the sum of two overlapping modes:</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Fine mode (≤ 2.5 µm) = PM2.5 (secondary aerosol, combustion)</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Coarse mode (2.5–10 µm) = mechanical + biological (crustal dust, sea salt, pollen)</a:t>
            </a:r>
          </a:p>
          <a:p>
            <a:pPr marL="174625">
              <a:spcAft>
                <a:spcPts val="300"/>
              </a:spcAft>
              <a:buSzPct val="100000"/>
            </a:pPr>
            <a:endParaRPr lang="en-US" sz="1400" dirty="0"/>
          </a:p>
          <a:p>
            <a:pPr marL="0" indent="0">
              <a:spcAft>
                <a:spcPts val="300"/>
              </a:spcAft>
              <a:buNone/>
            </a:pPr>
            <a:r>
              <a:rPr lang="en-US" sz="1400" b="1" dirty="0">
                <a:solidFill>
                  <a:srgbClr val="333333"/>
                </a:solidFill>
                <a:latin typeface="Calibri" pitchFamily="34" charset="0"/>
                <a:ea typeface="Calibri" pitchFamily="34" charset="-122"/>
                <a:cs typeface="Calibri" pitchFamily="34" charset="-120"/>
              </a:rPr>
              <a:t>Coarse-mode chemistry differs sharply from PM2.5:</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Crustal: Al, Si, Ca, Fe, K (wind-blown dust)</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Sea salt: Na, Cl, Mg, sulfate (bubble-bursting → Coastal Bend baseline)</a:t>
            </a:r>
            <a:endParaRPr lang="en-US" sz="1400" dirty="0"/>
          </a:p>
          <a:p>
            <a:pPr marL="460375"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Biological: pollen, spores, endotoxin, bacteria</a:t>
            </a:r>
            <a:endParaRPr lang="en-US" sz="1400" dirty="0"/>
          </a:p>
        </p:txBody>
      </p:sp>
      <p:sp>
        <p:nvSpPr>
          <p:cNvPr id="7" name="Shape 5"/>
          <p:cNvSpPr/>
          <p:nvPr/>
        </p:nvSpPr>
        <p:spPr>
          <a:xfrm>
            <a:off x="653796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Respiratory deposition by size</a:t>
            </a:r>
            <a:endParaRPr lang="en-US" dirty="0"/>
          </a:p>
        </p:txBody>
      </p:sp>
      <p:sp>
        <p:nvSpPr>
          <p:cNvPr id="9" name="Shape 7"/>
          <p:cNvSpPr/>
          <p:nvPr/>
        </p:nvSpPr>
        <p:spPr>
          <a:xfrm>
            <a:off x="6766560" y="2011680"/>
            <a:ext cx="4709160" cy="1097280"/>
          </a:xfrm>
          <a:prstGeom prst="roundRect">
            <a:avLst>
              <a:gd name="adj" fmla="val 5000"/>
            </a:avLst>
          </a:prstGeom>
          <a:solidFill>
            <a:srgbClr val="FFFFFF"/>
          </a:solidFill>
          <a:ln w="19050">
            <a:solidFill>
              <a:srgbClr val="C2410C"/>
            </a:solidFill>
            <a:prstDash val="solid"/>
          </a:ln>
        </p:spPr>
        <p:txBody>
          <a:bodyPr/>
          <a:lstStyle/>
          <a:p>
            <a:endParaRPr lang="en-US" sz="2400"/>
          </a:p>
        </p:txBody>
      </p:sp>
      <p:sp>
        <p:nvSpPr>
          <p:cNvPr id="10" name="Text 8"/>
          <p:cNvSpPr/>
          <p:nvPr/>
        </p:nvSpPr>
        <p:spPr>
          <a:xfrm>
            <a:off x="6903720" y="2103120"/>
            <a:ext cx="4434840" cy="274320"/>
          </a:xfrm>
          <a:prstGeom prst="rect">
            <a:avLst/>
          </a:prstGeom>
          <a:noFill/>
          <a:ln/>
        </p:spPr>
        <p:txBody>
          <a:bodyPr wrap="square" lIns="0" tIns="0" rIns="0" bIns="0" rtlCol="0" anchor="ctr"/>
          <a:lstStyle/>
          <a:p>
            <a:pPr marL="0" indent="0">
              <a:buNone/>
            </a:pPr>
            <a:r>
              <a:rPr lang="en-US" sz="1600" b="1" dirty="0">
                <a:solidFill>
                  <a:srgbClr val="C2410C"/>
                </a:solidFill>
                <a:latin typeface="Cambria" pitchFamily="34" charset="0"/>
                <a:ea typeface="Cambria" pitchFamily="34" charset="-122"/>
                <a:cs typeface="Cambria" pitchFamily="34" charset="-120"/>
              </a:rPr>
              <a:t>Nose / pharynx</a:t>
            </a:r>
            <a:endParaRPr lang="en-US" sz="1600" dirty="0"/>
          </a:p>
        </p:txBody>
      </p:sp>
      <p:sp>
        <p:nvSpPr>
          <p:cNvPr id="11" name="Text 9"/>
          <p:cNvSpPr/>
          <p:nvPr/>
        </p:nvSpPr>
        <p:spPr>
          <a:xfrm>
            <a:off x="6903720" y="2377440"/>
            <a:ext cx="4434840" cy="27432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PM10 (2.5–10 µm)</a:t>
            </a:r>
            <a:endParaRPr lang="en-US" sz="1100" dirty="0"/>
          </a:p>
        </p:txBody>
      </p:sp>
      <p:sp>
        <p:nvSpPr>
          <p:cNvPr id="12" name="Text 10"/>
          <p:cNvSpPr/>
          <p:nvPr/>
        </p:nvSpPr>
        <p:spPr>
          <a:xfrm>
            <a:off x="6903720" y="2633472"/>
            <a:ext cx="4434840" cy="457200"/>
          </a:xfrm>
          <a:prstGeom prst="rect">
            <a:avLst/>
          </a:prstGeom>
          <a:noFill/>
          <a:ln/>
        </p:spPr>
        <p:txBody>
          <a:bodyPr wrap="square" lIns="0" tIns="0" rIns="0" bIns="0" rtlCol="0" anchor="t"/>
          <a:lstStyle/>
          <a:p>
            <a:pPr marL="0" indent="0">
              <a:buNone/>
            </a:pPr>
            <a:r>
              <a:rPr lang="en-US" sz="1100" dirty="0">
                <a:solidFill>
                  <a:srgbClr val="333333"/>
                </a:solidFill>
                <a:latin typeface="Calibri" pitchFamily="34" charset="0"/>
                <a:ea typeface="Calibri" pitchFamily="34" charset="-122"/>
                <a:cs typeface="Calibri" pitchFamily="34" charset="-120"/>
              </a:rPr>
              <a:t>Mucociliary clearance; upper-airway inflammation</a:t>
            </a:r>
            <a:endParaRPr lang="en-US" sz="1100" dirty="0"/>
          </a:p>
        </p:txBody>
      </p:sp>
      <p:sp>
        <p:nvSpPr>
          <p:cNvPr id="13" name="Shape 11"/>
          <p:cNvSpPr/>
          <p:nvPr/>
        </p:nvSpPr>
        <p:spPr>
          <a:xfrm>
            <a:off x="6766560" y="3246120"/>
            <a:ext cx="4709160" cy="1097280"/>
          </a:xfrm>
          <a:prstGeom prst="roundRect">
            <a:avLst>
              <a:gd name="adj" fmla="val 5000"/>
            </a:avLst>
          </a:prstGeom>
          <a:solidFill>
            <a:srgbClr val="FFFFFF"/>
          </a:solidFill>
          <a:ln w="19050">
            <a:solidFill>
              <a:srgbClr val="0F766E"/>
            </a:solidFill>
            <a:prstDash val="solid"/>
          </a:ln>
        </p:spPr>
        <p:txBody>
          <a:bodyPr/>
          <a:lstStyle/>
          <a:p>
            <a:endParaRPr lang="en-US" sz="2400"/>
          </a:p>
        </p:txBody>
      </p:sp>
      <p:sp>
        <p:nvSpPr>
          <p:cNvPr id="14" name="Text 12"/>
          <p:cNvSpPr/>
          <p:nvPr/>
        </p:nvSpPr>
        <p:spPr>
          <a:xfrm>
            <a:off x="6903720" y="3337560"/>
            <a:ext cx="4434840" cy="27432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Trachea / bronchi</a:t>
            </a:r>
            <a:endParaRPr lang="en-US" sz="1600" dirty="0"/>
          </a:p>
        </p:txBody>
      </p:sp>
      <p:sp>
        <p:nvSpPr>
          <p:cNvPr id="15" name="Text 13"/>
          <p:cNvSpPr/>
          <p:nvPr/>
        </p:nvSpPr>
        <p:spPr>
          <a:xfrm>
            <a:off x="6903720" y="3611880"/>
            <a:ext cx="4434840" cy="27432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PM10-2.5 mixed</a:t>
            </a:r>
            <a:endParaRPr lang="en-US" sz="1100" dirty="0"/>
          </a:p>
        </p:txBody>
      </p:sp>
      <p:sp>
        <p:nvSpPr>
          <p:cNvPr id="16" name="Text 14"/>
          <p:cNvSpPr/>
          <p:nvPr/>
        </p:nvSpPr>
        <p:spPr>
          <a:xfrm>
            <a:off x="6903720" y="3867912"/>
            <a:ext cx="4434840" cy="457200"/>
          </a:xfrm>
          <a:prstGeom prst="rect">
            <a:avLst/>
          </a:prstGeom>
          <a:noFill/>
          <a:ln/>
        </p:spPr>
        <p:txBody>
          <a:bodyPr wrap="square" lIns="0" tIns="0" rIns="0" bIns="0" rtlCol="0" anchor="t"/>
          <a:lstStyle/>
          <a:p>
            <a:pPr marL="0" indent="0">
              <a:buNone/>
            </a:pPr>
            <a:r>
              <a:rPr lang="en-US" sz="1100" dirty="0">
                <a:solidFill>
                  <a:srgbClr val="333333"/>
                </a:solidFill>
                <a:latin typeface="Calibri" pitchFamily="34" charset="0"/>
                <a:ea typeface="Calibri" pitchFamily="34" charset="-122"/>
                <a:cs typeface="Calibri" pitchFamily="34" charset="-120"/>
              </a:rPr>
              <a:t>COPD, asthma exacerbation, bronchial irritation</a:t>
            </a:r>
            <a:endParaRPr lang="en-US" sz="1100" dirty="0"/>
          </a:p>
        </p:txBody>
      </p:sp>
      <p:sp>
        <p:nvSpPr>
          <p:cNvPr id="17" name="Shape 15"/>
          <p:cNvSpPr/>
          <p:nvPr/>
        </p:nvSpPr>
        <p:spPr>
          <a:xfrm>
            <a:off x="6766560" y="4480560"/>
            <a:ext cx="4709160" cy="1097280"/>
          </a:xfrm>
          <a:prstGeom prst="roundRect">
            <a:avLst>
              <a:gd name="adj" fmla="val 5000"/>
            </a:avLst>
          </a:prstGeom>
          <a:solidFill>
            <a:srgbClr val="FFFFFF"/>
          </a:solidFill>
          <a:ln w="19050">
            <a:solidFill>
              <a:srgbClr val="9F1239"/>
            </a:solidFill>
            <a:prstDash val="solid"/>
          </a:ln>
        </p:spPr>
        <p:txBody>
          <a:bodyPr/>
          <a:lstStyle/>
          <a:p>
            <a:endParaRPr lang="en-US"/>
          </a:p>
        </p:txBody>
      </p:sp>
      <p:sp>
        <p:nvSpPr>
          <p:cNvPr id="18" name="Text 16"/>
          <p:cNvSpPr/>
          <p:nvPr/>
        </p:nvSpPr>
        <p:spPr>
          <a:xfrm>
            <a:off x="6903720" y="4572000"/>
            <a:ext cx="4434840" cy="274320"/>
          </a:xfrm>
          <a:prstGeom prst="rect">
            <a:avLst/>
          </a:prstGeom>
          <a:noFill/>
          <a:ln/>
        </p:spPr>
        <p:txBody>
          <a:bodyPr wrap="square" lIns="0" tIns="0" rIns="0" bIns="0" rtlCol="0" anchor="ctr"/>
          <a:lstStyle/>
          <a:p>
            <a:pPr marL="0" indent="0">
              <a:buNone/>
            </a:pPr>
            <a:r>
              <a:rPr lang="en-US" sz="1600" b="1" dirty="0">
                <a:solidFill>
                  <a:srgbClr val="9F1239"/>
                </a:solidFill>
                <a:latin typeface="Cambria" pitchFamily="34" charset="0"/>
                <a:ea typeface="Cambria" pitchFamily="34" charset="-122"/>
                <a:cs typeface="Cambria" pitchFamily="34" charset="-120"/>
              </a:rPr>
              <a:t>Alveoli / systemic</a:t>
            </a:r>
            <a:endParaRPr lang="en-US" sz="1600" dirty="0"/>
          </a:p>
        </p:txBody>
      </p:sp>
      <p:sp>
        <p:nvSpPr>
          <p:cNvPr id="19" name="Text 17"/>
          <p:cNvSpPr/>
          <p:nvPr/>
        </p:nvSpPr>
        <p:spPr>
          <a:xfrm>
            <a:off x="6903720" y="4846320"/>
            <a:ext cx="4434840" cy="274320"/>
          </a:xfrm>
          <a:prstGeom prst="rect">
            <a:avLst/>
          </a:prstGeom>
          <a:noFill/>
          <a:ln/>
        </p:spPr>
        <p:txBody>
          <a:bodyPr wrap="square" lIns="0" tIns="0" rIns="0" bIns="0" rtlCol="0" anchor="ctr"/>
          <a:lstStyle/>
          <a:p>
            <a:pPr marL="0" indent="0">
              <a:buNone/>
            </a:pPr>
            <a:r>
              <a:rPr lang="en-US" sz="1100" i="1" dirty="0">
                <a:solidFill>
                  <a:srgbClr val="6B7A85"/>
                </a:solidFill>
                <a:latin typeface="Calibri" pitchFamily="34" charset="0"/>
                <a:ea typeface="Calibri" pitchFamily="34" charset="-122"/>
                <a:cs typeface="Calibri" pitchFamily="34" charset="-120"/>
              </a:rPr>
              <a:t>PM2.5 fine + UFP</a:t>
            </a:r>
            <a:endParaRPr lang="en-US" sz="1100" dirty="0"/>
          </a:p>
        </p:txBody>
      </p:sp>
      <p:sp>
        <p:nvSpPr>
          <p:cNvPr id="20" name="Text 18"/>
          <p:cNvSpPr/>
          <p:nvPr/>
        </p:nvSpPr>
        <p:spPr>
          <a:xfrm>
            <a:off x="6903720" y="5102352"/>
            <a:ext cx="4434840" cy="457200"/>
          </a:xfrm>
          <a:prstGeom prst="rect">
            <a:avLst/>
          </a:prstGeom>
          <a:noFill/>
          <a:ln/>
        </p:spPr>
        <p:txBody>
          <a:bodyPr wrap="square" lIns="0" tIns="0" rIns="0" bIns="0" rtlCol="0" anchor="t"/>
          <a:lstStyle/>
          <a:p>
            <a:pPr marL="0" indent="0">
              <a:buNone/>
            </a:pPr>
            <a:r>
              <a:rPr lang="en-US" sz="1100" dirty="0">
                <a:solidFill>
                  <a:srgbClr val="333333"/>
                </a:solidFill>
                <a:latin typeface="Calibri" pitchFamily="34" charset="0"/>
                <a:ea typeface="Calibri" pitchFamily="34" charset="-122"/>
                <a:cs typeface="Calibri" pitchFamily="34" charset="-120"/>
              </a:rPr>
              <a:t>Cardiovascular, systemic inflammation, deep-lung retention</a:t>
            </a:r>
            <a:endParaRPr lang="en-US" sz="1100" dirty="0"/>
          </a:p>
        </p:txBody>
      </p:sp>
      <p:sp>
        <p:nvSpPr>
          <p:cNvPr id="21" name="Text 19"/>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2" name="Text 20"/>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30 / 60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SOURCES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PM10 sources — dominant in the Coastal Bend</a:t>
            </a:r>
            <a:endParaRPr lang="en-US" sz="3000" dirty="0"/>
          </a:p>
        </p:txBody>
      </p:sp>
      <p:sp>
        <p:nvSpPr>
          <p:cNvPr id="4" name="Shape 2"/>
          <p:cNvSpPr/>
          <p:nvPr/>
        </p:nvSpPr>
        <p:spPr>
          <a:xfrm>
            <a:off x="548640" y="1463040"/>
            <a:ext cx="356616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45920"/>
            <a:ext cx="411480" cy="411480"/>
          </a:xfrm>
          <a:prstGeom prst="rect">
            <a:avLst/>
          </a:prstGeom>
        </p:spPr>
      </p:pic>
      <p:sp>
        <p:nvSpPr>
          <p:cNvPr id="6" name="Text 3"/>
          <p:cNvSpPr/>
          <p:nvPr/>
        </p:nvSpPr>
        <p:spPr>
          <a:xfrm>
            <a:off x="1280160" y="1600200"/>
            <a:ext cx="2743200" cy="50292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Sea salt aerosol</a:t>
            </a:r>
            <a:endParaRPr lang="en-US" sz="2000" dirty="0"/>
          </a:p>
        </p:txBody>
      </p:sp>
      <p:sp>
        <p:nvSpPr>
          <p:cNvPr id="7" name="Text 4"/>
          <p:cNvSpPr/>
          <p:nvPr/>
        </p:nvSpPr>
        <p:spPr>
          <a:xfrm>
            <a:off x="731520" y="2148840"/>
            <a:ext cx="3246120" cy="1554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Generated by bubble bursting and jet drop production in whitecaps. Dominant coarse-mode source in coastal environments. Coastal Bend's prevailing SE Gulf wind delivers near-continuous sea salt. Studies in Mediterranean and Gulf coasts show &gt; 50% of summer PM10 mass at coastal receptors can be sea salt.</a:t>
            </a:r>
            <a:endParaRPr lang="en-US" sz="1200" dirty="0"/>
          </a:p>
        </p:txBody>
      </p:sp>
      <p:sp>
        <p:nvSpPr>
          <p:cNvPr id="8" name="Shape 5"/>
          <p:cNvSpPr/>
          <p:nvPr/>
        </p:nvSpPr>
        <p:spPr>
          <a:xfrm>
            <a:off x="4480560" y="1463040"/>
            <a:ext cx="356616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63440" y="1645920"/>
            <a:ext cx="411480" cy="411480"/>
          </a:xfrm>
          <a:prstGeom prst="rect">
            <a:avLst/>
          </a:prstGeom>
        </p:spPr>
      </p:pic>
      <p:sp>
        <p:nvSpPr>
          <p:cNvPr id="10" name="Text 6"/>
          <p:cNvSpPr/>
          <p:nvPr/>
        </p:nvSpPr>
        <p:spPr>
          <a:xfrm>
            <a:off x="5212080" y="1600200"/>
            <a:ext cx="2743200" cy="50292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Windblown mineral dust</a:t>
            </a:r>
            <a:endParaRPr lang="en-US" sz="2000" dirty="0"/>
          </a:p>
        </p:txBody>
      </p:sp>
      <p:sp>
        <p:nvSpPr>
          <p:cNvPr id="11" name="Text 7"/>
          <p:cNvSpPr/>
          <p:nvPr/>
        </p:nvSpPr>
        <p:spPr>
          <a:xfrm>
            <a:off x="4663440" y="2148840"/>
            <a:ext cx="3246120" cy="1554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Emission scales roughly as u*³ above threshold friction velocity (~5-7 m/s at 10 m for undisturbed soils). Local dust from South Texas agricultural belt (grain sorghum, cotton, corn). Multi-year La Niña drought (2020-2025) has increased soil erodibility and dust event frequency.</a:t>
            </a:r>
            <a:endParaRPr lang="en-US" sz="1200" dirty="0"/>
          </a:p>
        </p:txBody>
      </p:sp>
      <p:sp>
        <p:nvSpPr>
          <p:cNvPr id="12" name="Shape 8"/>
          <p:cNvSpPr/>
          <p:nvPr/>
        </p:nvSpPr>
        <p:spPr>
          <a:xfrm>
            <a:off x="8412480" y="1463040"/>
            <a:ext cx="356616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595360" y="1645920"/>
            <a:ext cx="411480" cy="411480"/>
          </a:xfrm>
          <a:prstGeom prst="rect">
            <a:avLst/>
          </a:prstGeom>
        </p:spPr>
      </p:pic>
      <p:sp>
        <p:nvSpPr>
          <p:cNvPr id="14" name="Text 9"/>
          <p:cNvSpPr/>
          <p:nvPr/>
        </p:nvSpPr>
        <p:spPr>
          <a:xfrm>
            <a:off x="9144000" y="1600200"/>
            <a:ext cx="2743200" cy="50292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Trans-Atlantic Saharan dust</a:t>
            </a:r>
            <a:endParaRPr lang="en-US" sz="2000" dirty="0"/>
          </a:p>
        </p:txBody>
      </p:sp>
      <p:sp>
        <p:nvSpPr>
          <p:cNvPr id="15" name="Text 10"/>
          <p:cNvSpPr/>
          <p:nvPr/>
        </p:nvSpPr>
        <p:spPr>
          <a:xfrm>
            <a:off x="8595360" y="2148840"/>
            <a:ext cx="3246120" cy="1554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June-August peak; Bozlaker et al. 2019 quantified an 85% dust increase in Houston/Galveston PM10 during the July 2008 Saharan intrusion. The same air mass reaches Coastal Bend. Signal is biological + mineral — carries endotoxin, fungal spores, respirable metals (Bozlaker 2024 ES&amp;T).</a:t>
            </a:r>
            <a:endParaRPr lang="en-US" sz="1200" dirty="0"/>
          </a:p>
        </p:txBody>
      </p:sp>
      <p:sp>
        <p:nvSpPr>
          <p:cNvPr id="16" name="Shape 11"/>
          <p:cNvSpPr/>
          <p:nvPr/>
        </p:nvSpPr>
        <p:spPr>
          <a:xfrm>
            <a:off x="548640" y="3977640"/>
            <a:ext cx="356616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4160520"/>
            <a:ext cx="411480" cy="411480"/>
          </a:xfrm>
          <a:prstGeom prst="rect">
            <a:avLst/>
          </a:prstGeom>
        </p:spPr>
      </p:pic>
      <p:sp>
        <p:nvSpPr>
          <p:cNvPr id="18" name="Text 12"/>
          <p:cNvSpPr/>
          <p:nvPr/>
        </p:nvSpPr>
        <p:spPr>
          <a:xfrm>
            <a:off x="1280160" y="4114800"/>
            <a:ext cx="2743200" cy="50292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Road dust (paved + unpaved)</a:t>
            </a:r>
            <a:endParaRPr lang="en-US" sz="2000" dirty="0"/>
          </a:p>
        </p:txBody>
      </p:sp>
      <p:sp>
        <p:nvSpPr>
          <p:cNvPr id="19" name="Text 13"/>
          <p:cNvSpPr/>
          <p:nvPr/>
        </p:nvSpPr>
        <p:spPr>
          <a:xfrm>
            <a:off x="731520" y="4663440"/>
            <a:ext cx="3246120" cy="1554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Resuspended by vehicle turbulence. Paved-road fraction dominates urban PM10 in Corpus Christi's Ship Channel corridor. Unpaved-road dust more relevant to rural Kleberg / San Patricio / Jim Wells.</a:t>
            </a:r>
            <a:endParaRPr lang="en-US" sz="1200" dirty="0"/>
          </a:p>
        </p:txBody>
      </p:sp>
      <p:sp>
        <p:nvSpPr>
          <p:cNvPr id="20" name="Shape 14"/>
          <p:cNvSpPr/>
          <p:nvPr/>
        </p:nvSpPr>
        <p:spPr>
          <a:xfrm>
            <a:off x="4480560" y="3977640"/>
            <a:ext cx="356616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663440" y="4160520"/>
            <a:ext cx="411480" cy="411480"/>
          </a:xfrm>
          <a:prstGeom prst="rect">
            <a:avLst/>
          </a:prstGeom>
        </p:spPr>
      </p:pic>
      <p:sp>
        <p:nvSpPr>
          <p:cNvPr id="22" name="Text 15"/>
          <p:cNvSpPr/>
          <p:nvPr/>
        </p:nvSpPr>
        <p:spPr>
          <a:xfrm>
            <a:off x="5212080" y="4114800"/>
            <a:ext cx="2743200" cy="50292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Port + Ship Channel fugitive dust</a:t>
            </a:r>
            <a:endParaRPr lang="en-US" sz="2000" dirty="0"/>
          </a:p>
        </p:txBody>
      </p:sp>
      <p:sp>
        <p:nvSpPr>
          <p:cNvPr id="23" name="Text 16"/>
          <p:cNvSpPr/>
          <p:nvPr/>
        </p:nvSpPr>
        <p:spPr>
          <a:xfrm>
            <a:off x="4663440" y="4663440"/>
            <a:ext cx="3246120" cy="1554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Port of Corpus Christi is the largest US crude oil export port. Bulk material handling (petroleum coke, aggregate, fertilizer), unpaved industrial yards, and heavy diesel traffic generate localized coarse PM around Hillcrest/Dona Park/Holly.</a:t>
            </a:r>
            <a:endParaRPr lang="en-US" sz="1200" dirty="0"/>
          </a:p>
        </p:txBody>
      </p:sp>
      <p:sp>
        <p:nvSpPr>
          <p:cNvPr id="24" name="Shape 17"/>
          <p:cNvSpPr/>
          <p:nvPr/>
        </p:nvSpPr>
        <p:spPr>
          <a:xfrm>
            <a:off x="8412480" y="3977640"/>
            <a:ext cx="356616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8595360" y="4160520"/>
            <a:ext cx="411480" cy="411480"/>
          </a:xfrm>
          <a:prstGeom prst="rect">
            <a:avLst/>
          </a:prstGeom>
        </p:spPr>
      </p:pic>
      <p:sp>
        <p:nvSpPr>
          <p:cNvPr id="26" name="Text 18"/>
          <p:cNvSpPr/>
          <p:nvPr/>
        </p:nvSpPr>
        <p:spPr>
          <a:xfrm>
            <a:off x="9144000" y="4114800"/>
            <a:ext cx="2743200" cy="502920"/>
          </a:xfrm>
          <a:prstGeom prst="rect">
            <a:avLst/>
          </a:prstGeom>
          <a:noFill/>
          <a:ln/>
        </p:spPr>
        <p:txBody>
          <a:bodyPr wrap="square" lIns="0" tIns="0" rIns="0" bIns="0" rtlCol="0" anchor="ctr"/>
          <a:lstStyle/>
          <a:p>
            <a:pPr marL="0" indent="0">
              <a:buNone/>
            </a:pPr>
            <a:r>
              <a:rPr lang="en-US" sz="2000" b="1" dirty="0">
                <a:solidFill>
                  <a:srgbClr val="213C4E"/>
                </a:solidFill>
                <a:latin typeface="Cambria" pitchFamily="34" charset="0"/>
                <a:ea typeface="Cambria" pitchFamily="34" charset="-122"/>
                <a:cs typeface="Cambria" pitchFamily="34" charset="-120"/>
              </a:rPr>
              <a:t>Sea-salt derived chemistry</a:t>
            </a:r>
            <a:endParaRPr lang="en-US" sz="2000" dirty="0"/>
          </a:p>
        </p:txBody>
      </p:sp>
      <p:sp>
        <p:nvSpPr>
          <p:cNvPr id="27" name="Text 19"/>
          <p:cNvSpPr/>
          <p:nvPr/>
        </p:nvSpPr>
        <p:spPr>
          <a:xfrm>
            <a:off x="8595360" y="4663440"/>
            <a:ext cx="3246120" cy="155448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Aging sea salt reacts with anthropogenic sulfate and nitrate to produce HCl, ClNO2, and other reactive halogens — a secondary coarse-mode chemistry pathway that adds to the primary sea-salt signal.</a:t>
            </a:r>
            <a:endParaRPr lang="en-US" sz="120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31 / 60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EPISODES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Saharan dust — the biggest episodic driver</a:t>
            </a:r>
            <a:endParaRPr lang="en-US" sz="3000" dirty="0"/>
          </a:p>
        </p:txBody>
      </p:sp>
      <p:sp>
        <p:nvSpPr>
          <p:cNvPr id="4" name="Shape 2"/>
          <p:cNvSpPr/>
          <p:nvPr/>
        </p:nvSpPr>
        <p:spPr>
          <a:xfrm>
            <a:off x="548640" y="1417320"/>
            <a:ext cx="576072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Trans-Atlantic transport</a:t>
            </a:r>
            <a:endParaRPr lang="en-US"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300"/>
              </a:spcAft>
              <a:buNone/>
            </a:pPr>
            <a:r>
              <a:rPr lang="en-US" sz="1400" dirty="0">
                <a:solidFill>
                  <a:srgbClr val="333333"/>
                </a:solidFill>
                <a:latin typeface="Calibri" pitchFamily="34" charset="0"/>
                <a:ea typeface="Calibri" pitchFamily="34" charset="-122"/>
                <a:cs typeface="Calibri" pitchFamily="34" charset="-120"/>
              </a:rPr>
              <a:t>Prospero &amp; Lamb (2003, Science): Barbados-measured African dust 1965-1998 was strongly anti-correlated with Sahelian rainfall — drying → dust. Yu et al. (2015, RSE): CALIPSO lidar quantified the Sahara exports </a:t>
            </a:r>
            <a:r>
              <a:rPr lang="en-US" sz="1400" b="1" dirty="0">
                <a:solidFill>
                  <a:srgbClr val="C2410C"/>
                </a:solidFill>
                <a:latin typeface="Calibri" pitchFamily="34" charset="0"/>
                <a:ea typeface="Calibri" pitchFamily="34" charset="-122"/>
                <a:cs typeface="Calibri" pitchFamily="34" charset="-120"/>
              </a:rPr>
              <a:t>~182 million tons of dust per year</a:t>
            </a:r>
            <a:r>
              <a:rPr lang="en-US" sz="1400" dirty="0">
                <a:solidFill>
                  <a:srgbClr val="333333"/>
                </a:solidFill>
                <a:latin typeface="Calibri" pitchFamily="34" charset="0"/>
                <a:ea typeface="Calibri" pitchFamily="34" charset="-122"/>
                <a:cs typeface="Calibri" pitchFamily="34" charset="-120"/>
              </a:rPr>
              <a:t> over its western edge; ~132 Mt reaches the Atlantic; a fraction reaches the Gulf of Mexico.
</a:t>
            </a:r>
            <a:r>
              <a:rPr lang="en-US" sz="1400" b="1" dirty="0">
                <a:solidFill>
                  <a:srgbClr val="333333"/>
                </a:solidFill>
                <a:latin typeface="Calibri" pitchFamily="34" charset="0"/>
                <a:ea typeface="Calibri" pitchFamily="34" charset="-122"/>
                <a:cs typeface="Calibri" pitchFamily="34" charset="-120"/>
              </a:rPr>
              <a:t>Peak Coastal Bend impact</a:t>
            </a:r>
            <a:endParaRPr lang="en-US" sz="1400" dirty="0"/>
          </a:p>
          <a:p>
            <a:pPr marL="509588" indent="-285750">
              <a:spcAft>
                <a:spcPts val="300"/>
              </a:spcAft>
              <a:buSzPct val="100000"/>
              <a:buChar char="•"/>
            </a:pPr>
            <a:r>
              <a:rPr lang="en-US" sz="1400" b="1" dirty="0">
                <a:solidFill>
                  <a:srgbClr val="333333"/>
                </a:solidFill>
                <a:latin typeface="Calibri" pitchFamily="34" charset="0"/>
                <a:ea typeface="Calibri" pitchFamily="34" charset="-122"/>
                <a:cs typeface="Calibri" pitchFamily="34" charset="-120"/>
              </a:rPr>
              <a:t>June–August </a:t>
            </a:r>
            <a:endParaRPr lang="en-US" sz="1400" dirty="0"/>
          </a:p>
          <a:p>
            <a:pPr marL="509588"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 coincident with maximum African easterly wave activity and the mature Saharan Air Layer.</a:t>
            </a:r>
            <a:endParaRPr lang="en-US" sz="1400" dirty="0"/>
          </a:p>
          <a:p>
            <a:pPr marL="509588" indent="-285750">
              <a:spcAft>
                <a:spcPts val="300"/>
              </a:spcAft>
              <a:buSzPct val="100000"/>
              <a:buChar char="•"/>
            </a:pPr>
            <a:r>
              <a:rPr lang="en-US" sz="1400" b="1" dirty="0">
                <a:solidFill>
                  <a:srgbClr val="333333"/>
                </a:solidFill>
                <a:latin typeface="Calibri" pitchFamily="34" charset="0"/>
                <a:ea typeface="Calibri" pitchFamily="34" charset="-122"/>
                <a:cs typeface="Calibri" pitchFamily="34" charset="-120"/>
              </a:rPr>
              <a:t>Multi-day pulses </a:t>
            </a:r>
            <a:endParaRPr lang="en-US" sz="1400" dirty="0"/>
          </a:p>
          <a:p>
            <a:pPr marL="509588" indent="-28575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 a single Saharan intrusion event can double a coastal site's daily PM10 for 2-4 days.</a:t>
            </a:r>
            <a:endParaRPr lang="en-US" sz="1400" dirty="0"/>
          </a:p>
          <a:p>
            <a:pPr marL="0" indent="0">
              <a:spcAft>
                <a:spcPts val="300"/>
              </a:spcAft>
              <a:buNone/>
            </a:pPr>
            <a:r>
              <a:rPr lang="en-US" sz="1100" i="1" dirty="0">
                <a:solidFill>
                  <a:srgbClr val="6B7A85"/>
                </a:solidFill>
                <a:latin typeface="Calibri" pitchFamily="34" charset="0"/>
                <a:ea typeface="Calibri" pitchFamily="34" charset="-122"/>
                <a:cs typeface="Calibri" pitchFamily="34" charset="-120"/>
              </a:rPr>
              <a:t>Biological + metal cargo (Bozlaker 2024 ES&amp;T): the June 2020 "Godzilla" dust plume carried respirable metals, bacteria, and fungi across Houston — the same air mass reached Corpus.</a:t>
            </a:r>
            <a:endParaRPr lang="en-US" sz="1400" dirty="0"/>
          </a:p>
        </p:txBody>
      </p:sp>
      <p:sp>
        <p:nvSpPr>
          <p:cNvPr id="7" name="Shape 5"/>
          <p:cNvSpPr/>
          <p:nvPr/>
        </p:nvSpPr>
        <p:spPr>
          <a:xfrm>
            <a:off x="6537960" y="1417320"/>
            <a:ext cx="512064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20040"/>
          </a:xfrm>
          <a:prstGeom prst="rect">
            <a:avLst/>
          </a:prstGeom>
          <a:noFill/>
          <a:ln/>
        </p:spPr>
        <p:txBody>
          <a:bodyPr wrap="square" lIns="0" tIns="0" rIns="0" bIns="0" rtlCol="0" anchor="ctr"/>
          <a:lstStyle/>
          <a:p>
            <a:pPr marL="0" indent="0">
              <a:buNone/>
            </a:pPr>
            <a:r>
              <a:rPr lang="en-US" sz="1600" b="1" dirty="0">
                <a:solidFill>
                  <a:srgbClr val="9F1239"/>
                </a:solidFill>
                <a:latin typeface="Cambria" pitchFamily="34" charset="0"/>
                <a:ea typeface="Cambria" pitchFamily="34" charset="-122"/>
                <a:cs typeface="Cambria" pitchFamily="34" charset="-120"/>
              </a:rPr>
              <a:t>Health signal</a:t>
            </a:r>
            <a:endParaRPr lang="en-US" sz="1600" dirty="0"/>
          </a:p>
        </p:txBody>
      </p:sp>
      <p:sp>
        <p:nvSpPr>
          <p:cNvPr id="9" name="Text 7"/>
          <p:cNvSpPr/>
          <p:nvPr/>
        </p:nvSpPr>
        <p:spPr>
          <a:xfrm>
            <a:off x="6766560" y="1874520"/>
            <a:ext cx="4709160" cy="187452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Ortiz-Martínez et al. (2015, Mediators of Inflammation): in Puerto Rico, pediatric asthma claims tracked average PM10, PM10 increment, and African Dust Event days.
</a:t>
            </a:r>
            <a:r>
              <a:rPr lang="en-US" sz="1100" i="1" dirty="0">
                <a:solidFill>
                  <a:srgbClr val="6B7A85"/>
                </a:solidFill>
                <a:latin typeface="Calibri" pitchFamily="34" charset="0"/>
                <a:ea typeface="Calibri" pitchFamily="34" charset="-122"/>
                <a:cs typeface="Calibri" pitchFamily="34" charset="-120"/>
              </a:rPr>
              <a:t>Mechanism: inhaled endotoxin + fungal β-glucans → TLR-4 / TLR-2 airway inflammation → asthma exacerbation. Directly transferable to Gulf Coast during summer Saharan intrusions.</a:t>
            </a:r>
            <a:endParaRPr lang="en-US" sz="1200" dirty="0"/>
          </a:p>
        </p:txBody>
      </p:sp>
      <p:sp>
        <p:nvSpPr>
          <p:cNvPr id="10" name="Shape 8"/>
          <p:cNvSpPr/>
          <p:nvPr/>
        </p:nvSpPr>
        <p:spPr>
          <a:xfrm>
            <a:off x="6537960" y="3931920"/>
            <a:ext cx="5120640" cy="2423160"/>
          </a:xfrm>
          <a:prstGeom prst="roundRect">
            <a:avLst>
              <a:gd name="adj" fmla="val 3019"/>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11" name="Text 9"/>
          <p:cNvSpPr/>
          <p:nvPr/>
        </p:nvSpPr>
        <p:spPr>
          <a:xfrm>
            <a:off x="6766560" y="4069080"/>
            <a:ext cx="4709160" cy="320040"/>
          </a:xfrm>
          <a:prstGeom prst="rect">
            <a:avLst/>
          </a:prstGeom>
          <a:noFill/>
          <a:ln/>
        </p:spPr>
        <p:txBody>
          <a:bodyPr wrap="square" lIns="0" tIns="0" rIns="0" bIns="0" rtlCol="0" anchor="ctr"/>
          <a:lstStyle/>
          <a:p>
            <a:pPr marL="0" indent="0">
              <a:buNone/>
            </a:pPr>
            <a:r>
              <a:rPr lang="en-US" sz="1600" b="1" dirty="0">
                <a:solidFill>
                  <a:srgbClr val="0F766E"/>
                </a:solidFill>
                <a:latin typeface="Cambria" pitchFamily="34" charset="0"/>
                <a:ea typeface="Cambria" pitchFamily="34" charset="-122"/>
                <a:cs typeface="Cambria" pitchFamily="34" charset="-120"/>
              </a:rPr>
              <a:t>Coupled hurricane suppression</a:t>
            </a:r>
            <a:endParaRPr lang="en-US" sz="1600" dirty="0"/>
          </a:p>
        </p:txBody>
      </p:sp>
      <p:sp>
        <p:nvSpPr>
          <p:cNvPr id="12" name="Text 10"/>
          <p:cNvSpPr/>
          <p:nvPr/>
        </p:nvSpPr>
        <p:spPr>
          <a:xfrm>
            <a:off x="6766560" y="4389120"/>
            <a:ext cx="4709160" cy="196596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Prospero &amp; Mayol-Bracero (2013, BAMS): Saharan dust suppresses tropical cyclogenesis through three mechanisms — SAL dry-air entrainment, dust radiative cooling of Main Development Region SSTs, and mid-level trade wind inversion strengthening.
</a:t>
            </a:r>
            <a:r>
              <a:rPr lang="en-US" sz="1100" i="1" dirty="0">
                <a:solidFill>
                  <a:srgbClr val="6B7A85"/>
                </a:solidFill>
                <a:latin typeface="Calibri" pitchFamily="34" charset="0"/>
                <a:ea typeface="Calibri" pitchFamily="34" charset="-122"/>
                <a:cs typeface="Calibri" pitchFamily="34" charset="-120"/>
              </a:rPr>
              <a:t>Net: heavy dust weeks REDUCE local hurricane risk while SIMULTANEOUSLY delivering a health-relevant PM10 burden. This coupling matters for climate-attribution analyses of PM10 trends.</a:t>
            </a:r>
            <a:endParaRPr lang="en-US" sz="1200" dirty="0"/>
          </a:p>
        </p:txBody>
      </p:sp>
      <p:sp>
        <p:nvSpPr>
          <p:cNvPr id="13" name="Text 11"/>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4" name="Text 12"/>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32 / 60</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HEALTH</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PM10 health effects — coarse-fraction distinct pathway</a:t>
            </a:r>
            <a:endParaRPr lang="en-US" sz="3000" dirty="0"/>
          </a:p>
        </p:txBody>
      </p:sp>
      <p:sp>
        <p:nvSpPr>
          <p:cNvPr id="4" name="Shape 2"/>
          <p:cNvSpPr/>
          <p:nvPr/>
        </p:nvSpPr>
        <p:spPr>
          <a:xfrm>
            <a:off x="548640" y="155448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737360"/>
            <a:ext cx="457200" cy="457200"/>
          </a:xfrm>
          <a:prstGeom prst="rect">
            <a:avLst/>
          </a:prstGeom>
        </p:spPr>
      </p:pic>
      <p:sp>
        <p:nvSpPr>
          <p:cNvPr id="6" name="Text 3"/>
          <p:cNvSpPr/>
          <p:nvPr/>
        </p:nvSpPr>
        <p:spPr>
          <a:xfrm>
            <a:off x="1325880" y="1691640"/>
            <a:ext cx="461772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Respiratory hospital admissions</a:t>
            </a:r>
            <a:endParaRPr lang="en-US" dirty="0"/>
          </a:p>
        </p:txBody>
      </p:sp>
      <p:sp>
        <p:nvSpPr>
          <p:cNvPr id="7" name="Text 4"/>
          <p:cNvSpPr/>
          <p:nvPr/>
        </p:nvSpPr>
        <p:spPr>
          <a:xfrm>
            <a:off x="731520" y="228600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Adar et al. (2014) systematic review: PM10-2.5 (coarse) associations with respiratory hospital admissions are 'as strong or stronger than for PM2.5' — survives publication-bias adjustment. Asthma and COPD endpoints most consistent.</a:t>
            </a:r>
            <a:endParaRPr lang="en-US" sz="1400" dirty="0"/>
          </a:p>
        </p:txBody>
      </p:sp>
      <p:sp>
        <p:nvSpPr>
          <p:cNvPr id="8" name="Shape 5"/>
          <p:cNvSpPr/>
          <p:nvPr/>
        </p:nvSpPr>
        <p:spPr>
          <a:xfrm>
            <a:off x="6217920" y="155448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6400800" y="1737360"/>
            <a:ext cx="457200" cy="457200"/>
          </a:xfrm>
          <a:prstGeom prst="rect">
            <a:avLst/>
          </a:prstGeom>
        </p:spPr>
      </p:pic>
      <p:sp>
        <p:nvSpPr>
          <p:cNvPr id="10" name="Text 6"/>
          <p:cNvSpPr/>
          <p:nvPr/>
        </p:nvSpPr>
        <p:spPr>
          <a:xfrm>
            <a:off x="6995160" y="1691640"/>
            <a:ext cx="461772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Cardiovascular (weaker signal than PM2.5)</a:t>
            </a:r>
            <a:endParaRPr lang="en-US" dirty="0"/>
          </a:p>
        </p:txBody>
      </p:sp>
      <p:sp>
        <p:nvSpPr>
          <p:cNvPr id="11" name="Text 7"/>
          <p:cNvSpPr/>
          <p:nvPr/>
        </p:nvSpPr>
        <p:spPr>
          <a:xfrm>
            <a:off x="6400800" y="228600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AHA 2010 statement (Brook et al., Circulation 121:2331–2378): evidence for PM10-2.5 cardiovascular effect is 'suggestive' rather than causal. Malig &amp; Ostro (2009) found California associations concentrated in Hispanic populations.</a:t>
            </a:r>
            <a:endParaRPr lang="en-US" sz="1400" dirty="0"/>
          </a:p>
        </p:txBody>
      </p:sp>
      <p:sp>
        <p:nvSpPr>
          <p:cNvPr id="12" name="Shape 8"/>
          <p:cNvSpPr/>
          <p:nvPr/>
        </p:nvSpPr>
        <p:spPr>
          <a:xfrm>
            <a:off x="548640" y="411480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731520" y="4297680"/>
            <a:ext cx="457200" cy="457200"/>
          </a:xfrm>
          <a:prstGeom prst="rect">
            <a:avLst/>
          </a:prstGeom>
        </p:spPr>
      </p:pic>
      <p:sp>
        <p:nvSpPr>
          <p:cNvPr id="14" name="Text 9"/>
          <p:cNvSpPr/>
          <p:nvPr/>
        </p:nvSpPr>
        <p:spPr>
          <a:xfrm>
            <a:off x="1325880" y="4251960"/>
            <a:ext cx="461772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Biological cargo — dust + asthma</a:t>
            </a:r>
            <a:endParaRPr lang="en-US" dirty="0"/>
          </a:p>
        </p:txBody>
      </p:sp>
      <p:sp>
        <p:nvSpPr>
          <p:cNvPr id="15" name="Text 10"/>
          <p:cNvSpPr/>
          <p:nvPr/>
        </p:nvSpPr>
        <p:spPr>
          <a:xfrm>
            <a:off x="731520" y="484632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Ortiz-Martínez et al. (2015) Puerto Rico pediatric asthma tied to African Dust Event days. Bozlaker (2024) documented respirable metals, bacteria, fungi in Houston Saharan dust — Gulf Coast exposure is analogous.</a:t>
            </a:r>
            <a:endParaRPr lang="en-US" sz="1400" dirty="0"/>
          </a:p>
        </p:txBody>
      </p:sp>
      <p:sp>
        <p:nvSpPr>
          <p:cNvPr id="16" name="Shape 11"/>
          <p:cNvSpPr/>
          <p:nvPr/>
        </p:nvSpPr>
        <p:spPr>
          <a:xfrm>
            <a:off x="6217920" y="4114800"/>
            <a:ext cx="5532120" cy="2377440"/>
          </a:xfrm>
          <a:prstGeom prst="roundRect">
            <a:avLst>
              <a:gd name="adj" fmla="val 307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6400800" y="4297680"/>
            <a:ext cx="457200" cy="457200"/>
          </a:xfrm>
          <a:prstGeom prst="rect">
            <a:avLst/>
          </a:prstGeom>
        </p:spPr>
      </p:pic>
      <p:sp>
        <p:nvSpPr>
          <p:cNvPr id="18" name="Text 12"/>
          <p:cNvSpPr/>
          <p:nvPr/>
        </p:nvSpPr>
        <p:spPr>
          <a:xfrm>
            <a:off x="6920004" y="4251960"/>
            <a:ext cx="4892040" cy="50292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Windborne fungi — Valley Fever + Aspergillus</a:t>
            </a:r>
            <a:endParaRPr lang="en-US" dirty="0"/>
          </a:p>
        </p:txBody>
      </p:sp>
      <p:sp>
        <p:nvSpPr>
          <p:cNvPr id="19" name="Text 13"/>
          <p:cNvSpPr/>
          <p:nvPr/>
        </p:nvSpPr>
        <p:spPr>
          <a:xfrm>
            <a:off x="6400800" y="4846320"/>
            <a:ext cx="521208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Tong et al. (2017, GRL): PM10 links to Valley Fever timing in Arizona. Coccidioidomycosis rare in Coastal Bend, but the mechanism (windborne spore transport in coarse fraction) is analogous to Aspergillus / Alternaria during local dust events.</a:t>
            </a:r>
            <a:endParaRPr lang="en-US" sz="1400" dirty="0"/>
          </a:p>
        </p:txBody>
      </p:sp>
      <p:sp>
        <p:nvSpPr>
          <p:cNvPr id="20"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1" name="Text 1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33 / 60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REGULATION</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PM10 NAAQS — one standard remains, one was revoked</a:t>
            </a:r>
            <a:endParaRPr lang="en-US" sz="3000" dirty="0"/>
          </a:p>
        </p:txBody>
      </p:sp>
      <p:sp>
        <p:nvSpPr>
          <p:cNvPr id="4" name="Shape 2"/>
          <p:cNvSpPr/>
          <p:nvPr/>
        </p:nvSpPr>
        <p:spPr>
          <a:xfrm>
            <a:off x="548640" y="1417320"/>
            <a:ext cx="5029200" cy="3200400"/>
          </a:xfrm>
          <a:prstGeom prst="roundRect">
            <a:avLst>
              <a:gd name="adj" fmla="val 2286"/>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4572000" cy="320040"/>
          </a:xfrm>
          <a:prstGeom prst="rect">
            <a:avLst/>
          </a:prstGeom>
          <a:noFill/>
          <a:ln/>
        </p:spPr>
        <p:txBody>
          <a:bodyPr wrap="square" lIns="0" tIns="0" rIns="0" bIns="0" rtlCol="0" anchor="ctr"/>
          <a:lstStyle/>
          <a:p>
            <a:pPr marL="0" indent="0">
              <a:buNone/>
            </a:pPr>
            <a:r>
              <a:rPr lang="en-US" sz="1100" b="1" kern="0" spc="200" dirty="0">
                <a:solidFill>
                  <a:srgbClr val="6B7A85"/>
                </a:solidFill>
                <a:latin typeface="Calibri" pitchFamily="34" charset="0"/>
                <a:ea typeface="Calibri" pitchFamily="34" charset="-122"/>
                <a:cs typeface="Calibri" pitchFamily="34" charset="-120"/>
              </a:rPr>
              <a:t>Current standard</a:t>
            </a:r>
            <a:endParaRPr lang="en-US" sz="1100" dirty="0"/>
          </a:p>
        </p:txBody>
      </p:sp>
      <p:sp>
        <p:nvSpPr>
          <p:cNvPr id="6" name="Text 4"/>
          <p:cNvSpPr/>
          <p:nvPr/>
        </p:nvSpPr>
        <p:spPr>
          <a:xfrm>
            <a:off x="777240" y="1965960"/>
            <a:ext cx="4572000" cy="1097280"/>
          </a:xfrm>
          <a:prstGeom prst="rect">
            <a:avLst/>
          </a:prstGeom>
          <a:noFill/>
          <a:ln/>
        </p:spPr>
        <p:txBody>
          <a:bodyPr wrap="square" lIns="0" tIns="0" rIns="0" bIns="0" rtlCol="0" anchor="ctr"/>
          <a:lstStyle/>
          <a:p>
            <a:pPr marL="0" indent="0">
              <a:buNone/>
            </a:pPr>
            <a:r>
              <a:rPr lang="en-US" sz="6000" b="1" dirty="0">
                <a:solidFill>
                  <a:srgbClr val="C2410C"/>
                </a:solidFill>
                <a:latin typeface="Cambria" pitchFamily="34" charset="0"/>
                <a:ea typeface="Cambria" pitchFamily="34" charset="-122"/>
                <a:cs typeface="Cambria" pitchFamily="34" charset="-120"/>
              </a:rPr>
              <a:t>150 µg/m³</a:t>
            </a:r>
            <a:endParaRPr lang="en-US" sz="6000" dirty="0"/>
          </a:p>
        </p:txBody>
      </p:sp>
      <p:sp>
        <p:nvSpPr>
          <p:cNvPr id="7" name="Text 5"/>
          <p:cNvSpPr/>
          <p:nvPr/>
        </p:nvSpPr>
        <p:spPr>
          <a:xfrm>
            <a:off x="777240" y="3108960"/>
            <a:ext cx="4572000" cy="32004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24-hour primary + secondary</a:t>
            </a:r>
            <a:endParaRPr lang="en-US" sz="1400" dirty="0"/>
          </a:p>
        </p:txBody>
      </p:sp>
      <p:sp>
        <p:nvSpPr>
          <p:cNvPr id="8" name="Text 6"/>
          <p:cNvSpPr/>
          <p:nvPr/>
        </p:nvSpPr>
        <p:spPr>
          <a:xfrm>
            <a:off x="777240" y="3474720"/>
            <a:ext cx="4572000" cy="960120"/>
          </a:xfrm>
          <a:prstGeom prst="rect">
            <a:avLst/>
          </a:prstGeom>
          <a:noFill/>
          <a:ln/>
        </p:spPr>
        <p:txBody>
          <a:bodyPr wrap="square" lIns="0" tIns="0" rIns="0" bIns="0"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Statistical form: </a:t>
            </a:r>
            <a:r>
              <a:rPr lang="en-US" sz="1100" dirty="0">
                <a:solidFill>
                  <a:srgbClr val="333333"/>
                </a:solidFill>
                <a:latin typeface="Calibri" pitchFamily="34" charset="0"/>
                <a:ea typeface="Calibri" pitchFamily="34" charset="-122"/>
                <a:cs typeface="Calibri" pitchFamily="34" charset="-120"/>
              </a:rPr>
              <a:t>not to be exceeded more than once per year on average over three consecutive years</a:t>
            </a:r>
            <a:endParaRPr lang="en-US" sz="1100" dirty="0"/>
          </a:p>
        </p:txBody>
      </p:sp>
      <p:sp>
        <p:nvSpPr>
          <p:cNvPr id="9" name="Shape 7"/>
          <p:cNvSpPr/>
          <p:nvPr/>
        </p:nvSpPr>
        <p:spPr>
          <a:xfrm>
            <a:off x="5760720" y="1417320"/>
            <a:ext cx="5852160" cy="3200400"/>
          </a:xfrm>
          <a:prstGeom prst="roundRect">
            <a:avLst>
              <a:gd name="adj" fmla="val 2286"/>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10" name="Text 8"/>
          <p:cNvSpPr/>
          <p:nvPr/>
        </p:nvSpPr>
        <p:spPr>
          <a:xfrm>
            <a:off x="5989320" y="1600200"/>
            <a:ext cx="5394960" cy="320040"/>
          </a:xfrm>
          <a:prstGeom prst="rect">
            <a:avLst/>
          </a:prstGeom>
          <a:noFill/>
          <a:ln/>
        </p:spPr>
        <p:txBody>
          <a:bodyPr wrap="square" lIns="0" tIns="0" rIns="0" bIns="0" rtlCol="0" anchor="ctr"/>
          <a:lstStyle/>
          <a:p>
            <a:pPr marL="0" indent="0">
              <a:buNone/>
            </a:pPr>
            <a:r>
              <a:rPr lang="en-US" sz="1100" b="1" kern="0" spc="200" dirty="0">
                <a:solidFill>
                  <a:srgbClr val="9F1239"/>
                </a:solidFill>
                <a:latin typeface="Calibri" pitchFamily="34" charset="0"/>
                <a:ea typeface="Calibri" pitchFamily="34" charset="-122"/>
                <a:cs typeface="Calibri" pitchFamily="34" charset="-120"/>
              </a:rPr>
              <a:t>What was REVOKED</a:t>
            </a:r>
            <a:endParaRPr lang="en-US" sz="1100" dirty="0"/>
          </a:p>
        </p:txBody>
      </p:sp>
      <p:sp>
        <p:nvSpPr>
          <p:cNvPr id="11" name="Text 9"/>
          <p:cNvSpPr/>
          <p:nvPr/>
        </p:nvSpPr>
        <p:spPr>
          <a:xfrm>
            <a:off x="5989320" y="1920240"/>
            <a:ext cx="5394960" cy="411480"/>
          </a:xfrm>
          <a:prstGeom prst="rect">
            <a:avLst/>
          </a:prstGeom>
          <a:noFill/>
          <a:ln/>
        </p:spPr>
        <p:txBody>
          <a:bodyPr wrap="square" lIns="0" tIns="0" rIns="0" bIns="0" rtlCol="0" anchor="ctr"/>
          <a:lstStyle/>
          <a:p>
            <a:pPr marL="0" indent="0">
              <a:buNone/>
            </a:pPr>
            <a:r>
              <a:rPr lang="en-US" sz="1700" b="1" dirty="0">
                <a:solidFill>
                  <a:srgbClr val="213C4E"/>
                </a:solidFill>
                <a:latin typeface="Cambria" pitchFamily="34" charset="0"/>
                <a:ea typeface="Cambria" pitchFamily="34" charset="-122"/>
                <a:cs typeface="Cambria" pitchFamily="34" charset="-120"/>
              </a:rPr>
              <a:t>Annual 50 µg/m³ standard (1987 → 2006)</a:t>
            </a:r>
            <a:endParaRPr lang="en-US" sz="1700" dirty="0"/>
          </a:p>
        </p:txBody>
      </p:sp>
      <p:sp>
        <p:nvSpPr>
          <p:cNvPr id="12" name="Text 10"/>
          <p:cNvSpPr/>
          <p:nvPr/>
        </p:nvSpPr>
        <p:spPr>
          <a:xfrm>
            <a:off x="5989320" y="2331720"/>
            <a:ext cx="5394960" cy="2194560"/>
          </a:xfrm>
          <a:prstGeom prst="rect">
            <a:avLst/>
          </a:prstGeom>
          <a:noFill/>
          <a:ln/>
        </p:spPr>
        <p:txBody>
          <a:bodyPr wrap="square" lIns="0" tIns="0" rIns="0" bIns="0" rtlCol="0" anchor="t"/>
          <a:lstStyle/>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EPA's 2006 rationale (upheld by the D.C. Circuit):
</a:t>
            </a:r>
            <a:r>
              <a:rPr lang="en-US" sz="1100" b="1" dirty="0">
                <a:solidFill>
                  <a:srgbClr val="C2410C"/>
                </a:solidFill>
                <a:latin typeface="Calibri" pitchFamily="34" charset="0"/>
                <a:ea typeface="Calibri" pitchFamily="34" charset="-122"/>
                <a:cs typeface="Calibri" pitchFamily="34" charset="-120"/>
              </a:rPr>
              <a:t>1. </a:t>
            </a:r>
            <a:r>
              <a:rPr lang="en-US" sz="1100" dirty="0">
                <a:solidFill>
                  <a:srgbClr val="333333"/>
                </a:solidFill>
                <a:latin typeface="Calibri" pitchFamily="34" charset="0"/>
                <a:ea typeface="Calibri" pitchFamily="34" charset="-122"/>
                <a:cs typeface="Calibri" pitchFamily="34" charset="-120"/>
              </a:rPr>
              <a:t>Epidemiological evidence for chronic effects of coarse PM (as distinct from PM2.5) was weak;
</a:t>
            </a:r>
            <a:r>
              <a:rPr lang="en-US" sz="1100" b="1" dirty="0">
                <a:solidFill>
                  <a:srgbClr val="C2410C"/>
                </a:solidFill>
                <a:latin typeface="Calibri" pitchFamily="34" charset="0"/>
                <a:ea typeface="Calibri" pitchFamily="34" charset="-122"/>
                <a:cs typeface="Calibri" pitchFamily="34" charset="-120"/>
              </a:rPr>
              <a:t>2. </a:t>
            </a:r>
            <a:r>
              <a:rPr lang="en-US" sz="1100" dirty="0">
                <a:solidFill>
                  <a:srgbClr val="333333"/>
                </a:solidFill>
                <a:latin typeface="Calibri" pitchFamily="34" charset="0"/>
                <a:ea typeface="Calibri" pitchFamily="34" charset="-122"/>
                <a:cs typeface="Calibri" pitchFamily="34" charset="-120"/>
              </a:rPr>
              <a:t>PM10 as an indicator was 'poorly matched' to the coarse fraction because it also included PM2.5.
</a:t>
            </a:r>
            <a:r>
              <a:rPr lang="en-US" sz="1000" i="1" dirty="0">
                <a:solidFill>
                  <a:srgbClr val="6B7A85"/>
                </a:solidFill>
                <a:latin typeface="Calibri" pitchFamily="34" charset="0"/>
                <a:ea typeface="Calibri" pitchFamily="34" charset="-122"/>
                <a:cs typeface="Calibri" pitchFamily="34" charset="-120"/>
              </a:rPr>
              <a:t>The annual PM2.5 standard covers chronic fine-particle exposure; the retained 24-hr PM10 standard covers episodic thoracic coarse exposures.</a:t>
            </a:r>
            <a:endParaRPr lang="en-US" sz="1100" dirty="0"/>
          </a:p>
        </p:txBody>
      </p:sp>
      <p:sp>
        <p:nvSpPr>
          <p:cNvPr id="13" name="Shape 11"/>
          <p:cNvSpPr/>
          <p:nvPr/>
        </p:nvSpPr>
        <p:spPr>
          <a:xfrm>
            <a:off x="548640" y="4800600"/>
            <a:ext cx="11064240" cy="1554480"/>
          </a:xfrm>
          <a:prstGeom prst="roundRect">
            <a:avLst>
              <a:gd name="adj" fmla="val 4706"/>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14" name="Text 12"/>
          <p:cNvSpPr/>
          <p:nvPr/>
        </p:nvSpPr>
        <p:spPr>
          <a:xfrm>
            <a:off x="777240" y="4937760"/>
            <a:ext cx="106070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The 'once per year on average' form + Exceptional Events Rule</a:t>
            </a:r>
            <a:endParaRPr lang="en-US" sz="1400" dirty="0"/>
          </a:p>
        </p:txBody>
      </p:sp>
      <p:sp>
        <p:nvSpPr>
          <p:cNvPr id="15" name="Text 13"/>
          <p:cNvSpPr/>
          <p:nvPr/>
        </p:nvSpPr>
        <p:spPr>
          <a:xfrm>
            <a:off x="777240" y="5303520"/>
            <a:ext cx="10607040" cy="1005840"/>
          </a:xfrm>
          <a:prstGeom prst="rect">
            <a:avLst/>
          </a:prstGeom>
          <a:noFill/>
          <a:ln/>
        </p:spPr>
        <p:txBody>
          <a:bodyPr wrap="square" lIns="0" tIns="0" rIns="0" bIns="0" rtlCol="0" anchor="t"/>
          <a:lstStyle/>
          <a:p>
            <a:pPr marL="0" indent="0">
              <a:buNone/>
            </a:pPr>
            <a:r>
              <a:rPr lang="en-US" sz="1100" dirty="0">
                <a:solidFill>
                  <a:srgbClr val="333333"/>
                </a:solidFill>
                <a:latin typeface="Calibri" pitchFamily="34" charset="0"/>
                <a:ea typeface="Calibri" pitchFamily="34" charset="-122"/>
                <a:cs typeface="Calibri" pitchFamily="34" charset="-120"/>
              </a:rPr>
              <a:t>The 1-exceedance-per-year statistical form is important for the Coastal Bend. Coastal + arid regions experience natural transient PM10 exceedances during dust storms, hurricanes, and windblown episodes.
EPA's Exceptional Events Rule (40 CFR 50.14) allows states to petition to exclude natural-event exceedances from regulatory determinations. Texas has historically flagged </a:t>
            </a:r>
            <a:r>
              <a:rPr lang="en-US" sz="1100" b="1" dirty="0">
                <a:solidFill>
                  <a:srgbClr val="C2410C"/>
                </a:solidFill>
                <a:latin typeface="Calibri" pitchFamily="34" charset="0"/>
                <a:ea typeface="Calibri" pitchFamily="34" charset="-122"/>
                <a:cs typeface="Calibri" pitchFamily="34" charset="-120"/>
              </a:rPr>
              <a:t>Saharan dust intrusions</a:t>
            </a:r>
            <a:r>
              <a:rPr lang="en-US" sz="1100" dirty="0">
                <a:solidFill>
                  <a:srgbClr val="333333"/>
                </a:solidFill>
                <a:latin typeface="Calibri" pitchFamily="34" charset="0"/>
                <a:ea typeface="Calibri" pitchFamily="34" charset="-122"/>
                <a:cs typeface="Calibri" pitchFamily="34" charset="-120"/>
              </a:rPr>
              <a:t> under this provision — meaning even a single-year &gt; 150 µg/m³ dust event in Corpus doesn't automatically drive a violation.</a:t>
            </a:r>
            <a:endParaRPr lang="en-US" sz="1100" dirty="0"/>
          </a:p>
        </p:txBody>
      </p:sp>
      <p:sp>
        <p:nvSpPr>
          <p:cNvPr id="16"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7" name="Text 1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34 / 60</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PM10 measurement — FRM + FEM</a:t>
            </a:r>
            <a:endParaRPr lang="en-US" sz="3000" dirty="0"/>
          </a:p>
        </p:txBody>
      </p:sp>
      <p:sp>
        <p:nvSpPr>
          <p:cNvPr id="4" name="Shape 2"/>
          <p:cNvSpPr/>
          <p:nvPr/>
        </p:nvSpPr>
        <p:spPr>
          <a:xfrm>
            <a:off x="548640" y="1417320"/>
            <a:ext cx="566928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39496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FRM (Appendix J)</a:t>
            </a:r>
            <a:endParaRPr lang="en-US" dirty="0"/>
          </a:p>
        </p:txBody>
      </p:sp>
      <p:sp>
        <p:nvSpPr>
          <p:cNvPr id="6" name="Text 4"/>
          <p:cNvSpPr/>
          <p:nvPr/>
        </p:nvSpPr>
        <p:spPr>
          <a:xfrm>
            <a:off x="777240" y="2028590"/>
            <a:ext cx="5394960" cy="4206240"/>
          </a:xfrm>
          <a:prstGeom prst="rect">
            <a:avLst/>
          </a:prstGeom>
          <a:noFill/>
          <a:ln/>
        </p:spPr>
        <p:txBody>
          <a:bodyPr wrap="square" lIns="0" tIns="0" rIns="0" bIns="0" rtlCol="0" anchor="t"/>
          <a:lstStyle/>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24-hr integrated sample on a filter through a 10-µm size-selective inlet.  Gravimetric mass determination at </a:t>
            </a:r>
            <a:r>
              <a:rPr lang="en-US" sz="1400" b="1" dirty="0">
                <a:solidFill>
                  <a:srgbClr val="C2410C"/>
                </a:solidFill>
                <a:latin typeface="Calibri" pitchFamily="34" charset="0"/>
                <a:ea typeface="Calibri" pitchFamily="34" charset="-122"/>
                <a:cs typeface="Calibri" pitchFamily="34" charset="-120"/>
              </a:rPr>
              <a:t>STP (25 °C, 1 atm)</a:t>
            </a:r>
            <a:r>
              <a:rPr lang="en-US" sz="1400" dirty="0">
                <a:solidFill>
                  <a:srgbClr val="333333"/>
                </a:solidFill>
                <a:latin typeface="Calibri" pitchFamily="34" charset="0"/>
                <a:ea typeface="Calibri" pitchFamily="34" charset="-122"/>
                <a:cs typeface="Calibri" pitchFamily="34" charset="-120"/>
              </a:rPr>
              <a:t>.
</a:t>
            </a:r>
            <a:r>
              <a:rPr lang="en-US" sz="1400" b="1" dirty="0">
                <a:solidFill>
                  <a:srgbClr val="333333"/>
                </a:solidFill>
                <a:latin typeface="Calibri" pitchFamily="34" charset="0"/>
                <a:ea typeface="Calibri" pitchFamily="34" charset="-122"/>
                <a:cs typeface="Calibri" pitchFamily="34" charset="-120"/>
              </a:rPr>
              <a:t>Reference samplers:
</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Andersen SA-2000 (hi-vol)</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Wedding &amp; Associates PM10 hi-vol</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BGI PQ200 (small vol, low-flow)</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Thermo Partisol 2025i sequential</a:t>
            </a:r>
            <a:endParaRPr lang="en-US" sz="1400" dirty="0"/>
          </a:p>
          <a:p>
            <a:pPr marL="342900" indent="-342900">
              <a:spcAft>
                <a:spcPts val="200"/>
              </a:spcAft>
              <a:buSzPct val="100000"/>
              <a:buChar char="•"/>
            </a:pPr>
            <a:r>
              <a:rPr lang="en-US" sz="1400" dirty="0">
                <a:solidFill>
                  <a:srgbClr val="333333"/>
                </a:solidFill>
                <a:latin typeface="Calibri" pitchFamily="34" charset="0"/>
                <a:ea typeface="Calibri" pitchFamily="34" charset="-122"/>
                <a:cs typeface="Calibri" pitchFamily="34" charset="-120"/>
              </a:rPr>
              <a:t>Graseby GMW-321</a:t>
            </a:r>
            <a:endParaRPr lang="en-US" sz="1400" dirty="0"/>
          </a:p>
          <a:p>
            <a:pPr marL="0" indent="0">
              <a:spcAft>
                <a:spcPts val="200"/>
              </a:spcAft>
              <a:buNone/>
            </a:pPr>
            <a:r>
              <a:rPr lang="en-US" sz="1100" i="1" dirty="0">
                <a:solidFill>
                  <a:srgbClr val="6B7A85"/>
                </a:solidFill>
                <a:latin typeface="Calibri" pitchFamily="34" charset="0"/>
                <a:ea typeface="Calibri" pitchFamily="34" charset="-122"/>
                <a:cs typeface="Calibri" pitchFamily="34" charset="-120"/>
              </a:rPr>
              <a:t>Appendix O also defines a PM10-2.5 (coarse fraction) reference method using PAIRED dichotomous FRMs as a subtraction.</a:t>
            </a:r>
            <a:endParaRPr lang="en-US" sz="1400" dirty="0"/>
          </a:p>
        </p:txBody>
      </p:sp>
      <p:sp>
        <p:nvSpPr>
          <p:cNvPr id="7" name="Shape 5"/>
          <p:cNvSpPr/>
          <p:nvPr/>
        </p:nvSpPr>
        <p:spPr>
          <a:xfrm>
            <a:off x="6355080" y="1417320"/>
            <a:ext cx="53492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sz="2400"/>
          </a:p>
        </p:txBody>
      </p:sp>
      <p:sp>
        <p:nvSpPr>
          <p:cNvPr id="8" name="Text 6"/>
          <p:cNvSpPr/>
          <p:nvPr/>
        </p:nvSpPr>
        <p:spPr>
          <a:xfrm>
            <a:off x="6583680" y="1600200"/>
            <a:ext cx="507492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Continuous FEM (hourly)</a:t>
            </a:r>
            <a:endParaRPr lang="en-US" dirty="0"/>
          </a:p>
        </p:txBody>
      </p:sp>
      <p:sp>
        <p:nvSpPr>
          <p:cNvPr id="9" name="Text 7"/>
          <p:cNvSpPr/>
          <p:nvPr/>
        </p:nvSpPr>
        <p:spPr>
          <a:xfrm>
            <a:off x="6583680" y="1965960"/>
            <a:ext cx="5074920" cy="4206240"/>
          </a:xfrm>
          <a:prstGeom prst="rect">
            <a:avLst/>
          </a:prstGeom>
          <a:noFill/>
          <a:ln/>
        </p:spPr>
        <p:txBody>
          <a:bodyPr wrap="square" lIns="0" tIns="0" rIns="0" bIns="0" rtlCol="0" anchor="t"/>
          <a:lstStyle/>
          <a:p>
            <a:pPr marL="0" indent="0">
              <a:spcAft>
                <a:spcPts val="200"/>
              </a:spcAft>
              <a:buNone/>
            </a:pPr>
            <a:r>
              <a:rPr lang="en-US" sz="1400" b="1" dirty="0">
                <a:solidFill>
                  <a:srgbClr val="333333"/>
                </a:solidFill>
                <a:latin typeface="Calibri" pitchFamily="34" charset="0"/>
                <a:ea typeface="Calibri" pitchFamily="34" charset="-122"/>
                <a:cs typeface="Calibri" pitchFamily="34" charset="-120"/>
              </a:rPr>
              <a:t>Met One BAM 1020</a:t>
            </a:r>
            <a:endParaRPr lang="en-US" sz="1400" dirty="0"/>
          </a:p>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First PM10 FEM designation 1998 (63 FR 41253; EQPM-0798-122). Same physics as the PM2.5 BAM — β-attenuation through loaded filter tape — but with a 10-µm cyclone inlet instead of 2.5-µm.</a:t>
            </a:r>
            <a:endParaRPr lang="en-US" sz="1400" dirty="0"/>
          </a:p>
          <a:p>
            <a:pPr marL="0" indent="0">
              <a:spcAft>
                <a:spcPts val="200"/>
              </a:spcAft>
              <a:buNone/>
            </a:pPr>
            <a:endParaRPr lang="en-US" sz="1400" dirty="0"/>
          </a:p>
          <a:p>
            <a:pPr marL="0" indent="0">
              <a:spcAft>
                <a:spcPts val="200"/>
              </a:spcAft>
              <a:buNone/>
            </a:pPr>
            <a:r>
              <a:rPr lang="en-US" sz="1400" b="1" dirty="0">
                <a:solidFill>
                  <a:srgbClr val="333333"/>
                </a:solidFill>
                <a:latin typeface="Calibri" pitchFamily="34" charset="0"/>
                <a:ea typeface="Calibri" pitchFamily="34" charset="-122"/>
                <a:cs typeface="Calibri" pitchFamily="34" charset="-120"/>
              </a:rPr>
              <a:t>Thermo/R&amp;P TEOM 1400ab / 1405</a:t>
            </a:r>
            <a:endParaRPr lang="en-US" sz="1400" dirty="0"/>
          </a:p>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Mass by frequency shift of an oscillating tapered element. Semi-volatile loss less severe for coarse mode than for PM2.5 (coarse aerosol is drier and less volatile), so TEOM PM10 designations survived even where PM2.5 TEOM was withdrawn.</a:t>
            </a:r>
            <a:endParaRPr lang="en-US" sz="1400" dirty="0"/>
          </a:p>
          <a:p>
            <a:pPr marL="0" indent="0">
              <a:spcAft>
                <a:spcPts val="200"/>
              </a:spcAft>
              <a:buNone/>
            </a:pPr>
            <a:endParaRPr lang="en-US" sz="1400" dirty="0"/>
          </a:p>
          <a:p>
            <a:pPr marL="0" indent="0">
              <a:spcAft>
                <a:spcPts val="200"/>
              </a:spcAft>
              <a:buNone/>
            </a:pPr>
            <a:r>
              <a:rPr lang="en-US" sz="1400" b="1" dirty="0">
                <a:solidFill>
                  <a:srgbClr val="333333"/>
                </a:solidFill>
                <a:latin typeface="Calibri" pitchFamily="34" charset="0"/>
                <a:ea typeface="Calibri" pitchFamily="34" charset="-122"/>
                <a:cs typeface="Calibri" pitchFamily="34" charset="-120"/>
              </a:rPr>
              <a:t>Optical (GRIMM, Thermo 5030 SHARP)</a:t>
            </a:r>
            <a:endParaRPr lang="en-US" sz="1400" dirty="0"/>
          </a:p>
          <a:p>
            <a:pPr marL="0" indent="0">
              <a:spcAft>
                <a:spcPts val="200"/>
              </a:spcAft>
              <a:buNone/>
            </a:pPr>
            <a:r>
              <a:rPr lang="en-US" sz="1400" dirty="0">
                <a:solidFill>
                  <a:srgbClr val="333333"/>
                </a:solidFill>
                <a:latin typeface="Calibri" pitchFamily="34" charset="0"/>
                <a:ea typeface="Calibri" pitchFamily="34" charset="-122"/>
                <a:cs typeface="Calibri" pitchFamily="34" charset="-120"/>
              </a:rPr>
              <a:t>Size-resolved by laser scattering. Cover PM10 + PM2.5 + PM1 in a single instrument.</a:t>
            </a:r>
            <a:endParaRPr lang="en-US" sz="1400" dirty="0"/>
          </a:p>
          <a:p>
            <a:pPr marL="0" indent="0">
              <a:spcAft>
                <a:spcPts val="200"/>
              </a:spcAft>
              <a:buNone/>
            </a:pPr>
            <a:endParaRPr lang="en-US" sz="1400" dirty="0"/>
          </a:p>
          <a:p>
            <a:pPr marL="0" indent="0">
              <a:spcAft>
                <a:spcPts val="200"/>
              </a:spcAft>
              <a:buNone/>
            </a:pPr>
            <a:r>
              <a:rPr lang="en-US" sz="1400" b="1" dirty="0">
                <a:solidFill>
                  <a:srgbClr val="9F1239"/>
                </a:solidFill>
                <a:latin typeface="Calibri" pitchFamily="34" charset="0"/>
                <a:ea typeface="Calibri" pitchFamily="34" charset="-122"/>
                <a:cs typeface="Calibri" pitchFamily="34" charset="-120"/>
              </a:rPr>
              <a:t>Low-cost sensors: NOT suitable for PM10.</a:t>
            </a:r>
            <a:endParaRPr lang="en-US" sz="1400" dirty="0"/>
          </a:p>
          <a:p>
            <a:pPr marL="0" indent="0">
              <a:spcAft>
                <a:spcPts val="200"/>
              </a:spcAft>
              <a:buNone/>
            </a:pPr>
            <a:r>
              <a:rPr lang="en-US" sz="1100" i="1" dirty="0">
                <a:solidFill>
                  <a:srgbClr val="6B7A85"/>
                </a:solidFill>
                <a:latin typeface="Calibri" pitchFamily="34" charset="0"/>
                <a:ea typeface="Calibri" pitchFamily="34" charset="-122"/>
                <a:cs typeface="Calibri" pitchFamily="34" charset="-120"/>
              </a:rPr>
              <a:t>PurpleAir and similar underestimate coarse fraction — sensor optical response saturates below ~1 µm. Kaur &amp; Kelly 2023 (AMT): 5-6× underestimation during dust events. Do not substitute.</a:t>
            </a:r>
            <a:endParaRPr lang="en-US" sz="1400" dirty="0"/>
          </a:p>
        </p:txBody>
      </p:sp>
      <p:sp>
        <p:nvSpPr>
          <p:cNvPr id="10"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1"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35 / 60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PM10 codes in our Coastal Bend data</a:t>
            </a:r>
            <a:endParaRPr lang="en-US" sz="3000" dirty="0"/>
          </a:p>
        </p:txBody>
      </p:sp>
      <p:sp>
        <p:nvSpPr>
          <p:cNvPr id="4" name="Shape 2"/>
          <p:cNvSpPr/>
          <p:nvPr/>
        </p:nvSpPr>
        <p:spPr>
          <a:xfrm>
            <a:off x="548640" y="1417320"/>
            <a:ext cx="5669280" cy="3063240"/>
          </a:xfrm>
          <a:prstGeom prst="roundRect">
            <a:avLst>
              <a:gd name="adj" fmla="val 2388"/>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554480"/>
            <a:ext cx="5394960" cy="365760"/>
          </a:xfrm>
          <a:prstGeom prst="rect">
            <a:avLst/>
          </a:prstGeom>
          <a:noFill/>
          <a:ln/>
        </p:spPr>
        <p:txBody>
          <a:bodyPr wrap="square" lIns="0" tIns="0" rIns="0" bIns="0" rtlCol="0" anchor="ctr"/>
          <a:lstStyle/>
          <a:p>
            <a:pPr marL="0" indent="0">
              <a:buNone/>
            </a:pPr>
            <a:r>
              <a:rPr lang="en-US" sz="1300" b="1" dirty="0">
                <a:solidFill>
                  <a:srgbClr val="213C4E"/>
                </a:solidFill>
                <a:latin typeface="Cambria" pitchFamily="34" charset="0"/>
                <a:ea typeface="Cambria" pitchFamily="34" charset="-122"/>
                <a:cs typeface="Cambria" pitchFamily="34" charset="-120"/>
              </a:rPr>
              <a:t>Parameter codes</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920240"/>
          <a:ext cx="5394960" cy="2468880"/>
        </p:xfrm>
        <a:graphic>
          <a:graphicData uri="http://schemas.openxmlformats.org/drawingml/2006/table">
            <a:tbl>
              <a:tblPr/>
              <a:tblGrid>
                <a:gridCol w="9144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61722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In our data?</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6172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81102</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PM10 Total 0-10um STP</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YES — dominant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72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85101</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PM10 - LC (local conditions)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sparse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61722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86101</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PM10-2.5 coarse (derived)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very sparse — needs paired PM10 + PM2.5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6355080" y="1417320"/>
            <a:ext cx="5349240" cy="3063240"/>
          </a:xfrm>
          <a:prstGeom prst="roundRect">
            <a:avLst>
              <a:gd name="adj" fmla="val 2388"/>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5"/>
          <p:cNvSpPr/>
          <p:nvPr/>
        </p:nvSpPr>
        <p:spPr>
          <a:xfrm>
            <a:off x="6583680" y="1554480"/>
            <a:ext cx="5074920" cy="365760"/>
          </a:xfrm>
          <a:prstGeom prst="rect">
            <a:avLst/>
          </a:prstGeom>
          <a:noFill/>
          <a:ln/>
        </p:spPr>
        <p:txBody>
          <a:bodyPr wrap="square" lIns="0" tIns="0" rIns="0" bIns="0" rtlCol="0" anchor="ctr"/>
          <a:lstStyle/>
          <a:p>
            <a:pPr marL="0" indent="0">
              <a:buNone/>
            </a:pPr>
            <a:r>
              <a:rPr lang="en-US" sz="1300" b="1" dirty="0">
                <a:solidFill>
                  <a:srgbClr val="213C4E"/>
                </a:solidFill>
                <a:latin typeface="Cambria" pitchFamily="34" charset="0"/>
                <a:ea typeface="Cambria" pitchFamily="34" charset="-122"/>
                <a:cs typeface="Cambria" pitchFamily="34" charset="-120"/>
              </a:rPr>
              <a:t>Method codes we see</a:t>
            </a:r>
            <a:endParaRPr lang="en-US" sz="1300" dirty="0"/>
          </a:p>
        </p:txBody>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583680" y="1920240"/>
          <a:ext cx="5074920" cy="2468880"/>
        </p:xfrm>
        <a:graphic>
          <a:graphicData uri="http://schemas.openxmlformats.org/drawingml/2006/table">
            <a:tbl>
              <a:tblPr/>
              <a:tblGrid>
                <a:gridCol w="822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Instrument</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1148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141</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Hi-vol Appendix J FRM</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 filter — Palo Alto site 0060</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145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Met One BAM 1020 continuous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Typical TCEQ CAMS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1148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149</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Met One BAM 1020 variant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Alternate inlet config</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209</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Met One BAM 1020 (later desig)</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Post-2015 TCEQ deployments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1148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TEOM legacy (R&amp;P)</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Largely phased out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Shape 6"/>
          <p:cNvSpPr/>
          <p:nvPr/>
        </p:nvSpPr>
        <p:spPr>
          <a:xfrm>
            <a:off x="548640" y="4617720"/>
            <a:ext cx="11064240" cy="1691640"/>
          </a:xfrm>
          <a:prstGeom prst="roundRect">
            <a:avLst>
              <a:gd name="adj" fmla="val 4324"/>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11" name="Text 7"/>
          <p:cNvSpPr/>
          <p:nvPr/>
        </p:nvSpPr>
        <p:spPr>
          <a:xfrm>
            <a:off x="777240" y="4754880"/>
            <a:ext cx="10607040" cy="365760"/>
          </a:xfrm>
          <a:prstGeom prst="rect">
            <a:avLst/>
          </a:prstGeom>
          <a:noFill/>
          <a:ln/>
        </p:spPr>
        <p:txBody>
          <a:bodyPr wrap="square" lIns="0" tIns="0" rIns="0" bIns="0" rtlCol="0" anchor="ctr"/>
          <a:lstStyle/>
          <a:p>
            <a:pPr marL="0" indent="0">
              <a:buNone/>
            </a:pPr>
            <a:r>
              <a:rPr lang="en-US" sz="1300" b="1" dirty="0">
                <a:solidFill>
                  <a:srgbClr val="C2410C"/>
                </a:solidFill>
                <a:latin typeface="Cambria" pitchFamily="34" charset="0"/>
                <a:ea typeface="Cambria" pitchFamily="34" charset="-122"/>
                <a:cs typeface="Cambria" pitchFamily="34" charset="-120"/>
              </a:rPr>
              <a:t>Units: µg/m³ — but WATCH the temperature reference</a:t>
            </a:r>
            <a:endParaRPr lang="en-US" sz="1300" dirty="0"/>
          </a:p>
        </p:txBody>
      </p:sp>
      <p:sp>
        <p:nvSpPr>
          <p:cNvPr id="12" name="Text 8"/>
          <p:cNvSpPr/>
          <p:nvPr/>
        </p:nvSpPr>
        <p:spPr>
          <a:xfrm>
            <a:off x="777240" y="5120640"/>
            <a:ext cx="10607040" cy="1143000"/>
          </a:xfrm>
          <a:prstGeom prst="rect">
            <a:avLst/>
          </a:prstGeom>
          <a:noFill/>
          <a:ln/>
        </p:spPr>
        <p:txBody>
          <a:bodyPr wrap="square" lIns="0" tIns="0" rIns="0" bIns="0" rtlCol="0" anchor="t"/>
          <a:lstStyle/>
          <a:p>
            <a:pPr marL="0" indent="0">
              <a:buNone/>
            </a:pPr>
            <a:r>
              <a:rPr lang="en-US" sz="1100" b="1" dirty="0">
                <a:solidFill>
                  <a:srgbClr val="333333"/>
                </a:solidFill>
                <a:latin typeface="Calibri" pitchFamily="34" charset="0"/>
                <a:ea typeface="Calibri" pitchFamily="34" charset="-122"/>
                <a:cs typeface="Calibri" pitchFamily="34" charset="-120"/>
              </a:rPr>
              <a:t>AQS unit code 001</a:t>
            </a:r>
            <a:r>
              <a:rPr lang="en-US" sz="1100" dirty="0">
                <a:solidFill>
                  <a:srgbClr val="333333"/>
                </a:solidFill>
                <a:latin typeface="Calibri" pitchFamily="34" charset="0"/>
                <a:ea typeface="Calibri" pitchFamily="34" charset="-122"/>
                <a:cs typeface="Calibri" pitchFamily="34" charset="-120"/>
              </a:rPr>
              <a:t> = µg/m³ at STP (25°C, 1 atm) — corresponds to parameter code 81102 (the dominant PM10 code)
</a:t>
            </a:r>
            <a:r>
              <a:rPr lang="en-US" sz="1100" b="1" dirty="0">
                <a:solidFill>
                  <a:srgbClr val="333333"/>
                </a:solidFill>
                <a:latin typeface="Calibri" pitchFamily="34" charset="0"/>
                <a:ea typeface="Calibri" pitchFamily="34" charset="-122"/>
                <a:cs typeface="Calibri" pitchFamily="34" charset="-120"/>
              </a:rPr>
              <a:t>AQS unit code 105</a:t>
            </a:r>
            <a:r>
              <a:rPr lang="en-US" sz="1100" dirty="0">
                <a:solidFill>
                  <a:srgbClr val="333333"/>
                </a:solidFill>
                <a:latin typeface="Calibri" pitchFamily="34" charset="0"/>
                <a:ea typeface="Calibri" pitchFamily="34" charset="-122"/>
                <a:cs typeface="Calibri" pitchFamily="34" charset="-120"/>
              </a:rPr>
              <a:t> = µg/m³ at LC (local ambient) — corresponds to parameter code 85101
</a:t>
            </a:r>
            <a:r>
              <a:rPr lang="en-US" sz="1050" i="1" dirty="0">
                <a:solidFill>
                  <a:srgbClr val="6B7A85"/>
                </a:solidFill>
                <a:latin typeface="Calibri" pitchFamily="34" charset="0"/>
                <a:ea typeface="Calibri" pitchFamily="34" charset="-122"/>
                <a:cs typeface="Calibri" pitchFamily="34" charset="-120"/>
              </a:rPr>
              <a:t>For a hot near-sea-level Coastal Bend site, STP vs LC differ by only a few percent (a 30°C ambient temperature reduces air density by ~1.7% relative to STP). Non-negligible at high altitude or in extreme heat, but small in our region. In our pipeline, most Coastal Bend PM10 rows are STP-referenced.</a:t>
            </a:r>
            <a:endParaRPr lang="en-US" sz="1100" dirty="0"/>
          </a:p>
        </p:txBody>
      </p:sp>
      <p:sp>
        <p:nvSpPr>
          <p:cNvPr id="13" name="Text 9"/>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4" name="Text 10"/>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36 / 60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WEATHER</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PM10 – weather relationships</a:t>
            </a:r>
            <a:endParaRPr lang="en-US" sz="3000" dirty="0"/>
          </a:p>
        </p:txBody>
      </p:sp>
      <p:sp>
        <p:nvSpPr>
          <p:cNvPr id="4" name="Shape 2"/>
          <p:cNvSpPr/>
          <p:nvPr/>
        </p:nvSpPr>
        <p:spPr>
          <a:xfrm>
            <a:off x="54864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365760" cy="365760"/>
          </a:xfrm>
          <a:prstGeom prst="rect">
            <a:avLst/>
          </a:prstGeom>
        </p:spPr>
      </p:pic>
      <p:sp>
        <p:nvSpPr>
          <p:cNvPr id="6" name="Text 3"/>
          <p:cNvSpPr/>
          <p:nvPr/>
        </p:nvSpPr>
        <p:spPr>
          <a:xfrm>
            <a:off x="1234440" y="1645920"/>
            <a:ext cx="2788920" cy="45720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Wind speed (STRONG positive)</a:t>
            </a:r>
            <a:endParaRPr lang="en-US" sz="1400" dirty="0"/>
          </a:p>
        </p:txBody>
      </p:sp>
      <p:sp>
        <p:nvSpPr>
          <p:cNvPr id="7" name="Text 4"/>
          <p:cNvSpPr/>
          <p:nvPr/>
        </p:nvSpPr>
        <p:spPr>
          <a:xfrm>
            <a:off x="73152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Emission rate scales as u*³ above threshold friction velocity (~5-7 m/s at 10 m). High-wind episodes (fronts, dryline) generate largest local PM10 excursions. Below cloud, wind also drives sea-spray production.</a:t>
            </a:r>
            <a:endParaRPr lang="en-US" sz="1400" dirty="0"/>
          </a:p>
        </p:txBody>
      </p:sp>
      <p:sp>
        <p:nvSpPr>
          <p:cNvPr id="8" name="Shape 5"/>
          <p:cNvSpPr/>
          <p:nvPr/>
        </p:nvSpPr>
        <p:spPr>
          <a:xfrm>
            <a:off x="448056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63440" y="1691640"/>
            <a:ext cx="365760" cy="365760"/>
          </a:xfrm>
          <a:prstGeom prst="rect">
            <a:avLst/>
          </a:prstGeom>
        </p:spPr>
      </p:pic>
      <p:sp>
        <p:nvSpPr>
          <p:cNvPr id="10" name="Text 6"/>
          <p:cNvSpPr/>
          <p:nvPr/>
        </p:nvSpPr>
        <p:spPr>
          <a:xfrm>
            <a:off x="5166360" y="1645920"/>
            <a:ext cx="2788920" cy="45720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Wind direction</a:t>
            </a:r>
            <a:endParaRPr lang="en-US" sz="1400" dirty="0"/>
          </a:p>
        </p:txBody>
      </p:sp>
      <p:sp>
        <p:nvSpPr>
          <p:cNvPr id="11" name="Text 7"/>
          <p:cNvSpPr/>
          <p:nvPr/>
        </p:nvSpPr>
        <p:spPr>
          <a:xfrm>
            <a:off x="466344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Coastal Bend split: SE (marine) → sea salt aerosol; N/NW (continental) → agricultural + rangeland dust. Direction-resolved source apportionment is essential.</a:t>
            </a:r>
            <a:endParaRPr lang="en-US" sz="1400" dirty="0"/>
          </a:p>
        </p:txBody>
      </p:sp>
      <p:sp>
        <p:nvSpPr>
          <p:cNvPr id="12" name="Shape 8"/>
          <p:cNvSpPr/>
          <p:nvPr/>
        </p:nvSpPr>
        <p:spPr>
          <a:xfrm>
            <a:off x="841248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sz="2800"/>
          </a:p>
        </p:txBody>
      </p:sp>
      <p:pic>
        <p:nvPicPr>
          <p:cNvPr id="13" name="Image 2" descr="preencoded.png"/>
          <p:cNvPicPr>
            <a:picLocks noChangeAspect="1"/>
          </p:cNvPicPr>
          <p:nvPr/>
        </p:nvPicPr>
        <p:blipFill>
          <a:blip r:embed="rId5"/>
          <a:stretch>
            <a:fillRect/>
          </a:stretch>
        </p:blipFill>
        <p:spPr>
          <a:xfrm>
            <a:off x="8595360" y="1691640"/>
            <a:ext cx="365760" cy="365760"/>
          </a:xfrm>
          <a:prstGeom prst="rect">
            <a:avLst/>
          </a:prstGeom>
        </p:spPr>
      </p:pic>
      <p:sp>
        <p:nvSpPr>
          <p:cNvPr id="14" name="Text 9"/>
          <p:cNvSpPr/>
          <p:nvPr/>
        </p:nvSpPr>
        <p:spPr>
          <a:xfrm>
            <a:off x="9098280" y="1645920"/>
            <a:ext cx="2788920" cy="45720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Precipitation (STRONG negative)</a:t>
            </a:r>
            <a:endParaRPr lang="en-US" sz="1400" dirty="0"/>
          </a:p>
        </p:txBody>
      </p:sp>
      <p:sp>
        <p:nvSpPr>
          <p:cNvPr id="15" name="Text 10"/>
          <p:cNvSpPr/>
          <p:nvPr/>
        </p:nvSpPr>
        <p:spPr>
          <a:xfrm>
            <a:off x="8595360" y="21945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Wet deposition scavenging: PM10 typically drops 40–80% during and after rain. Below-cloud impaction is highly efficient for coarse particles (inertial impaction). Rain events reset the PM10 baseline.</a:t>
            </a:r>
            <a:endParaRPr lang="en-US" sz="1400" dirty="0"/>
          </a:p>
        </p:txBody>
      </p:sp>
      <p:sp>
        <p:nvSpPr>
          <p:cNvPr id="16" name="Shape 11"/>
          <p:cNvSpPr/>
          <p:nvPr/>
        </p:nvSpPr>
        <p:spPr>
          <a:xfrm>
            <a:off x="54864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4206240"/>
            <a:ext cx="365760" cy="365760"/>
          </a:xfrm>
          <a:prstGeom prst="rect">
            <a:avLst/>
          </a:prstGeom>
        </p:spPr>
      </p:pic>
      <p:sp>
        <p:nvSpPr>
          <p:cNvPr id="18" name="Text 12"/>
          <p:cNvSpPr/>
          <p:nvPr/>
        </p:nvSpPr>
        <p:spPr>
          <a:xfrm>
            <a:off x="1234440" y="4160520"/>
            <a:ext cx="2788920" cy="45720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Relative humidity</a:t>
            </a:r>
            <a:endParaRPr lang="en-US" sz="1400" dirty="0"/>
          </a:p>
        </p:txBody>
      </p:sp>
      <p:sp>
        <p:nvSpPr>
          <p:cNvPr id="19" name="Text 13"/>
          <p:cNvSpPr/>
          <p:nvPr/>
        </p:nvSpPr>
        <p:spPr>
          <a:xfrm>
            <a:off x="731520" y="47091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Hygroscopic growth of sea salt at RH &gt; 70% inflates effective particle size + speeds settling. For Coastal Bend's chronic 74-78% RH: sea salt shortens residence time BUT inflates optical readings.</a:t>
            </a:r>
            <a:endParaRPr lang="en-US" sz="1400" dirty="0"/>
          </a:p>
        </p:txBody>
      </p:sp>
      <p:sp>
        <p:nvSpPr>
          <p:cNvPr id="20" name="Shape 14"/>
          <p:cNvSpPr/>
          <p:nvPr/>
        </p:nvSpPr>
        <p:spPr>
          <a:xfrm>
            <a:off x="448056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663440" y="4206240"/>
            <a:ext cx="365760" cy="365760"/>
          </a:xfrm>
          <a:prstGeom prst="rect">
            <a:avLst/>
          </a:prstGeom>
        </p:spPr>
      </p:pic>
      <p:sp>
        <p:nvSpPr>
          <p:cNvPr id="22" name="Text 15"/>
          <p:cNvSpPr/>
          <p:nvPr/>
        </p:nvSpPr>
        <p:spPr>
          <a:xfrm>
            <a:off x="5166360" y="4160520"/>
            <a:ext cx="2788920" cy="45720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ENSO (La Niña → dust)</a:t>
            </a:r>
            <a:endParaRPr lang="en-US" sz="1400" dirty="0"/>
          </a:p>
        </p:txBody>
      </p:sp>
      <p:sp>
        <p:nvSpPr>
          <p:cNvPr id="23" name="Text 16"/>
          <p:cNvSpPr/>
          <p:nvPr/>
        </p:nvSpPr>
        <p:spPr>
          <a:xfrm>
            <a:off x="4663440" y="47091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La Niña winters in South Texas → below-normal precipitation → drier soils → more dust generation. The 2020-2025 Southern Plains drought (consecutive La Niña years, NOAA 2025) drove both increased local dust and reduced wet-deposition losses.</a:t>
            </a:r>
            <a:endParaRPr lang="en-US" sz="1400" dirty="0"/>
          </a:p>
        </p:txBody>
      </p:sp>
      <p:sp>
        <p:nvSpPr>
          <p:cNvPr id="24" name="Shape 17"/>
          <p:cNvSpPr/>
          <p:nvPr/>
        </p:nvSpPr>
        <p:spPr>
          <a:xfrm>
            <a:off x="841248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8595360" y="4206240"/>
            <a:ext cx="365760" cy="365760"/>
          </a:xfrm>
          <a:prstGeom prst="rect">
            <a:avLst/>
          </a:prstGeom>
        </p:spPr>
      </p:pic>
      <p:sp>
        <p:nvSpPr>
          <p:cNvPr id="26" name="Text 18"/>
          <p:cNvSpPr/>
          <p:nvPr/>
        </p:nvSpPr>
        <p:spPr>
          <a:xfrm>
            <a:off x="9098280" y="4160520"/>
            <a:ext cx="2788920" cy="45720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Hurricane season (coupling)</a:t>
            </a:r>
            <a:endParaRPr lang="en-US" sz="1400" dirty="0"/>
          </a:p>
        </p:txBody>
      </p:sp>
      <p:sp>
        <p:nvSpPr>
          <p:cNvPr id="27" name="Text 19"/>
          <p:cNvSpPr/>
          <p:nvPr/>
        </p:nvSpPr>
        <p:spPr>
          <a:xfrm>
            <a:off x="8595360" y="4709160"/>
            <a:ext cx="3246120" cy="150876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Saharan dust suppresses Atlantic cyclogenesis via SAL dry-air entrainment, dust radiative cooling of MDR SSTs, and inversion strengthening. Coastal Bend simultaneously experiences dust burden AND reduced local hurricane risk in dust-heavy summers.</a:t>
            </a:r>
            <a:endParaRPr lang="en-US" sz="140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37 / 60</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PM10 · OUR DATA</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Coastal Bend PM10 — sparse coverage, but still important</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b="1" dirty="0">
                <a:solidFill>
                  <a:srgbClr val="213C4E"/>
                </a:solidFill>
                <a:latin typeface="Cambria" pitchFamily="34" charset="0"/>
                <a:ea typeface="Cambria" pitchFamily="34" charset="-122"/>
                <a:cs typeface="Cambria" pitchFamily="34" charset="-120"/>
              </a:rPr>
              <a:t>What's in our v0.4.0 pipeline</a:t>
            </a:r>
            <a:endParaRPr lang="en-US" dirty="0"/>
          </a:p>
        </p:txBody>
      </p:sp>
      <p:sp>
        <p:nvSpPr>
          <p:cNvPr id="6" name="Text 4"/>
          <p:cNvSpPr/>
          <p:nvPr/>
        </p:nvSpPr>
        <p:spPr>
          <a:xfrm>
            <a:off x="777240" y="2061158"/>
            <a:ext cx="5486400" cy="4206240"/>
          </a:xfrm>
          <a:prstGeom prst="rect">
            <a:avLst/>
          </a:prstGeom>
          <a:noFill/>
          <a:ln/>
        </p:spPr>
        <p:txBody>
          <a:bodyPr wrap="square" lIns="0" tIns="0" rIns="0" bIns="0" rtlCol="0" anchor="t"/>
          <a:lstStyle/>
          <a:p>
            <a:pPr marL="0" indent="0">
              <a:spcAft>
                <a:spcPts val="300"/>
              </a:spcAft>
              <a:buNone/>
            </a:pPr>
            <a:r>
              <a:rPr lang="en-US" sz="1400" b="1" dirty="0">
                <a:solidFill>
                  <a:srgbClr val="333333"/>
                </a:solidFill>
                <a:latin typeface="Calibri" pitchFamily="34" charset="0"/>
                <a:ea typeface="Calibri" pitchFamily="34" charset="-122"/>
                <a:cs typeface="Calibri" pitchFamily="34" charset="-120"/>
              </a:rPr>
              <a:t>Total PM10 rows: </a:t>
            </a:r>
            <a:r>
              <a:rPr lang="en-US" sz="1400" dirty="0">
                <a:solidFill>
                  <a:srgbClr val="333333"/>
                </a:solidFill>
                <a:latin typeface="Calibri" pitchFamily="34" charset="0"/>
                <a:ea typeface="Calibri" pitchFamily="34" charset="-122"/>
                <a:cs typeface="Calibri" pitchFamily="34" charset="-120"/>
              </a:rPr>
              <a:t>~87,990 (across all 13 South Texas counties)</a:t>
            </a:r>
            <a:endParaRPr lang="en-US" sz="1400" dirty="0"/>
          </a:p>
          <a:p>
            <a:pPr marL="0" indent="0">
              <a:spcAft>
                <a:spcPts val="300"/>
              </a:spcAft>
              <a:buNone/>
            </a:pPr>
            <a:r>
              <a:rPr lang="en-US" sz="1400" b="1" dirty="0">
                <a:solidFill>
                  <a:srgbClr val="333333"/>
                </a:solidFill>
                <a:latin typeface="Calibri" pitchFamily="34" charset="0"/>
                <a:ea typeface="Calibri" pitchFamily="34" charset="-122"/>
                <a:cs typeface="Calibri" pitchFamily="34" charset="-120"/>
              </a:rPr>
              <a:t>Coastal Bend PM10 sites: </a:t>
            </a:r>
            <a:r>
              <a:rPr lang="en-US" sz="1400" dirty="0">
                <a:solidFill>
                  <a:srgbClr val="333333"/>
                </a:solidFill>
                <a:latin typeface="Calibri" pitchFamily="34" charset="0"/>
                <a:ea typeface="Calibri" pitchFamily="34" charset="-122"/>
                <a:cs typeface="Calibri" pitchFamily="34" charset="-120"/>
              </a:rPr>
              <a:t>candidates include CC Holly (483550034) and CC Dona Park (483550032) — needs explicit pipeline audit before writeup.</a:t>
            </a:r>
            <a:endParaRPr lang="en-US" sz="1400" dirty="0"/>
          </a:p>
          <a:p>
            <a:pPr marL="0" indent="0">
              <a:spcAft>
                <a:spcPts val="300"/>
              </a:spcAft>
              <a:buNone/>
            </a:pPr>
            <a:r>
              <a:rPr lang="en-US" sz="1400" b="1" dirty="0">
                <a:solidFill>
                  <a:srgbClr val="333333"/>
                </a:solidFill>
                <a:latin typeface="Calibri" pitchFamily="34" charset="0"/>
                <a:ea typeface="Calibri" pitchFamily="34" charset="-122"/>
                <a:cs typeface="Calibri" pitchFamily="34" charset="-120"/>
              </a:rPr>
              <a:t>24-hr FRM site outside Coastal Bend: </a:t>
            </a:r>
            <a:r>
              <a:rPr lang="en-US" sz="1400" dirty="0">
                <a:solidFill>
                  <a:srgbClr val="333333"/>
                </a:solidFill>
                <a:latin typeface="Calibri" pitchFamily="34" charset="0"/>
                <a:ea typeface="Calibri" pitchFamily="34" charset="-122"/>
                <a:cs typeface="Calibri" pitchFamily="34" charset="-120"/>
              </a:rPr>
              <a:t>480290060 San Antonio Palo Alto (Bexar) — 636 filter rows in aq.pollutant_daily_24hr; routed separately from hourly BAM data.</a:t>
            </a:r>
            <a:endParaRPr lang="en-US" sz="1400" dirty="0"/>
          </a:p>
          <a:p>
            <a:pPr marL="0" indent="0">
              <a:spcAft>
                <a:spcPts val="300"/>
              </a:spcAft>
              <a:buNone/>
            </a:pPr>
            <a:endParaRPr lang="en-US" sz="1400" dirty="0"/>
          </a:p>
          <a:p>
            <a:pPr marL="0" indent="0">
              <a:spcAft>
                <a:spcPts val="300"/>
              </a:spcAft>
              <a:buNone/>
            </a:pPr>
            <a:r>
              <a:rPr lang="en-US" sz="1400" b="1" dirty="0">
                <a:solidFill>
                  <a:srgbClr val="C2410C"/>
                </a:solidFill>
                <a:latin typeface="Calibri" pitchFamily="34" charset="0"/>
                <a:ea typeface="Calibri" pitchFamily="34" charset="-122"/>
                <a:cs typeface="Calibri" pitchFamily="34" charset="-120"/>
              </a:rPr>
              <a:t>2024 NAAQS exceedances (150 µg/m³ 24-hr): </a:t>
            </a:r>
            <a:endParaRPr lang="en-US" sz="1400" dirty="0"/>
          </a:p>
          <a:p>
            <a:pPr marL="0" indent="0">
              <a:spcAft>
                <a:spcPts val="300"/>
              </a:spcAft>
              <a:buNone/>
            </a:pPr>
            <a:r>
              <a:rPr lang="en-US" sz="1400" dirty="0">
                <a:solidFill>
                  <a:srgbClr val="333333"/>
                </a:solidFill>
                <a:latin typeface="Calibri" pitchFamily="34" charset="0"/>
                <a:ea typeface="Calibri" pitchFamily="34" charset="-122"/>
                <a:cs typeface="Calibri" pitchFamily="34" charset="-120"/>
              </a:rPr>
              <a:t>NONE in our data.  Consistent with historical Coastal Bend behavior — sea salt + background dust rarely push above 100 µg/m³ absent a Saharan intrusion or local dust event.</a:t>
            </a:r>
            <a:endParaRPr lang="en-US" sz="1400" dirty="0"/>
          </a:p>
        </p:txBody>
      </p:sp>
      <p:sp>
        <p:nvSpPr>
          <p:cNvPr id="7" name="Shape 5"/>
          <p:cNvSpPr/>
          <p:nvPr/>
        </p:nvSpPr>
        <p:spPr>
          <a:xfrm>
            <a:off x="653796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65760"/>
          </a:xfrm>
          <a:prstGeom prst="rect">
            <a:avLst/>
          </a:prstGeom>
          <a:noFill/>
          <a:ln/>
        </p:spPr>
        <p:txBody>
          <a:bodyPr wrap="square" lIns="0" tIns="0" rIns="0" bIns="0" rtlCol="0" anchor="ctr"/>
          <a:lstStyle/>
          <a:p>
            <a:pPr marL="0" indent="0">
              <a:buNone/>
            </a:pPr>
            <a:r>
              <a:rPr lang="en-US" b="1" dirty="0">
                <a:solidFill>
                  <a:srgbClr val="C2410C"/>
                </a:solidFill>
                <a:latin typeface="Cambria" pitchFamily="34" charset="0"/>
                <a:ea typeface="Cambria" pitchFamily="34" charset="-122"/>
                <a:cs typeface="Cambria" pitchFamily="34" charset="-120"/>
              </a:rPr>
              <a:t>Why PM10 still matters for our study</a:t>
            </a:r>
            <a:endParaRPr lang="en-US" dirty="0"/>
          </a:p>
        </p:txBody>
      </p:sp>
      <p:sp>
        <p:nvSpPr>
          <p:cNvPr id="9" name="Text 7"/>
          <p:cNvSpPr/>
          <p:nvPr/>
        </p:nvSpPr>
        <p:spPr>
          <a:xfrm>
            <a:off x="6766560" y="1965960"/>
            <a:ext cx="4709160" cy="4206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1. Sea salt is a first-order coarse-mode source that PM2.5 measurement misses. Any Coastal Bend aerosol characterization that ignores coarse fraction is incomplete.</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2. Episodic Saharan dust delivers biological + metal cargo with documented respiratory-inflammatory consequences (Ortiz-Martínez 2015, Bozlaker 2024).</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3. Local drought + agricultural dust events are increasing under recurrent La Niña forcing.</a:t>
            </a:r>
            <a:endParaRPr lang="en-US" sz="1400" dirty="0"/>
          </a:p>
          <a:p>
            <a:pPr marL="342900" indent="-342900">
              <a:spcAft>
                <a:spcPts val="300"/>
              </a:spcAft>
              <a:buSzPct val="100000"/>
              <a:buChar char="•"/>
            </a:pPr>
            <a:r>
              <a:rPr lang="en-US" sz="1400" dirty="0">
                <a:solidFill>
                  <a:srgbClr val="333333"/>
                </a:solidFill>
                <a:latin typeface="Calibri" pitchFamily="34" charset="0"/>
                <a:ea typeface="Calibri" pitchFamily="34" charset="-122"/>
                <a:cs typeface="Calibri" pitchFamily="34" charset="-120"/>
              </a:rPr>
              <a:t>4. Port + Ship Channel fugitive dust is a local exposure with environmental-justice implications that a PM2.5-only network cannot resolve.</a:t>
            </a:r>
            <a:endParaRPr lang="en-US" sz="1400" dirty="0"/>
          </a:p>
          <a:p>
            <a:pPr marL="0" indent="0">
              <a:spcAft>
                <a:spcPts val="300"/>
              </a:spcAft>
              <a:buNone/>
            </a:pPr>
            <a:endParaRPr lang="en-US" sz="1400" dirty="0"/>
          </a:p>
          <a:p>
            <a:pPr marL="0" indent="0">
              <a:spcAft>
                <a:spcPts val="300"/>
              </a:spcAft>
              <a:buNone/>
            </a:pPr>
            <a:r>
              <a:rPr lang="en-US" sz="1200" b="1" i="1" dirty="0">
                <a:solidFill>
                  <a:srgbClr val="C2410C"/>
                </a:solidFill>
                <a:latin typeface="Calibri" pitchFamily="34" charset="0"/>
                <a:ea typeface="Calibri" pitchFamily="34" charset="-122"/>
                <a:cs typeface="Calibri" pitchFamily="34" charset="-120"/>
              </a:rPr>
              <a:t>→ Recommendation: emphasize both the coverage limitation and the scientific importance. Advocate for expanded coarse-fraction monitoring rather than treating PM10 as a legacy metric.</a:t>
            </a:r>
            <a:endParaRPr lang="en-US" sz="1400" dirty="0"/>
          </a:p>
        </p:txBody>
      </p:sp>
      <p:sp>
        <p:nvSpPr>
          <p:cNvPr id="10"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1"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38 / 60</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2A38"/>
        </a:solidFill>
        <a:effectLst/>
      </p:bgPr>
    </p:bg>
    <p:spTree>
      <p:nvGrpSpPr>
        <p:cNvPr id="1" name=""/>
        <p:cNvGrpSpPr/>
        <p:nvPr/>
      </p:nvGrpSpPr>
      <p:grpSpPr>
        <a:xfrm>
          <a:off x="0" y="0"/>
          <a:ext cx="0" cy="0"/>
          <a:chOff x="0" y="0"/>
          <a:chExt cx="0" cy="0"/>
        </a:xfrm>
      </p:grpSpPr>
      <p:sp>
        <p:nvSpPr>
          <p:cNvPr id="2" name="Text 0"/>
          <p:cNvSpPr/>
          <p:nvPr/>
        </p:nvSpPr>
        <p:spPr>
          <a:xfrm>
            <a:off x="548640" y="2743200"/>
            <a:ext cx="10972800" cy="365760"/>
          </a:xfrm>
          <a:prstGeom prst="rect">
            <a:avLst/>
          </a:prstGeom>
          <a:noFill/>
          <a:ln/>
        </p:spPr>
        <p:txBody>
          <a:bodyPr wrap="square" lIns="0" tIns="0" rIns="0" bIns="0" rtlCol="0" anchor="ctr"/>
          <a:lstStyle/>
          <a:p>
            <a:pPr marL="0" indent="0">
              <a:buNone/>
            </a:pPr>
            <a:r>
              <a:rPr lang="en-US" sz="1200" b="1" kern="0" spc="400" dirty="0">
                <a:solidFill>
                  <a:srgbClr val="C2410C"/>
                </a:solidFill>
                <a:latin typeface="Calibri" pitchFamily="34" charset="0"/>
                <a:ea typeface="Calibri" pitchFamily="34" charset="-122"/>
                <a:cs typeface="Calibri" pitchFamily="34" charset="-120"/>
              </a:rPr>
              <a:t>SECTION 5</a:t>
            </a:r>
            <a:endParaRPr lang="en-US" sz="1200" dirty="0"/>
          </a:p>
        </p:txBody>
      </p:sp>
      <p:sp>
        <p:nvSpPr>
          <p:cNvPr id="3" name="Text 1"/>
          <p:cNvSpPr/>
          <p:nvPr/>
        </p:nvSpPr>
        <p:spPr>
          <a:xfrm>
            <a:off x="548640" y="3108960"/>
            <a:ext cx="11451294" cy="14630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VOCs — volatile organic compounds</a:t>
            </a:r>
            <a:endParaRPr lang="en-US" sz="5400" dirty="0"/>
          </a:p>
        </p:txBody>
      </p:sp>
      <p:sp>
        <p:nvSpPr>
          <p:cNvPr id="4" name="Text 2"/>
          <p:cNvSpPr/>
          <p:nvPr/>
        </p:nvSpPr>
        <p:spPr>
          <a:xfrm>
            <a:off x="548640" y="4480560"/>
            <a:ext cx="10972800" cy="457200"/>
          </a:xfrm>
          <a:prstGeom prst="rect">
            <a:avLst/>
          </a:prstGeom>
          <a:noFill/>
          <a:ln/>
        </p:spPr>
        <p:txBody>
          <a:bodyPr wrap="square" lIns="0" tIns="0" rIns="0" bIns="0" rtlCol="0" anchor="ctr"/>
          <a:lstStyle/>
          <a:p>
            <a:pPr marL="0" indent="0">
              <a:buNone/>
            </a:pPr>
            <a:r>
              <a:rPr lang="en-US" sz="1600" i="1" dirty="0">
                <a:solidFill>
                  <a:srgbClr val="AABBC8"/>
                </a:solidFill>
                <a:latin typeface="Calibri" pitchFamily="34" charset="0"/>
                <a:ea typeface="Calibri" pitchFamily="34" charset="-122"/>
                <a:cs typeface="Calibri" pitchFamily="34" charset="-120"/>
              </a:rPr>
              <a:t>Ozone + PM precursors. HAPs on the criteria menu. PAMS network. AutoGC + TO-15 canisters.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What VOCs are — regulatory + chemical definition</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The regulatory definition (40 CFR §51.100(s))</a:t>
            </a:r>
            <a:endParaRPr lang="en-US" sz="1400"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300"/>
              </a:spcAft>
              <a:buNone/>
            </a:pPr>
            <a:r>
              <a:rPr lang="en-US" sz="1000" i="1" dirty="0">
                <a:solidFill>
                  <a:srgbClr val="6B7A85"/>
                </a:solidFill>
                <a:latin typeface="Calibri" pitchFamily="34" charset="0"/>
                <a:ea typeface="Calibri" pitchFamily="34" charset="-122"/>
                <a:cs typeface="Calibri" pitchFamily="34" charset="-120"/>
              </a:rPr>
              <a:t>"Any compound of carbon, excluding CO, CO2, carbonic acid, metallic carbides or carbonates, and ammonium carbonate, which participates in atmospheric photochemical reactions..."
</a:t>
            </a:r>
            <a:r>
              <a:rPr lang="en-US" sz="1100" b="1" dirty="0">
                <a:solidFill>
                  <a:srgbClr val="333333"/>
                </a:solidFill>
                <a:latin typeface="Calibri" pitchFamily="34" charset="0"/>
                <a:ea typeface="Calibri" pitchFamily="34" charset="-122"/>
                <a:cs typeface="Calibri" pitchFamily="34" charset="-120"/>
              </a:rPr>
              <a:t>In practice: </a:t>
            </a:r>
            <a:r>
              <a:rPr lang="en-US" sz="1100" dirty="0">
                <a:solidFill>
                  <a:srgbClr val="333333"/>
                </a:solidFill>
                <a:latin typeface="Calibri" pitchFamily="34" charset="0"/>
                <a:ea typeface="Calibri" pitchFamily="34" charset="-122"/>
                <a:cs typeface="Calibri" pitchFamily="34" charset="-120"/>
              </a:rPr>
              <a:t>carbon-containing gases + vapors that (a) exist in gas phase at ambient T and (b) contribute to ozone/SOA formation through OH-radical oxidation.
</a:t>
            </a:r>
            <a:r>
              <a:rPr lang="en-US" sz="1100" b="1" dirty="0">
                <a:solidFill>
                  <a:srgbClr val="C2410C"/>
                </a:solidFill>
                <a:latin typeface="Calibri" pitchFamily="34" charset="0"/>
                <a:ea typeface="Calibri" pitchFamily="34" charset="-122"/>
                <a:cs typeface="Calibri" pitchFamily="34" charset="-120"/>
              </a:rPr>
              <a:t>EPA-exempt species </a:t>
            </a:r>
            <a:r>
              <a:rPr lang="en-US" sz="1100" dirty="0">
                <a:solidFill>
                  <a:srgbClr val="333333"/>
                </a:solidFill>
                <a:latin typeface="Calibri" pitchFamily="34" charset="0"/>
                <a:ea typeface="Calibri" pitchFamily="34" charset="-122"/>
                <a:cs typeface="Calibri" pitchFamily="34" charset="-120"/>
              </a:rPr>
              <a:t>(NOT VOCs for regulatory purposes even though they contain carbon):
</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Methane (43201) — very slow OH reaction</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Ethane (43202) — low reactivity — EXEMPT since 2005</a:t>
            </a:r>
            <a:endParaRPr lang="en-US" sz="1100" dirty="0"/>
          </a:p>
          <a:p>
            <a:pPr marL="342900" indent="-342900">
              <a:spcAft>
                <a:spcPts val="300"/>
              </a:spcAft>
              <a:buSzPct val="100000"/>
              <a:buChar char="•"/>
            </a:pPr>
            <a:r>
              <a:rPr lang="en-US" sz="1100" dirty="0">
                <a:solidFill>
                  <a:srgbClr val="333333"/>
                </a:solidFill>
                <a:latin typeface="Calibri" pitchFamily="34" charset="0"/>
                <a:ea typeface="Calibri" pitchFamily="34" charset="-122"/>
                <a:cs typeface="Calibri" pitchFamily="34" charset="-120"/>
              </a:rPr>
              <a:t>Acetone (43551), several HFCs, and others</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Our pipeline preserves </a:t>
            </a:r>
            <a:endParaRPr lang="en-US" sz="1100" dirty="0"/>
          </a:p>
          <a:p>
            <a:pPr marL="0" indent="0">
              <a:spcAft>
                <a:spcPts val="300"/>
              </a:spcAft>
              <a:buNone/>
            </a:pPr>
            <a:r>
              <a:rPr lang="en-US" sz="1100" b="1" dirty="0">
                <a:solidFill>
                  <a:srgbClr val="333333"/>
                </a:solidFill>
                <a:latin typeface="Calibri" pitchFamily="34" charset="0"/>
                <a:ea typeface="Calibri" pitchFamily="34" charset="-122"/>
                <a:cs typeface="Calibri" pitchFamily="34" charset="-120"/>
              </a:rPr>
              <a:t>all 43xxx + 45xxx species that TCEQ measures</a:t>
            </a:r>
            <a:r>
              <a:rPr lang="en-US" sz="1100" dirty="0">
                <a:solidFill>
                  <a:srgbClr val="333333"/>
                </a:solidFill>
                <a:latin typeface="Calibri" pitchFamily="34" charset="0"/>
                <a:ea typeface="Calibri" pitchFamily="34" charset="-122"/>
                <a:cs typeface="Calibri" pitchFamily="34" charset="-120"/>
              </a:rPr>
              <a:t> — regulatory exemption status doesn't affect what we ingest.</a:t>
            </a:r>
            <a:endParaRPr lang="en-US" sz="1100" dirty="0"/>
          </a:p>
        </p:txBody>
      </p:sp>
      <p:sp>
        <p:nvSpPr>
          <p:cNvPr id="7" name="Shape 5"/>
          <p:cNvSpPr/>
          <p:nvPr/>
        </p:nvSpPr>
        <p:spPr>
          <a:xfrm>
            <a:off x="653796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65760"/>
          </a:xfrm>
          <a:prstGeom prst="rect">
            <a:avLst/>
          </a:prstGeom>
          <a:noFill/>
          <a:ln/>
        </p:spPr>
        <p:txBody>
          <a:bodyPr wrap="square" lIns="0" tIns="0" rIns="0" bIns="0" rtlCol="0" anchor="ctr"/>
          <a:lstStyle/>
          <a:p>
            <a:pPr marL="0" indent="0">
              <a:buNone/>
            </a:pPr>
            <a:r>
              <a:rPr lang="en-US" sz="1400" b="1" dirty="0">
                <a:solidFill>
                  <a:srgbClr val="C2410C"/>
                </a:solidFill>
                <a:latin typeface="Cambria" pitchFamily="34" charset="0"/>
                <a:ea typeface="Cambria" pitchFamily="34" charset="-122"/>
                <a:cs typeface="Cambria" pitchFamily="34" charset="-120"/>
              </a:rPr>
              <a:t>Why we track VOCs</a:t>
            </a:r>
            <a:endParaRPr lang="en-US" sz="1400" dirty="0"/>
          </a:p>
        </p:txBody>
      </p:sp>
      <p:pic>
        <p:nvPicPr>
          <p:cNvPr id="9" name="Image 0" descr="preencoded.png"/>
          <p:cNvPicPr>
            <a:picLocks noChangeAspect="1"/>
          </p:cNvPicPr>
          <p:nvPr/>
        </p:nvPicPr>
        <p:blipFill>
          <a:blip r:embed="rId3"/>
          <a:stretch>
            <a:fillRect/>
          </a:stretch>
        </p:blipFill>
        <p:spPr>
          <a:xfrm>
            <a:off x="6766560" y="2029968"/>
            <a:ext cx="365760" cy="365760"/>
          </a:xfrm>
          <a:prstGeom prst="rect">
            <a:avLst/>
          </a:prstGeom>
        </p:spPr>
      </p:pic>
      <p:sp>
        <p:nvSpPr>
          <p:cNvPr id="10" name="Text 7"/>
          <p:cNvSpPr/>
          <p:nvPr/>
        </p:nvSpPr>
        <p:spPr>
          <a:xfrm>
            <a:off x="7223760" y="1993392"/>
            <a:ext cx="4297680" cy="27432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Ozone precursors</a:t>
            </a:r>
            <a:endParaRPr lang="en-US" sz="1200" dirty="0"/>
          </a:p>
        </p:txBody>
      </p:sp>
      <p:sp>
        <p:nvSpPr>
          <p:cNvPr id="11" name="Text 8"/>
          <p:cNvSpPr/>
          <p:nvPr/>
        </p:nvSpPr>
        <p:spPr>
          <a:xfrm>
            <a:off x="7223760" y="2267712"/>
            <a:ext cx="4297680" cy="777240"/>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OH + VOC → RO2 → NO2 → hν → O3. The photochemical engine of summer smog. Speciated VOC data is required for photochemical modeling (CAMx, CMAQ).</a:t>
            </a:r>
            <a:endParaRPr lang="en-US" sz="1000" dirty="0"/>
          </a:p>
        </p:txBody>
      </p:sp>
      <p:pic>
        <p:nvPicPr>
          <p:cNvPr id="12" name="Image 1" descr="preencoded.png"/>
          <p:cNvPicPr>
            <a:picLocks noChangeAspect="1"/>
          </p:cNvPicPr>
          <p:nvPr/>
        </p:nvPicPr>
        <p:blipFill>
          <a:blip r:embed="rId4"/>
          <a:stretch>
            <a:fillRect/>
          </a:stretch>
        </p:blipFill>
        <p:spPr>
          <a:xfrm>
            <a:off x="6766560" y="3081528"/>
            <a:ext cx="365760" cy="365760"/>
          </a:xfrm>
          <a:prstGeom prst="rect">
            <a:avLst/>
          </a:prstGeom>
        </p:spPr>
      </p:pic>
      <p:sp>
        <p:nvSpPr>
          <p:cNvPr id="13" name="Text 9"/>
          <p:cNvSpPr/>
          <p:nvPr/>
        </p:nvSpPr>
        <p:spPr>
          <a:xfrm>
            <a:off x="7223760" y="3044952"/>
            <a:ext cx="4297680" cy="27432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SOA precursors</a:t>
            </a:r>
            <a:endParaRPr lang="en-US" sz="1200" dirty="0"/>
          </a:p>
        </p:txBody>
      </p:sp>
      <p:sp>
        <p:nvSpPr>
          <p:cNvPr id="14" name="Text 10"/>
          <p:cNvSpPr/>
          <p:nvPr/>
        </p:nvSpPr>
        <p:spPr>
          <a:xfrm>
            <a:off x="7223760" y="3319272"/>
            <a:ext cx="4297680" cy="777240"/>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Aromatic + biogenic VOCs oxidize to secondary organic aerosol — a major PM2.5 constituent in the Coastal Bend refinery corridor.</a:t>
            </a:r>
            <a:endParaRPr lang="en-US" sz="1000" dirty="0"/>
          </a:p>
        </p:txBody>
      </p:sp>
      <p:pic>
        <p:nvPicPr>
          <p:cNvPr id="15" name="Image 2" descr="preencoded.png"/>
          <p:cNvPicPr>
            <a:picLocks noChangeAspect="1"/>
          </p:cNvPicPr>
          <p:nvPr/>
        </p:nvPicPr>
        <p:blipFill>
          <a:blip r:embed="rId5"/>
          <a:stretch>
            <a:fillRect/>
          </a:stretch>
        </p:blipFill>
        <p:spPr>
          <a:xfrm>
            <a:off x="6766560" y="4133088"/>
            <a:ext cx="365760" cy="365760"/>
          </a:xfrm>
          <a:prstGeom prst="rect">
            <a:avLst/>
          </a:prstGeom>
        </p:spPr>
      </p:pic>
      <p:sp>
        <p:nvSpPr>
          <p:cNvPr id="16" name="Text 11"/>
          <p:cNvSpPr/>
          <p:nvPr/>
        </p:nvSpPr>
        <p:spPr>
          <a:xfrm>
            <a:off x="7223760" y="4096512"/>
            <a:ext cx="4297680" cy="27432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Direct HAP exposure</a:t>
            </a:r>
            <a:endParaRPr lang="en-US" sz="1200" dirty="0"/>
          </a:p>
        </p:txBody>
      </p:sp>
      <p:sp>
        <p:nvSpPr>
          <p:cNvPr id="17" name="Text 12"/>
          <p:cNvSpPr/>
          <p:nvPr/>
        </p:nvSpPr>
        <p:spPr>
          <a:xfrm>
            <a:off x="7223760" y="4370832"/>
            <a:ext cx="4297680" cy="777240"/>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10 of our 47 species are Hazardous Air Pollutants (CAA §112(b)). Benzene alone is a Group 1 human carcinogen.</a:t>
            </a:r>
            <a:endParaRPr lang="en-US" sz="1000" dirty="0"/>
          </a:p>
        </p:txBody>
      </p:sp>
      <p:pic>
        <p:nvPicPr>
          <p:cNvPr id="18" name="Image 3" descr="preencoded.png"/>
          <p:cNvPicPr>
            <a:picLocks noChangeAspect="1"/>
          </p:cNvPicPr>
          <p:nvPr/>
        </p:nvPicPr>
        <p:blipFill>
          <a:blip r:embed="rId6"/>
          <a:stretch>
            <a:fillRect/>
          </a:stretch>
        </p:blipFill>
        <p:spPr>
          <a:xfrm>
            <a:off x="6766560" y="5184648"/>
            <a:ext cx="365760" cy="365760"/>
          </a:xfrm>
          <a:prstGeom prst="rect">
            <a:avLst/>
          </a:prstGeom>
        </p:spPr>
      </p:pic>
      <p:sp>
        <p:nvSpPr>
          <p:cNvPr id="19" name="Text 13"/>
          <p:cNvSpPr/>
          <p:nvPr/>
        </p:nvSpPr>
        <p:spPr>
          <a:xfrm>
            <a:off x="7223760" y="5148072"/>
            <a:ext cx="4297680" cy="27432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Source fingerprinting</a:t>
            </a:r>
            <a:endParaRPr lang="en-US" sz="1200" dirty="0"/>
          </a:p>
        </p:txBody>
      </p:sp>
      <p:sp>
        <p:nvSpPr>
          <p:cNvPr id="20" name="Text 14"/>
          <p:cNvSpPr/>
          <p:nvPr/>
        </p:nvSpPr>
        <p:spPr>
          <a:xfrm>
            <a:off x="7223760" y="5422392"/>
            <a:ext cx="4297680" cy="777240"/>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Ratios (e.g., benzene/toluene) identify source classes — mobile, refinery, biogenic, unconventional O&amp;G. Critical for attribution.</a:t>
            </a:r>
            <a:endParaRPr lang="en-US" sz="1000" dirty="0"/>
          </a:p>
        </p:txBody>
      </p:sp>
      <p:sp>
        <p:nvSpPr>
          <p:cNvPr id="21" name="Text 1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2" name="Text 16"/>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39 / 60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Chemical families in our data — 47 species</a:t>
            </a:r>
            <a:endParaRPr lang="en-US" sz="3000" dirty="0"/>
          </a:p>
        </p:txBody>
      </p:sp>
      <p:sp>
        <p:nvSpPr>
          <p:cNvPr id="4" name="Shape 2"/>
          <p:cNvSpPr/>
          <p:nvPr/>
        </p:nvSpPr>
        <p:spPr>
          <a:xfrm>
            <a:off x="548640" y="1417320"/>
            <a:ext cx="4023360" cy="4937760"/>
          </a:xfrm>
          <a:prstGeom prst="roundRect">
            <a:avLst>
              <a:gd name="adj" fmla="val 1818"/>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365760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Breakdown</a:t>
            </a:r>
            <a:endParaRPr lang="en-US" sz="1400" dirty="0"/>
          </a:p>
        </p:txBody>
      </p:sp>
      <p:sp>
        <p:nvSpPr>
          <p:cNvPr id="6" name="Shape 4"/>
          <p:cNvSpPr/>
          <p:nvPr/>
        </p:nvSpPr>
        <p:spPr>
          <a:xfrm>
            <a:off x="822960" y="2011680"/>
            <a:ext cx="685800" cy="685800"/>
          </a:xfrm>
          <a:prstGeom prst="ellipse">
            <a:avLst/>
          </a:prstGeom>
          <a:solidFill>
            <a:srgbClr val="213C4E"/>
          </a:solidFill>
          <a:ln w="12700">
            <a:solidFill>
              <a:srgbClr val="213C4E"/>
            </a:solidFill>
            <a:prstDash val="solid"/>
          </a:ln>
        </p:spPr>
        <p:txBody>
          <a:bodyPr/>
          <a:lstStyle/>
          <a:p>
            <a:endParaRPr lang="en-US"/>
          </a:p>
        </p:txBody>
      </p:sp>
      <p:sp>
        <p:nvSpPr>
          <p:cNvPr id="7" name="Text 5"/>
          <p:cNvSpPr/>
          <p:nvPr/>
        </p:nvSpPr>
        <p:spPr>
          <a:xfrm>
            <a:off x="822960" y="201168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21</a:t>
            </a:r>
            <a:endParaRPr lang="en-US" sz="2200" dirty="0"/>
          </a:p>
        </p:txBody>
      </p:sp>
      <p:sp>
        <p:nvSpPr>
          <p:cNvPr id="8" name="Text 6"/>
          <p:cNvSpPr/>
          <p:nvPr/>
        </p:nvSpPr>
        <p:spPr>
          <a:xfrm>
            <a:off x="1600200" y="2057400"/>
            <a:ext cx="2834640" cy="320040"/>
          </a:xfrm>
          <a:prstGeom prst="rect">
            <a:avLst/>
          </a:prstGeom>
          <a:noFill/>
          <a:ln/>
        </p:spPr>
        <p:txBody>
          <a:bodyPr wrap="square" lIns="0" tIns="0" rIns="0" bIns="0" rtlCol="0" anchor="ctr"/>
          <a:lstStyle/>
          <a:p>
            <a:pPr marL="0" indent="0">
              <a:buNone/>
            </a:pPr>
            <a:r>
              <a:rPr lang="en-US" sz="1250" b="1" dirty="0">
                <a:solidFill>
                  <a:srgbClr val="213C4E"/>
                </a:solidFill>
                <a:latin typeface="Cambria" pitchFamily="34" charset="0"/>
                <a:ea typeface="Cambria" pitchFamily="34" charset="-122"/>
                <a:cs typeface="Cambria" pitchFamily="34" charset="-120"/>
              </a:rPr>
              <a:t>Paraffins (alkanes, C₂–C₁₁)</a:t>
            </a:r>
            <a:endParaRPr lang="en-US" sz="1250" dirty="0"/>
          </a:p>
        </p:txBody>
      </p:sp>
      <p:sp>
        <p:nvSpPr>
          <p:cNvPr id="9" name="Text 7"/>
          <p:cNvSpPr/>
          <p:nvPr/>
        </p:nvSpPr>
        <p:spPr>
          <a:xfrm>
            <a:off x="1600200" y="2377440"/>
            <a:ext cx="2834640" cy="274320"/>
          </a:xfrm>
          <a:prstGeom prst="rect">
            <a:avLst/>
          </a:prstGeom>
          <a:noFill/>
          <a:ln/>
        </p:spPr>
        <p:txBody>
          <a:bodyPr wrap="square" lIns="0" tIns="0" rIns="0" bIns="0" rtlCol="0" anchor="ctr"/>
          <a:lstStyle/>
          <a:p>
            <a:pPr marL="0" indent="0">
              <a:buNone/>
            </a:pPr>
            <a:r>
              <a:rPr lang="en-US" sz="1000" i="1" dirty="0">
                <a:solidFill>
                  <a:srgbClr val="6B7A85"/>
                </a:solidFill>
                <a:latin typeface="Calibri" pitchFamily="34" charset="0"/>
                <a:ea typeface="Calibri" pitchFamily="34" charset="-122"/>
                <a:cs typeface="Calibri" pitchFamily="34" charset="-120"/>
              </a:rPr>
              <a:t>species</a:t>
            </a:r>
            <a:endParaRPr lang="en-US" sz="1000" dirty="0"/>
          </a:p>
        </p:txBody>
      </p:sp>
      <p:sp>
        <p:nvSpPr>
          <p:cNvPr id="10" name="Shape 8"/>
          <p:cNvSpPr/>
          <p:nvPr/>
        </p:nvSpPr>
        <p:spPr>
          <a:xfrm>
            <a:off x="822960" y="3063240"/>
            <a:ext cx="685800" cy="685800"/>
          </a:xfrm>
          <a:prstGeom prst="ellipse">
            <a:avLst/>
          </a:prstGeom>
          <a:solidFill>
            <a:srgbClr val="0F766E"/>
          </a:solidFill>
          <a:ln w="12700">
            <a:solidFill>
              <a:srgbClr val="0F766E"/>
            </a:solidFill>
            <a:prstDash val="solid"/>
          </a:ln>
        </p:spPr>
        <p:txBody>
          <a:bodyPr/>
          <a:lstStyle/>
          <a:p>
            <a:endParaRPr lang="en-US"/>
          </a:p>
        </p:txBody>
      </p:sp>
      <p:sp>
        <p:nvSpPr>
          <p:cNvPr id="11" name="Text 9"/>
          <p:cNvSpPr/>
          <p:nvPr/>
        </p:nvSpPr>
        <p:spPr>
          <a:xfrm>
            <a:off x="822960" y="306324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2" name="Text 10"/>
          <p:cNvSpPr/>
          <p:nvPr/>
        </p:nvSpPr>
        <p:spPr>
          <a:xfrm>
            <a:off x="1600200" y="3108960"/>
            <a:ext cx="2834640" cy="320040"/>
          </a:xfrm>
          <a:prstGeom prst="rect">
            <a:avLst/>
          </a:prstGeom>
          <a:noFill/>
          <a:ln/>
        </p:spPr>
        <p:txBody>
          <a:bodyPr wrap="square" lIns="0" tIns="0" rIns="0" bIns="0" rtlCol="0" anchor="ctr"/>
          <a:lstStyle/>
          <a:p>
            <a:pPr marL="0" indent="0">
              <a:buNone/>
            </a:pPr>
            <a:r>
              <a:rPr lang="en-US" sz="1250" b="1" dirty="0">
                <a:solidFill>
                  <a:srgbClr val="0F766E"/>
                </a:solidFill>
                <a:latin typeface="Cambria" pitchFamily="34" charset="0"/>
                <a:ea typeface="Cambria" pitchFamily="34" charset="-122"/>
                <a:cs typeface="Cambria" pitchFamily="34" charset="-120"/>
              </a:rPr>
              <a:t>Cycloalkanes</a:t>
            </a:r>
            <a:endParaRPr lang="en-US" sz="1250" dirty="0"/>
          </a:p>
        </p:txBody>
      </p:sp>
      <p:sp>
        <p:nvSpPr>
          <p:cNvPr id="13" name="Text 11"/>
          <p:cNvSpPr/>
          <p:nvPr/>
        </p:nvSpPr>
        <p:spPr>
          <a:xfrm>
            <a:off x="1600200" y="3429000"/>
            <a:ext cx="2834640" cy="274320"/>
          </a:xfrm>
          <a:prstGeom prst="rect">
            <a:avLst/>
          </a:prstGeom>
          <a:noFill/>
          <a:ln/>
        </p:spPr>
        <p:txBody>
          <a:bodyPr wrap="square" lIns="0" tIns="0" rIns="0" bIns="0" rtlCol="0" anchor="ctr"/>
          <a:lstStyle/>
          <a:p>
            <a:pPr marL="0" indent="0">
              <a:buNone/>
            </a:pPr>
            <a:r>
              <a:rPr lang="en-US" sz="1000" i="1" dirty="0">
                <a:solidFill>
                  <a:srgbClr val="6B7A85"/>
                </a:solidFill>
                <a:latin typeface="Calibri" pitchFamily="34" charset="0"/>
                <a:ea typeface="Calibri" pitchFamily="34" charset="-122"/>
                <a:cs typeface="Calibri" pitchFamily="34" charset="-120"/>
              </a:rPr>
              <a:t>species</a:t>
            </a:r>
            <a:endParaRPr lang="en-US" sz="1000" dirty="0"/>
          </a:p>
        </p:txBody>
      </p:sp>
      <p:sp>
        <p:nvSpPr>
          <p:cNvPr id="14" name="Shape 12"/>
          <p:cNvSpPr/>
          <p:nvPr/>
        </p:nvSpPr>
        <p:spPr>
          <a:xfrm>
            <a:off x="822960" y="4114800"/>
            <a:ext cx="685800" cy="685800"/>
          </a:xfrm>
          <a:prstGeom prst="ellipse">
            <a:avLst/>
          </a:prstGeom>
          <a:solidFill>
            <a:srgbClr val="C2410C"/>
          </a:solidFill>
          <a:ln w="12700">
            <a:solidFill>
              <a:srgbClr val="C2410C"/>
            </a:solidFill>
            <a:prstDash val="solid"/>
          </a:ln>
        </p:spPr>
        <p:txBody>
          <a:bodyPr/>
          <a:lstStyle/>
          <a:p>
            <a:endParaRPr lang="en-US"/>
          </a:p>
        </p:txBody>
      </p:sp>
      <p:sp>
        <p:nvSpPr>
          <p:cNvPr id="15" name="Text 13"/>
          <p:cNvSpPr/>
          <p:nvPr/>
        </p:nvSpPr>
        <p:spPr>
          <a:xfrm>
            <a:off x="822960" y="41148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12</a:t>
            </a:r>
            <a:endParaRPr lang="en-US" sz="2200" dirty="0"/>
          </a:p>
        </p:txBody>
      </p:sp>
      <p:sp>
        <p:nvSpPr>
          <p:cNvPr id="16" name="Text 14"/>
          <p:cNvSpPr/>
          <p:nvPr/>
        </p:nvSpPr>
        <p:spPr>
          <a:xfrm>
            <a:off x="1600200" y="4160520"/>
            <a:ext cx="2834640" cy="320040"/>
          </a:xfrm>
          <a:prstGeom prst="rect">
            <a:avLst/>
          </a:prstGeom>
          <a:noFill/>
          <a:ln/>
        </p:spPr>
        <p:txBody>
          <a:bodyPr wrap="square" lIns="0" tIns="0" rIns="0" bIns="0" rtlCol="0" anchor="ctr"/>
          <a:lstStyle/>
          <a:p>
            <a:pPr marL="0" indent="0">
              <a:buNone/>
            </a:pPr>
            <a:r>
              <a:rPr lang="en-US" sz="1250" b="1" dirty="0">
                <a:solidFill>
                  <a:srgbClr val="C2410C"/>
                </a:solidFill>
                <a:latin typeface="Cambria" pitchFamily="34" charset="0"/>
                <a:ea typeface="Cambria" pitchFamily="34" charset="-122"/>
                <a:cs typeface="Cambria" pitchFamily="34" charset="-120"/>
              </a:rPr>
              <a:t>Olefins (alkenes/dienes/alkynes)</a:t>
            </a:r>
            <a:endParaRPr lang="en-US" sz="1250" dirty="0"/>
          </a:p>
        </p:txBody>
      </p:sp>
      <p:sp>
        <p:nvSpPr>
          <p:cNvPr id="17" name="Text 15"/>
          <p:cNvSpPr/>
          <p:nvPr/>
        </p:nvSpPr>
        <p:spPr>
          <a:xfrm>
            <a:off x="1600200" y="4480560"/>
            <a:ext cx="2834640" cy="274320"/>
          </a:xfrm>
          <a:prstGeom prst="rect">
            <a:avLst/>
          </a:prstGeom>
          <a:noFill/>
          <a:ln/>
        </p:spPr>
        <p:txBody>
          <a:bodyPr wrap="square" lIns="0" tIns="0" rIns="0" bIns="0" rtlCol="0" anchor="ctr"/>
          <a:lstStyle/>
          <a:p>
            <a:pPr marL="0" indent="0">
              <a:buNone/>
            </a:pPr>
            <a:r>
              <a:rPr lang="en-US" sz="1000" i="1" dirty="0">
                <a:solidFill>
                  <a:srgbClr val="6B7A85"/>
                </a:solidFill>
                <a:latin typeface="Calibri" pitchFamily="34" charset="0"/>
                <a:ea typeface="Calibri" pitchFamily="34" charset="-122"/>
                <a:cs typeface="Calibri" pitchFamily="34" charset="-120"/>
              </a:rPr>
              <a:t>species</a:t>
            </a:r>
            <a:endParaRPr lang="en-US" sz="1000" dirty="0"/>
          </a:p>
        </p:txBody>
      </p:sp>
      <p:sp>
        <p:nvSpPr>
          <p:cNvPr id="18" name="Shape 16"/>
          <p:cNvSpPr/>
          <p:nvPr/>
        </p:nvSpPr>
        <p:spPr>
          <a:xfrm>
            <a:off x="822960" y="5166360"/>
            <a:ext cx="685800" cy="685800"/>
          </a:xfrm>
          <a:prstGeom prst="ellipse">
            <a:avLst/>
          </a:prstGeom>
          <a:solidFill>
            <a:srgbClr val="9F1239"/>
          </a:solidFill>
          <a:ln w="12700">
            <a:solidFill>
              <a:srgbClr val="9F1239"/>
            </a:solidFill>
            <a:prstDash val="solid"/>
          </a:ln>
        </p:spPr>
        <p:txBody>
          <a:bodyPr/>
          <a:lstStyle/>
          <a:p>
            <a:endParaRPr lang="en-US"/>
          </a:p>
        </p:txBody>
      </p:sp>
      <p:sp>
        <p:nvSpPr>
          <p:cNvPr id="19" name="Text 17"/>
          <p:cNvSpPr/>
          <p:nvPr/>
        </p:nvSpPr>
        <p:spPr>
          <a:xfrm>
            <a:off x="822960" y="516636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11</a:t>
            </a:r>
            <a:endParaRPr lang="en-US" sz="2200" dirty="0"/>
          </a:p>
        </p:txBody>
      </p:sp>
      <p:sp>
        <p:nvSpPr>
          <p:cNvPr id="20" name="Text 18"/>
          <p:cNvSpPr/>
          <p:nvPr/>
        </p:nvSpPr>
        <p:spPr>
          <a:xfrm>
            <a:off x="1600200" y="5212080"/>
            <a:ext cx="2834640" cy="320040"/>
          </a:xfrm>
          <a:prstGeom prst="rect">
            <a:avLst/>
          </a:prstGeom>
          <a:noFill/>
          <a:ln/>
        </p:spPr>
        <p:txBody>
          <a:bodyPr wrap="square" lIns="0" tIns="0" rIns="0" bIns="0" rtlCol="0" anchor="ctr"/>
          <a:lstStyle/>
          <a:p>
            <a:pPr marL="0" indent="0">
              <a:buNone/>
            </a:pPr>
            <a:r>
              <a:rPr lang="en-US" sz="1250" b="1" dirty="0">
                <a:solidFill>
                  <a:srgbClr val="9F1239"/>
                </a:solidFill>
                <a:latin typeface="Cambria" pitchFamily="34" charset="0"/>
                <a:ea typeface="Cambria" pitchFamily="34" charset="-122"/>
                <a:cs typeface="Cambria" pitchFamily="34" charset="-120"/>
              </a:rPr>
              <a:t>Aromatics (BTEX + TMBs)</a:t>
            </a:r>
            <a:endParaRPr lang="en-US" sz="1250" dirty="0"/>
          </a:p>
        </p:txBody>
      </p:sp>
      <p:sp>
        <p:nvSpPr>
          <p:cNvPr id="21" name="Text 19"/>
          <p:cNvSpPr/>
          <p:nvPr/>
        </p:nvSpPr>
        <p:spPr>
          <a:xfrm>
            <a:off x="1600200" y="5532120"/>
            <a:ext cx="2834640" cy="274320"/>
          </a:xfrm>
          <a:prstGeom prst="rect">
            <a:avLst/>
          </a:prstGeom>
          <a:noFill/>
          <a:ln/>
        </p:spPr>
        <p:txBody>
          <a:bodyPr wrap="square" lIns="0" tIns="0" rIns="0" bIns="0" rtlCol="0" anchor="ctr"/>
          <a:lstStyle/>
          <a:p>
            <a:pPr marL="0" indent="0">
              <a:buNone/>
            </a:pPr>
            <a:r>
              <a:rPr lang="en-US" sz="1000" i="1" dirty="0">
                <a:solidFill>
                  <a:srgbClr val="6B7A85"/>
                </a:solidFill>
                <a:latin typeface="Calibri" pitchFamily="34" charset="0"/>
                <a:ea typeface="Calibri" pitchFamily="34" charset="-122"/>
                <a:cs typeface="Calibri" pitchFamily="34" charset="-120"/>
              </a:rPr>
              <a:t>species</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709160" y="1417320"/>
          <a:ext cx="6995160" cy="3931920"/>
        </p:xfrm>
        <a:graphic>
          <a:graphicData uri="http://schemas.openxmlformats.org/drawingml/2006/table">
            <a:tbl>
              <a:tblPr/>
              <a:tblGrid>
                <a:gridCol w="11887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78638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Family</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Example species</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Codes</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786384">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Paraffins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Ethane, Propane, n-Butane, Isobutane, n-Pentane, Isopentane, n-Hexane, n-Heptane, n-Octane, …</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43202-43291, 43954, 43960</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Cycloalkanes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Cyclopentane, Cyclohexane, Methylcyclopentane, Methylcyclohexane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43242, 43248, 43261, 43262</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786384">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Olefins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Ethylene, Propylene, 1-Butene, cis/trans-2-Butene, 1,3-Butadiene, Isoprene, Acetylene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43203-43206, 43216-43228, 43243, 43280</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6384">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Aromatics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Benzene, Toluene, Ethylbenzene, m/p-Xylene, o-Xylene, 1,2,4-TMB, 1,3,5-TMB, Styrene, Cumene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45109, 45201-45225</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bl>
          </a:graphicData>
        </a:graphic>
      </p:graphicFrame>
      <p:sp>
        <p:nvSpPr>
          <p:cNvPr id="23" name="Shape 20"/>
          <p:cNvSpPr/>
          <p:nvPr/>
        </p:nvSpPr>
        <p:spPr>
          <a:xfrm>
            <a:off x="4709160" y="5486400"/>
            <a:ext cx="6995160" cy="868680"/>
          </a:xfrm>
          <a:prstGeom prst="roundRect">
            <a:avLst>
              <a:gd name="adj" fmla="val 842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24" name="Text 21"/>
          <p:cNvSpPr/>
          <p:nvPr/>
        </p:nvSpPr>
        <p:spPr>
          <a:xfrm>
            <a:off x="4892040" y="5623560"/>
            <a:ext cx="6629400" cy="640080"/>
          </a:xfrm>
          <a:prstGeom prst="rect">
            <a:avLst/>
          </a:prstGeom>
          <a:noFill/>
          <a:ln/>
        </p:spPr>
        <p:txBody>
          <a:bodyPr wrap="square" lIns="0" tIns="0" rIns="0" bIns="0" rtlCol="0" anchor="t"/>
          <a:lstStyle/>
          <a:p>
            <a:pPr marL="0" indent="0">
              <a:buNone/>
            </a:pPr>
            <a:r>
              <a:rPr lang="en-US" sz="1050" b="1" dirty="0">
                <a:solidFill>
                  <a:srgbClr val="C2410C"/>
                </a:solidFill>
                <a:latin typeface="Calibri" pitchFamily="34" charset="0"/>
                <a:ea typeface="Calibri" pitchFamily="34" charset="-122"/>
                <a:cs typeface="Calibri" pitchFamily="34" charset="-120"/>
              </a:rPr>
              <a:t>10 HAPs (CAA §112(b)): </a:t>
            </a:r>
            <a:r>
              <a:rPr lang="en-US" sz="1050" dirty="0">
                <a:solidFill>
                  <a:srgbClr val="333333"/>
                </a:solidFill>
                <a:latin typeface="Calibri" pitchFamily="34" charset="0"/>
                <a:ea typeface="Calibri" pitchFamily="34" charset="-122"/>
                <a:cs typeface="Calibri" pitchFamily="34" charset="-120"/>
              </a:rPr>
              <a:t>Benzene, Toluene, Ethylbenzene, m/p-Xylene, o-Xylene, Isopropylbenzene (Cumene), Styrene, 1,3-Butadiene, n-Hexane, 2,2,4-Trimethylpentane. Benzene, 1,3-Butadiene = IARC Group 1.</a:t>
            </a:r>
            <a:endParaRPr lang="en-US" sz="1050" dirty="0"/>
          </a:p>
        </p:txBody>
      </p:sp>
      <p:sp>
        <p:nvSpPr>
          <p:cNvPr id="25" name="Text 22"/>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6" name="Text 23"/>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40 / 60</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HEALTH</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VOC health effects — the BTEX + 1,3-butadiene axis</a:t>
            </a:r>
            <a:endParaRPr lang="en-US" sz="3000" dirty="0"/>
          </a:p>
        </p:txBody>
      </p:sp>
      <p:sp>
        <p:nvSpPr>
          <p:cNvPr id="4" name="Shape 2"/>
          <p:cNvSpPr/>
          <p:nvPr/>
        </p:nvSpPr>
        <p:spPr>
          <a:xfrm>
            <a:off x="54864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365760" cy="365760"/>
          </a:xfrm>
          <a:prstGeom prst="rect">
            <a:avLst/>
          </a:prstGeom>
        </p:spPr>
      </p:pic>
      <p:sp>
        <p:nvSpPr>
          <p:cNvPr id="6" name="Text 3"/>
          <p:cNvSpPr/>
          <p:nvPr/>
        </p:nvSpPr>
        <p:spPr>
          <a:xfrm>
            <a:off x="123444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Benzene (45201) — Group 1 carcinogen</a:t>
            </a:r>
            <a:endParaRPr lang="en-US" sz="1200" dirty="0"/>
          </a:p>
        </p:txBody>
      </p:sp>
      <p:sp>
        <p:nvSpPr>
          <p:cNvPr id="7" name="Text 4"/>
          <p:cNvSpPr/>
          <p:nvPr/>
        </p:nvSpPr>
        <p:spPr>
          <a:xfrm>
            <a:off x="73152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IARC Group 1 (known human carcinogen). Causes acute myeloid leukemia in occupational cohorts. EPA IRIS inhalation unit risk = 7.8×10⁻⁶ per µg/m³; inhalation RfC = 30 µg/m³. TCEQ ESL: long-term 4.5 µg/m³ (1.4 ppb annual).</a:t>
            </a:r>
            <a:endParaRPr lang="en-US" sz="950" dirty="0"/>
          </a:p>
        </p:txBody>
      </p:sp>
      <p:sp>
        <p:nvSpPr>
          <p:cNvPr id="8" name="Shape 5"/>
          <p:cNvSpPr/>
          <p:nvPr/>
        </p:nvSpPr>
        <p:spPr>
          <a:xfrm>
            <a:off x="448056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63440" y="1691640"/>
            <a:ext cx="365760" cy="365760"/>
          </a:xfrm>
          <a:prstGeom prst="rect">
            <a:avLst/>
          </a:prstGeom>
        </p:spPr>
      </p:pic>
      <p:sp>
        <p:nvSpPr>
          <p:cNvPr id="10" name="Text 6"/>
          <p:cNvSpPr/>
          <p:nvPr/>
        </p:nvSpPr>
        <p:spPr>
          <a:xfrm>
            <a:off x="516636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1,3-Butadiene (43218) — Group 1 carcinogen</a:t>
            </a:r>
            <a:endParaRPr lang="en-US" sz="1200" dirty="0"/>
          </a:p>
        </p:txBody>
      </p:sp>
      <p:sp>
        <p:nvSpPr>
          <p:cNvPr id="11" name="Text 7"/>
          <p:cNvSpPr/>
          <p:nvPr/>
        </p:nvSpPr>
        <p:spPr>
          <a:xfrm>
            <a:off x="466344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IARC Group 1 (2008). Hematolymphatic cancer. EPA IRIS IUR = 3×10⁻⁵ per µg/m³ — nearly 4× more potent than benzene per unit mass. Inhalation RfC = 2 µg/m³ (~0.9 ppb). Formerly APWL-listed in Houston Milby Park.</a:t>
            </a:r>
            <a:endParaRPr lang="en-US" sz="950" dirty="0"/>
          </a:p>
        </p:txBody>
      </p:sp>
      <p:sp>
        <p:nvSpPr>
          <p:cNvPr id="12" name="Shape 8"/>
          <p:cNvSpPr/>
          <p:nvPr/>
        </p:nvSpPr>
        <p:spPr>
          <a:xfrm>
            <a:off x="841248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595360" y="1691640"/>
            <a:ext cx="365760" cy="365760"/>
          </a:xfrm>
          <a:prstGeom prst="rect">
            <a:avLst/>
          </a:prstGeom>
        </p:spPr>
      </p:pic>
      <p:sp>
        <p:nvSpPr>
          <p:cNvPr id="14" name="Text 9"/>
          <p:cNvSpPr/>
          <p:nvPr/>
        </p:nvSpPr>
        <p:spPr>
          <a:xfrm>
            <a:off x="909828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Toluene, Xylenes (BTEX)</a:t>
            </a:r>
            <a:endParaRPr lang="en-US" sz="1200" dirty="0"/>
          </a:p>
        </p:txBody>
      </p:sp>
      <p:sp>
        <p:nvSpPr>
          <p:cNvPr id="15" name="Text 10"/>
          <p:cNvSpPr/>
          <p:nvPr/>
        </p:nvSpPr>
        <p:spPr>
          <a:xfrm>
            <a:off x="859536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Toluene (45202) — HAP; CNS depressant at occupational exposure. TCEQ long-term ESL ~330 ppb. Xylenes (45109 m/p; 45204 o) — HAPs; irritation + CNS effects. IARC Group 3 for toluene, xylenes (not classifiable — insufficient evidence).</a:t>
            </a:r>
            <a:endParaRPr lang="en-US" sz="950" dirty="0"/>
          </a:p>
        </p:txBody>
      </p:sp>
      <p:sp>
        <p:nvSpPr>
          <p:cNvPr id="16" name="Shape 11"/>
          <p:cNvSpPr/>
          <p:nvPr/>
        </p:nvSpPr>
        <p:spPr>
          <a:xfrm>
            <a:off x="54864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4206240"/>
            <a:ext cx="365760" cy="365760"/>
          </a:xfrm>
          <a:prstGeom prst="rect">
            <a:avLst/>
          </a:prstGeom>
        </p:spPr>
      </p:pic>
      <p:sp>
        <p:nvSpPr>
          <p:cNvPr id="18" name="Text 12"/>
          <p:cNvSpPr/>
          <p:nvPr/>
        </p:nvSpPr>
        <p:spPr>
          <a:xfrm>
            <a:off x="123444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n-Hexane (43231) neurotoxicity</a:t>
            </a:r>
            <a:endParaRPr lang="en-US" sz="1200" dirty="0"/>
          </a:p>
        </p:txBody>
      </p:sp>
      <p:sp>
        <p:nvSpPr>
          <p:cNvPr id="19" name="Text 13"/>
          <p:cNvSpPr/>
          <p:nvPr/>
        </p:nvSpPr>
        <p:spPr>
          <a:xfrm>
            <a:off x="73152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HAP under §112(b). Occupational chronic exposure causes peripheral neuropathy via 2,5-hexanedione metabolite. Not IARC-classified for cancer. Concentration in ambient air typically far below occupational thresholds.</a:t>
            </a:r>
            <a:endParaRPr lang="en-US" sz="950" dirty="0"/>
          </a:p>
        </p:txBody>
      </p:sp>
      <p:sp>
        <p:nvSpPr>
          <p:cNvPr id="20" name="Shape 14"/>
          <p:cNvSpPr/>
          <p:nvPr/>
        </p:nvSpPr>
        <p:spPr>
          <a:xfrm>
            <a:off x="448056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663440" y="4206240"/>
            <a:ext cx="365760" cy="365760"/>
          </a:xfrm>
          <a:prstGeom prst="rect">
            <a:avLst/>
          </a:prstGeom>
        </p:spPr>
      </p:pic>
      <p:sp>
        <p:nvSpPr>
          <p:cNvPr id="22" name="Text 15"/>
          <p:cNvSpPr/>
          <p:nvPr/>
        </p:nvSpPr>
        <p:spPr>
          <a:xfrm>
            <a:off x="516636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Formaldehyde + carbonyls</a:t>
            </a:r>
            <a:endParaRPr lang="en-US" sz="1200" dirty="0"/>
          </a:p>
        </p:txBody>
      </p:sp>
      <p:sp>
        <p:nvSpPr>
          <p:cNvPr id="23" name="Text 16"/>
          <p:cNvSpPr/>
          <p:nvPr/>
        </p:nvSpPr>
        <p:spPr>
          <a:xfrm>
            <a:off x="466344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Not currently in Aidan's dataset (parameter code 43502) — TCEQ AutoGC networks don't always report — but noted here because PAMS Type 2 sites ARE required to sample every 3 hours per 40 CFR 58 App. D §5(b). Formaldehyde = Group 1 carcinogen.</a:t>
            </a:r>
            <a:endParaRPr lang="en-US" sz="950" dirty="0"/>
          </a:p>
        </p:txBody>
      </p:sp>
      <p:sp>
        <p:nvSpPr>
          <p:cNvPr id="24" name="Shape 17"/>
          <p:cNvSpPr/>
          <p:nvPr/>
        </p:nvSpPr>
        <p:spPr>
          <a:xfrm>
            <a:off x="841248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8595360" y="4206240"/>
            <a:ext cx="365760" cy="365760"/>
          </a:xfrm>
          <a:prstGeom prst="rect">
            <a:avLst/>
          </a:prstGeom>
        </p:spPr>
      </p:pic>
      <p:sp>
        <p:nvSpPr>
          <p:cNvPr id="26" name="Text 18"/>
          <p:cNvSpPr/>
          <p:nvPr/>
        </p:nvSpPr>
        <p:spPr>
          <a:xfrm>
            <a:off x="909828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Chronic community exposure</a:t>
            </a:r>
            <a:endParaRPr lang="en-US" sz="1200" dirty="0"/>
          </a:p>
        </p:txBody>
      </p:sp>
      <p:sp>
        <p:nvSpPr>
          <p:cNvPr id="27" name="Text 19"/>
          <p:cNvSpPr/>
          <p:nvPr/>
        </p:nvSpPr>
        <p:spPr>
          <a:xfrm>
            <a:off x="859536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The EPA National Air Toxics Assessment (NATA) uses ambient VOC concentrations to compute cancer + non-cancer risk. TCEQ's Air Pollutant Watch List (APWL) tracks areas with persistent elevated ambient toxics.</a:t>
            </a:r>
            <a:endParaRPr lang="en-US" sz="95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41 / 60</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REGULATION</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HAPs — the Clean Air Act §112(b) framework</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§112(b) Hazardous Air Pollutants</a:t>
            </a:r>
            <a:endParaRPr lang="en-US" sz="1400"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200"/>
              </a:spcAft>
              <a:buNone/>
            </a:pPr>
            <a:r>
              <a:rPr lang="en-US" sz="1100" dirty="0">
                <a:solidFill>
                  <a:srgbClr val="333333"/>
                </a:solidFill>
                <a:latin typeface="Calibri" pitchFamily="34" charset="0"/>
                <a:ea typeface="Calibri" pitchFamily="34" charset="-122"/>
                <a:cs typeface="Calibri" pitchFamily="34" charset="-120"/>
              </a:rPr>
              <a:t>Established by </a:t>
            </a:r>
            <a:r>
              <a:rPr lang="en-US" sz="1100" b="1" dirty="0">
                <a:solidFill>
                  <a:srgbClr val="C2410C"/>
                </a:solidFill>
                <a:latin typeface="Calibri" pitchFamily="34" charset="0"/>
                <a:ea typeface="Calibri" pitchFamily="34" charset="-122"/>
                <a:cs typeface="Calibri" pitchFamily="34" charset="-120"/>
              </a:rPr>
              <a:t>Clean Air Act Amendments of 1990</a:t>
            </a:r>
            <a:r>
              <a:rPr lang="en-US" sz="1100" dirty="0">
                <a:solidFill>
                  <a:srgbClr val="333333"/>
                </a:solidFill>
                <a:latin typeface="Calibri" pitchFamily="34" charset="0"/>
                <a:ea typeface="Calibri" pitchFamily="34" charset="-122"/>
                <a:cs typeface="Calibri" pitchFamily="34" charset="-120"/>
              </a:rPr>
              <a:t>. Original list = 189 pollutants. Current = </a:t>
            </a:r>
            <a:r>
              <a:rPr lang="en-US" sz="1100" b="1" dirty="0">
                <a:solidFill>
                  <a:srgbClr val="333333"/>
                </a:solidFill>
                <a:latin typeface="Calibri" pitchFamily="34" charset="0"/>
                <a:ea typeface="Calibri" pitchFamily="34" charset="-122"/>
                <a:cs typeface="Calibri" pitchFamily="34" charset="-120"/>
              </a:rPr>
              <a:t>188 HAPs</a:t>
            </a:r>
            <a:r>
              <a:rPr lang="en-US" sz="1100" dirty="0">
                <a:solidFill>
                  <a:srgbClr val="333333"/>
                </a:solidFill>
                <a:latin typeface="Calibri" pitchFamily="34" charset="0"/>
                <a:ea typeface="Calibri" pitchFamily="34" charset="-122"/>
                <a:cs typeface="Calibri" pitchFamily="34" charset="-120"/>
              </a:rPr>
              <a:t> after selective delistings (caprolactam 1996, MEK 2005, EGBE 2004).
</a:t>
            </a:r>
            <a:r>
              <a:rPr lang="en-US" sz="1100" b="1" dirty="0">
                <a:solidFill>
                  <a:srgbClr val="333333"/>
                </a:solidFill>
                <a:latin typeface="Calibri" pitchFamily="34" charset="0"/>
                <a:ea typeface="Calibri" pitchFamily="34" charset="-122"/>
                <a:cs typeface="Calibri" pitchFamily="34" charset="-120"/>
              </a:rPr>
              <a:t>Regulated via </a:t>
            </a:r>
            <a:r>
              <a:rPr lang="en-US" sz="1100" dirty="0">
                <a:solidFill>
                  <a:srgbClr val="333333"/>
                </a:solidFill>
                <a:latin typeface="Calibri" pitchFamily="34" charset="0"/>
                <a:ea typeface="Calibri" pitchFamily="34" charset="-122"/>
                <a:cs typeface="Calibri" pitchFamily="34" charset="-120"/>
              </a:rPr>
              <a:t>NESHAPs — National Emission Standards for HAPs (40 CFR Part 63) — which impose MACT (Maximum Achievable Control Technology) standards on 174+ source categories.
</a:t>
            </a:r>
            <a:r>
              <a:rPr lang="en-US" sz="1100" b="1" dirty="0">
                <a:solidFill>
                  <a:srgbClr val="333333"/>
                </a:solidFill>
                <a:latin typeface="Calibri" pitchFamily="34" charset="0"/>
                <a:ea typeface="Calibri" pitchFamily="34" charset="-122"/>
                <a:cs typeface="Calibri" pitchFamily="34" charset="-120"/>
              </a:rPr>
              <a:t>Relevant NESHAP subparts for Coastal Bend:</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Subpart CC &amp; UUU — Petroleum Refineries (benzene, toluene, xylenes, 1,3-butadiene). 2015 amendments added </a:t>
            </a:r>
            <a:endParaRPr lang="en-US" sz="1100" dirty="0"/>
          </a:p>
          <a:p>
            <a:pPr marL="342900" indent="-342900">
              <a:spcAft>
                <a:spcPts val="200"/>
              </a:spcAft>
              <a:buSzPct val="100000"/>
              <a:buChar char="•"/>
            </a:pPr>
            <a:r>
              <a:rPr lang="en-US" sz="1100" b="1" dirty="0">
                <a:solidFill>
                  <a:srgbClr val="333333"/>
                </a:solidFill>
                <a:latin typeface="Calibri" pitchFamily="34" charset="0"/>
                <a:ea typeface="Calibri" pitchFamily="34" charset="-122"/>
                <a:cs typeface="Calibri" pitchFamily="34" charset="-120"/>
              </a:rPr>
              <a:t>fenceline benzene monitoring</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 (action level 9 µg/m³ annual avg).</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Subpart R &amp; BBBBBB — Gasoline Distribution.</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Subpart U — Group I Polymers &amp; Resins (1,3-butadiene, styrene).</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537960" y="1417320"/>
          <a:ext cx="5120640" cy="470916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7091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Species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IARC</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IRIS class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Benzene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Group 1</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Known human carcinogen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1,3-Butadiene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Group 1</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Carcinogenic to humans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Ethylbenzene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Group 2B</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Under reassessment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Isopropylbenzene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Group 2B</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Likely human carcinogen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Styrene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Group 2A</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Reasonably anticipated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Toluene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Group 3</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Not classifiable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Xylenes (m/p/o)</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Group 3</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Not classifiable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n-Hexane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Neurotoxicant, not carcinogen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470916">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2,2,4-Trimethylpentane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No IRIS cancer assessment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9" name="Text 6"/>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42 / 60</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REGULATION</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Regulatory framework — no NAAQS, but plenty of oversight</a:t>
            </a:r>
            <a:endParaRPr lang="en-US" sz="3000" dirty="0"/>
          </a:p>
        </p:txBody>
      </p:sp>
      <p:sp>
        <p:nvSpPr>
          <p:cNvPr id="4" name="Shape 2"/>
          <p:cNvSpPr/>
          <p:nvPr/>
        </p:nvSpPr>
        <p:spPr>
          <a:xfrm>
            <a:off x="548640" y="1417320"/>
            <a:ext cx="3703320" cy="4937760"/>
          </a:xfrm>
          <a:prstGeom prst="roundRect">
            <a:avLst>
              <a:gd name="adj" fmla="val 197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Shape 3"/>
          <p:cNvSpPr/>
          <p:nvPr/>
        </p:nvSpPr>
        <p:spPr>
          <a:xfrm>
            <a:off x="731520" y="1600200"/>
            <a:ext cx="3337560" cy="502920"/>
          </a:xfrm>
          <a:prstGeom prst="roundRect">
            <a:avLst>
              <a:gd name="adj" fmla="val 10909"/>
            </a:avLst>
          </a:prstGeom>
          <a:solidFill>
            <a:srgbClr val="213C4E"/>
          </a:solidFill>
          <a:ln w="12700">
            <a:solidFill>
              <a:srgbClr val="213C4E"/>
            </a:solidFill>
            <a:prstDash val="solid"/>
          </a:ln>
        </p:spPr>
        <p:txBody>
          <a:bodyPr/>
          <a:lstStyle/>
          <a:p>
            <a:endParaRPr lang="en-US"/>
          </a:p>
        </p:txBody>
      </p:sp>
      <p:sp>
        <p:nvSpPr>
          <p:cNvPr id="6" name="Text 4"/>
          <p:cNvSpPr/>
          <p:nvPr/>
        </p:nvSpPr>
        <p:spPr>
          <a:xfrm>
            <a:off x="731520" y="1600200"/>
            <a:ext cx="33375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Federal</a:t>
            </a:r>
            <a:endParaRPr lang="en-US" sz="1400" dirty="0"/>
          </a:p>
        </p:txBody>
      </p:sp>
      <p:sp>
        <p:nvSpPr>
          <p:cNvPr id="7" name="Text 5"/>
          <p:cNvSpPr/>
          <p:nvPr/>
        </p:nvSpPr>
        <p:spPr>
          <a:xfrm>
            <a:off x="731520" y="2240280"/>
            <a:ext cx="3383280" cy="39776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No NAAQS for VOCs as a class (unlike criteria pollutants)</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Ozone NAAQS 0.070 ppm regulates VOC + NOx as ozone precursors</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PM2.5 NAAQS 9 µg/m³ captures SOA from VOCs indirectly</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§112(b) HAPs regulated by NESHAP MACT standards</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EPA IRIS assessments provide toxicity values (IUR, RfC)</a:t>
            </a:r>
            <a:endParaRPr lang="en-US" sz="1050" dirty="0"/>
          </a:p>
        </p:txBody>
      </p:sp>
      <p:sp>
        <p:nvSpPr>
          <p:cNvPr id="8" name="Shape 6"/>
          <p:cNvSpPr/>
          <p:nvPr/>
        </p:nvSpPr>
        <p:spPr>
          <a:xfrm>
            <a:off x="4343400" y="1417320"/>
            <a:ext cx="3703320" cy="4937760"/>
          </a:xfrm>
          <a:prstGeom prst="roundRect">
            <a:avLst>
              <a:gd name="adj" fmla="val 197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9" name="Shape 7"/>
          <p:cNvSpPr/>
          <p:nvPr/>
        </p:nvSpPr>
        <p:spPr>
          <a:xfrm>
            <a:off x="4526280" y="1600200"/>
            <a:ext cx="3337560" cy="502920"/>
          </a:xfrm>
          <a:prstGeom prst="roundRect">
            <a:avLst>
              <a:gd name="adj" fmla="val 10909"/>
            </a:avLst>
          </a:prstGeom>
          <a:solidFill>
            <a:srgbClr val="C2410C"/>
          </a:solidFill>
          <a:ln w="12700">
            <a:solidFill>
              <a:srgbClr val="C2410C"/>
            </a:solidFill>
            <a:prstDash val="solid"/>
          </a:ln>
        </p:spPr>
        <p:txBody>
          <a:bodyPr/>
          <a:lstStyle/>
          <a:p>
            <a:endParaRPr lang="en-US"/>
          </a:p>
        </p:txBody>
      </p:sp>
      <p:sp>
        <p:nvSpPr>
          <p:cNvPr id="10" name="Text 8"/>
          <p:cNvSpPr/>
          <p:nvPr/>
        </p:nvSpPr>
        <p:spPr>
          <a:xfrm>
            <a:off x="4526280" y="1600200"/>
            <a:ext cx="33375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Texas (TCEQ)</a:t>
            </a:r>
            <a:endParaRPr lang="en-US" sz="1400" dirty="0"/>
          </a:p>
        </p:txBody>
      </p:sp>
      <p:sp>
        <p:nvSpPr>
          <p:cNvPr id="11" name="Text 9"/>
          <p:cNvSpPr/>
          <p:nvPr/>
        </p:nvSpPr>
        <p:spPr>
          <a:xfrm>
            <a:off x="4526280" y="2240280"/>
            <a:ext cx="3383280" cy="39776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Effects Screening Levels (ESLs) — permit + ambient benchmarks, NOT enforceable NAAQS</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Short-term ESL (1-hr) = acute + odor + acute vegetation</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Long-term ESL (annual) = chronic health + vegetation</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Air Pollutant Watch List (APWL) tracks areas with persistent elevated toxics</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Development Support Documents (DSDs) publish per-chemical derivations</a:t>
            </a:r>
            <a:endParaRPr lang="en-US" sz="1050" dirty="0"/>
          </a:p>
        </p:txBody>
      </p:sp>
      <p:sp>
        <p:nvSpPr>
          <p:cNvPr id="12" name="Shape 10"/>
          <p:cNvSpPr/>
          <p:nvPr/>
        </p:nvSpPr>
        <p:spPr>
          <a:xfrm>
            <a:off x="8138160" y="1417320"/>
            <a:ext cx="3703320" cy="4937760"/>
          </a:xfrm>
          <a:prstGeom prst="roundRect">
            <a:avLst>
              <a:gd name="adj" fmla="val 197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13" name="Shape 11"/>
          <p:cNvSpPr/>
          <p:nvPr/>
        </p:nvSpPr>
        <p:spPr>
          <a:xfrm>
            <a:off x="8321040" y="1600200"/>
            <a:ext cx="3337560" cy="502920"/>
          </a:xfrm>
          <a:prstGeom prst="roundRect">
            <a:avLst>
              <a:gd name="adj" fmla="val 10909"/>
            </a:avLst>
          </a:prstGeom>
          <a:solidFill>
            <a:srgbClr val="0F766E"/>
          </a:solidFill>
          <a:ln w="12700">
            <a:solidFill>
              <a:srgbClr val="0F766E"/>
            </a:solidFill>
            <a:prstDash val="solid"/>
          </a:ln>
        </p:spPr>
        <p:txBody>
          <a:bodyPr/>
          <a:lstStyle/>
          <a:p>
            <a:endParaRPr lang="en-US"/>
          </a:p>
        </p:txBody>
      </p:sp>
      <p:sp>
        <p:nvSpPr>
          <p:cNvPr id="14" name="Text 12"/>
          <p:cNvSpPr/>
          <p:nvPr/>
        </p:nvSpPr>
        <p:spPr>
          <a:xfrm>
            <a:off x="8321040" y="1600200"/>
            <a:ext cx="33375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Mobile-source</a:t>
            </a:r>
            <a:endParaRPr lang="en-US" sz="1400" dirty="0"/>
          </a:p>
        </p:txBody>
      </p:sp>
      <p:sp>
        <p:nvSpPr>
          <p:cNvPr id="15" name="Text 13"/>
          <p:cNvSpPr/>
          <p:nvPr/>
        </p:nvSpPr>
        <p:spPr>
          <a:xfrm>
            <a:off x="8321040" y="2240280"/>
            <a:ext cx="3383280" cy="39776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Mobile Source Air Toxics Rules (MSAT1 2001, MSAT2 2007)</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MSAT2: gasoline benzene ≤ 0.62 vol% annual avg (from 2011)</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MSAT2 is the dominant driver of declining urban ambient benzene</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Mobile sources = ~50–60% of ambient benzene exposure nationally</a:t>
            </a:r>
            <a:endParaRPr lang="en-US" sz="1050" dirty="0"/>
          </a:p>
          <a:p>
            <a:pPr marL="342900" indent="-342900">
              <a:spcAft>
                <a:spcPts val="400"/>
              </a:spcAft>
              <a:buSzPct val="100000"/>
              <a:buChar char="•"/>
            </a:pPr>
            <a:r>
              <a:rPr lang="en-US" sz="1050" dirty="0">
                <a:solidFill>
                  <a:srgbClr val="333333"/>
                </a:solidFill>
                <a:latin typeface="Calibri" pitchFamily="34" charset="0"/>
                <a:ea typeface="Calibri" pitchFamily="34" charset="-122"/>
                <a:cs typeface="Calibri" pitchFamily="34" charset="-120"/>
              </a:rPr>
              <a:t>Onboard refueling vapor recovery (Stage II) — TX participates</a:t>
            </a:r>
            <a:endParaRPr lang="en-US" sz="1050" dirty="0"/>
          </a:p>
        </p:txBody>
      </p:sp>
      <p:sp>
        <p:nvSpPr>
          <p:cNvPr id="16"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7" name="Text 1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43 / 60</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PROGRAM</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PAMS — the Photochemical Assessment Monitoring Stations network</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Statutory origin + purpose</a:t>
            </a:r>
            <a:endParaRPr lang="en-US" sz="1400"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200"/>
              </a:spcAft>
              <a:buNone/>
            </a:pPr>
            <a:r>
              <a:rPr lang="en-US" sz="1100" dirty="0">
                <a:solidFill>
                  <a:srgbClr val="333333"/>
                </a:solidFill>
                <a:latin typeface="Calibri" pitchFamily="34" charset="0"/>
                <a:ea typeface="Calibri" pitchFamily="34" charset="-122"/>
                <a:cs typeface="Calibri" pitchFamily="34" charset="-120"/>
              </a:rPr>
              <a:t>Established by </a:t>
            </a:r>
            <a:r>
              <a:rPr lang="en-US" sz="1100" b="1" dirty="0">
                <a:solidFill>
                  <a:srgbClr val="C2410C"/>
                </a:solidFill>
                <a:latin typeface="Calibri" pitchFamily="34" charset="0"/>
                <a:ea typeface="Calibri" pitchFamily="34" charset="-122"/>
                <a:cs typeface="Calibri" pitchFamily="34" charset="-120"/>
              </a:rPr>
              <a:t>Section 182(c)(1) of the Clean Air Act</a:t>
            </a:r>
            <a:r>
              <a:rPr lang="en-US" sz="1100" dirty="0">
                <a:solidFill>
                  <a:srgbClr val="333333"/>
                </a:solidFill>
                <a:latin typeface="Calibri" pitchFamily="34" charset="0"/>
                <a:ea typeface="Calibri" pitchFamily="34" charset="-122"/>
                <a:cs typeface="Calibri" pitchFamily="34" charset="-120"/>
              </a:rPr>
              <a:t> (1990 CAAA). Requires enhanced monitoring in </a:t>
            </a:r>
            <a:r>
              <a:rPr lang="en-US" sz="1100" b="1" dirty="0">
                <a:solidFill>
                  <a:srgbClr val="333333"/>
                </a:solidFill>
                <a:latin typeface="Calibri" pitchFamily="34" charset="0"/>
                <a:ea typeface="Calibri" pitchFamily="34" charset="-122"/>
                <a:cs typeface="Calibri" pitchFamily="34" charset="-120"/>
              </a:rPr>
              <a:t>serious, severe, or extreme</a:t>
            </a:r>
            <a:r>
              <a:rPr lang="en-US" sz="1100" dirty="0">
                <a:solidFill>
                  <a:srgbClr val="333333"/>
                </a:solidFill>
                <a:latin typeface="Calibri" pitchFamily="34" charset="0"/>
                <a:ea typeface="Calibri" pitchFamily="34" charset="-122"/>
                <a:cs typeface="Calibri" pitchFamily="34" charset="-120"/>
              </a:rPr>
              <a:t> ozone nonattainment areas.
</a:t>
            </a:r>
            <a:r>
              <a:rPr lang="en-US" sz="1100" b="1" dirty="0">
                <a:solidFill>
                  <a:srgbClr val="333333"/>
                </a:solidFill>
                <a:latin typeface="Calibri" pitchFamily="34" charset="0"/>
                <a:ea typeface="Calibri" pitchFamily="34" charset="-122"/>
                <a:cs typeface="Calibri" pitchFamily="34" charset="-120"/>
              </a:rPr>
              <a:t>2015 NAAQS revision</a:t>
            </a:r>
            <a:endParaRPr lang="en-US" sz="1100" dirty="0"/>
          </a:p>
          <a:p>
            <a:pPr marL="0" indent="0">
              <a:spcAft>
                <a:spcPts val="200"/>
              </a:spcAft>
              <a:buNone/>
            </a:pPr>
            <a:r>
              <a:rPr lang="en-US" sz="1100" dirty="0">
                <a:solidFill>
                  <a:srgbClr val="333333"/>
                </a:solidFill>
                <a:latin typeface="Calibri" pitchFamily="34" charset="0"/>
                <a:ea typeface="Calibri" pitchFamily="34" charset="-122"/>
                <a:cs typeface="Calibri" pitchFamily="34" charset="-120"/>
              </a:rPr>
              <a:t>expanded the PAMS network. Post-2015 requirement: any NCore site in a CBSA ≥ 1,000,000 population must collect PAMS measurements.
</a:t>
            </a:r>
            <a:r>
              <a:rPr lang="en-US" sz="1100" b="1" dirty="0">
                <a:solidFill>
                  <a:srgbClr val="333333"/>
                </a:solidFill>
                <a:latin typeface="Calibri" pitchFamily="34" charset="0"/>
                <a:ea typeface="Calibri" pitchFamily="34" charset="-122"/>
                <a:cs typeface="Calibri" pitchFamily="34" charset="-120"/>
              </a:rPr>
              <a:t>Enhanced Monitoring Plan (EMP)</a:t>
            </a:r>
            <a:endParaRPr lang="en-US" sz="1100" dirty="0"/>
          </a:p>
          <a:p>
            <a:pPr marL="0" indent="0">
              <a:spcAft>
                <a:spcPts val="200"/>
              </a:spcAft>
              <a:buNone/>
            </a:pPr>
            <a:r>
              <a:rPr lang="en-US" sz="1100" dirty="0">
                <a:solidFill>
                  <a:srgbClr val="333333"/>
                </a:solidFill>
                <a:latin typeface="Calibri" pitchFamily="34" charset="0"/>
                <a:ea typeface="Calibri" pitchFamily="34" charset="-122"/>
                <a:cs typeface="Calibri" pitchFamily="34" charset="-120"/>
              </a:rPr>
              <a:t>must be submitted to EPA Regional Administrator within 2 years of any Moderate-or-above ozone nonattainment designation.
</a:t>
            </a:r>
            <a:r>
              <a:rPr lang="en-US" sz="1100" b="1" dirty="0">
                <a:solidFill>
                  <a:srgbClr val="333333"/>
                </a:solidFill>
                <a:latin typeface="Calibri" pitchFamily="34" charset="0"/>
                <a:ea typeface="Calibri" pitchFamily="34" charset="-122"/>
                <a:cs typeface="Calibri" pitchFamily="34" charset="-120"/>
              </a:rPr>
              <a:t>Ozone season = </a:t>
            </a:r>
            <a:r>
              <a:rPr lang="en-US" sz="1100" b="1" dirty="0">
                <a:solidFill>
                  <a:srgbClr val="C2410C"/>
                </a:solidFill>
                <a:latin typeface="Calibri" pitchFamily="34" charset="0"/>
                <a:ea typeface="Calibri" pitchFamily="34" charset="-122"/>
                <a:cs typeface="Calibri" pitchFamily="34" charset="-120"/>
              </a:rPr>
              <a:t>June, July, August</a:t>
            </a:r>
            <a:r>
              <a:rPr lang="en-US" sz="1100" dirty="0">
                <a:solidFill>
                  <a:srgbClr val="333333"/>
                </a:solidFill>
                <a:latin typeface="Calibri" pitchFamily="34" charset="0"/>
                <a:ea typeface="Calibri" pitchFamily="34" charset="-122"/>
                <a:cs typeface="Calibri" pitchFamily="34" charset="-120"/>
              </a:rPr>
              <a:t> (minimum). Many sites operate year-round.</a:t>
            </a:r>
            <a:endParaRPr lang="en-US" sz="1100" dirty="0"/>
          </a:p>
        </p:txBody>
      </p:sp>
      <p:sp>
        <p:nvSpPr>
          <p:cNvPr id="7" name="Shape 5"/>
          <p:cNvSpPr/>
          <p:nvPr/>
        </p:nvSpPr>
        <p:spPr>
          <a:xfrm>
            <a:off x="653796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Required PAMS measurements</a:t>
            </a:r>
            <a:endParaRPr lang="en-US" sz="1400" dirty="0"/>
          </a:p>
        </p:txBody>
      </p:sp>
      <p:sp>
        <p:nvSpPr>
          <p:cNvPr id="9" name="Text 7"/>
          <p:cNvSpPr/>
          <p:nvPr/>
        </p:nvSpPr>
        <p:spPr>
          <a:xfrm>
            <a:off x="6766560" y="1920240"/>
            <a:ext cx="4709160" cy="4206240"/>
          </a:xfrm>
          <a:prstGeom prst="rect">
            <a:avLst/>
          </a:prstGeom>
          <a:noFill/>
          <a:ln/>
        </p:spPr>
        <p:txBody>
          <a:bodyPr wrap="square" lIns="0" tIns="0" rIns="0" bIns="0" rtlCol="0" anchor="t"/>
          <a:lstStyle/>
          <a:p>
            <a:pPr marL="0" indent="0">
              <a:spcAft>
                <a:spcPts val="200"/>
              </a:spcAft>
              <a:buNone/>
            </a:pPr>
            <a:r>
              <a:rPr lang="en-US" sz="1100" i="1" dirty="0">
                <a:solidFill>
                  <a:srgbClr val="6B7A85"/>
                </a:solidFill>
                <a:latin typeface="Calibri" pitchFamily="34" charset="0"/>
                <a:ea typeface="Calibri" pitchFamily="34" charset="-122"/>
                <a:cs typeface="Calibri" pitchFamily="34" charset="-120"/>
              </a:rPr>
              <a:t>40 CFR Part 58 Appendix D §5(b)</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Hourly speciated VOCs (57-compound target list)</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3 carbonyl samples/day (formaldehyde, acetaldehyde, acetone) on 1-in-3 day schedule</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Hourly O3</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Hourly NO, true NO2, and total reactive nitrogen (NOy)</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Surface meteorology (T, wind, RH, P, precip, mixing height, solar radiation)</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Upper-air met at the EMP-designated enhanced site</a:t>
            </a:r>
            <a:endParaRPr lang="en-US" sz="1100" dirty="0"/>
          </a:p>
          <a:p>
            <a:pPr marL="0" indent="0">
              <a:spcAft>
                <a:spcPts val="200"/>
              </a:spcAft>
              <a:buNone/>
            </a:pPr>
            <a:endParaRPr lang="en-US" sz="1100" dirty="0"/>
          </a:p>
          <a:p>
            <a:pPr marL="0" indent="0">
              <a:spcAft>
                <a:spcPts val="200"/>
              </a:spcAft>
              <a:buNone/>
            </a:pPr>
            <a:r>
              <a:rPr lang="en-US" sz="1100" b="1" dirty="0">
                <a:solidFill>
                  <a:srgbClr val="333333"/>
                </a:solidFill>
                <a:latin typeface="Calibri" pitchFamily="34" charset="0"/>
                <a:ea typeface="Calibri" pitchFamily="34" charset="-122"/>
                <a:cs typeface="Calibri" pitchFamily="34" charset="-120"/>
              </a:rPr>
              <a:t>Site types (Type 1-4)</a:t>
            </a:r>
            <a:endParaRPr lang="en-US" sz="1100" dirty="0"/>
          </a:p>
          <a:p>
            <a:pPr marL="0" indent="0">
              <a:spcAft>
                <a:spcPts val="200"/>
              </a:spcAft>
              <a:buNone/>
            </a:pPr>
            <a:r>
              <a:rPr lang="en-US" sz="1000" i="1" dirty="0">
                <a:solidFill>
                  <a:srgbClr val="6B7A85"/>
                </a:solidFill>
                <a:latin typeface="Calibri" pitchFamily="34" charset="0"/>
                <a:ea typeface="Calibri" pitchFamily="34" charset="-122"/>
                <a:cs typeface="Calibri" pitchFamily="34" charset="-120"/>
              </a:rPr>
              <a:t>Type 1: upwind/background · Type 2: max precursor impact · Type 3: max ozone · Type 4: extreme downwind</a:t>
            </a:r>
            <a:endParaRPr lang="en-US" sz="1100" dirty="0"/>
          </a:p>
        </p:txBody>
      </p:sp>
      <p:sp>
        <p:nvSpPr>
          <p:cNvPr id="10"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1"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44 / 60</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AutoGC — how continuous hourly VOC data happens</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Automated Gas Chromatograph workflow</a:t>
            </a:r>
            <a:endParaRPr lang="en-US" sz="1400"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200"/>
              </a:spcAft>
              <a:buNone/>
            </a:pPr>
            <a:r>
              <a:rPr lang="en-US" sz="1050" b="1" dirty="0">
                <a:solidFill>
                  <a:srgbClr val="C2410C"/>
                </a:solidFill>
                <a:latin typeface="Calibri" pitchFamily="34" charset="0"/>
                <a:ea typeface="Calibri" pitchFamily="34" charset="-122"/>
                <a:cs typeface="Calibri" pitchFamily="34" charset="-120"/>
              </a:rPr>
              <a:t>1. </a:t>
            </a:r>
            <a:r>
              <a:rPr lang="en-US" sz="1050" dirty="0">
                <a:solidFill>
                  <a:srgbClr val="333333"/>
                </a:solidFill>
                <a:latin typeface="Calibri" pitchFamily="34" charset="0"/>
                <a:ea typeface="Calibri" pitchFamily="34" charset="-122"/>
                <a:cs typeface="Calibri" pitchFamily="34" charset="-120"/>
              </a:rPr>
              <a:t>Ambient air sampled every hour (typical 200–700 mL).
</a:t>
            </a:r>
            <a:r>
              <a:rPr lang="en-US" sz="1050" b="1" dirty="0">
                <a:solidFill>
                  <a:srgbClr val="C2410C"/>
                </a:solidFill>
                <a:latin typeface="Calibri" pitchFamily="34" charset="0"/>
                <a:ea typeface="Calibri" pitchFamily="34" charset="-122"/>
                <a:cs typeface="Calibri" pitchFamily="34" charset="-120"/>
              </a:rPr>
              <a:t>2. </a:t>
            </a:r>
            <a:r>
              <a:rPr lang="en-US" sz="1050" dirty="0">
                <a:solidFill>
                  <a:srgbClr val="333333"/>
                </a:solidFill>
                <a:latin typeface="Calibri" pitchFamily="34" charset="0"/>
                <a:ea typeface="Calibri" pitchFamily="34" charset="-122"/>
                <a:cs typeface="Calibri" pitchFamily="34" charset="-120"/>
              </a:rPr>
              <a:t>Preconcentration via </a:t>
            </a:r>
            <a:r>
              <a:rPr lang="en-US" sz="1050" b="1" dirty="0">
                <a:solidFill>
                  <a:srgbClr val="333333"/>
                </a:solidFill>
                <a:latin typeface="Calibri" pitchFamily="34" charset="0"/>
                <a:ea typeface="Calibri" pitchFamily="34" charset="-122"/>
                <a:cs typeface="Calibri" pitchFamily="34" charset="-120"/>
              </a:rPr>
              <a:t>Peltier-cooled multi-stage sorbent trap</a:t>
            </a:r>
            <a:r>
              <a:rPr lang="en-US" sz="1050" dirty="0">
                <a:solidFill>
                  <a:srgbClr val="333333"/>
                </a:solidFill>
                <a:latin typeface="Calibri" pitchFamily="34" charset="0"/>
                <a:ea typeface="Calibri" pitchFamily="34" charset="-122"/>
                <a:cs typeface="Calibri" pitchFamily="34" charset="-120"/>
              </a:rPr>
              <a:t> (Tenax, Carbopack, Carbosieve) at -10 to -30 °C. Water managed via Nafion membrane dryer or Kori-xr cold trap.
</a:t>
            </a:r>
            <a:r>
              <a:rPr lang="en-US" sz="1050" b="1" dirty="0">
                <a:solidFill>
                  <a:srgbClr val="C2410C"/>
                </a:solidFill>
                <a:latin typeface="Calibri" pitchFamily="34" charset="0"/>
                <a:ea typeface="Calibri" pitchFamily="34" charset="-122"/>
                <a:cs typeface="Calibri" pitchFamily="34" charset="-120"/>
              </a:rPr>
              <a:t>3. </a:t>
            </a:r>
            <a:r>
              <a:rPr lang="en-US" sz="1050" dirty="0">
                <a:solidFill>
                  <a:srgbClr val="333333"/>
                </a:solidFill>
                <a:latin typeface="Calibri" pitchFamily="34" charset="0"/>
                <a:ea typeface="Calibri" pitchFamily="34" charset="-122"/>
                <a:cs typeface="Calibri" pitchFamily="34" charset="-120"/>
              </a:rPr>
              <a:t>Ballistic heating (300–380 °C) desorbs analytes into GC carrier gas.
</a:t>
            </a:r>
            <a:r>
              <a:rPr lang="en-US" sz="1050" b="1" dirty="0">
                <a:solidFill>
                  <a:srgbClr val="C2410C"/>
                </a:solidFill>
                <a:latin typeface="Calibri" pitchFamily="34" charset="0"/>
                <a:ea typeface="Calibri" pitchFamily="34" charset="-122"/>
                <a:cs typeface="Calibri" pitchFamily="34" charset="-120"/>
              </a:rPr>
              <a:t>4. </a:t>
            </a:r>
            <a:r>
              <a:rPr lang="en-US" sz="1050" dirty="0">
                <a:solidFill>
                  <a:srgbClr val="333333"/>
                </a:solidFill>
                <a:latin typeface="Calibri" pitchFamily="34" charset="0"/>
                <a:ea typeface="Calibri" pitchFamily="34" charset="-122"/>
                <a:cs typeface="Calibri" pitchFamily="34" charset="-120"/>
              </a:rPr>
              <a:t>Dual-column separation: </a:t>
            </a:r>
            <a:r>
              <a:rPr lang="en-US" sz="1050" b="1" dirty="0">
                <a:solidFill>
                  <a:srgbClr val="333333"/>
                </a:solidFill>
                <a:latin typeface="Calibri" pitchFamily="34" charset="0"/>
                <a:ea typeface="Calibri" pitchFamily="34" charset="-122"/>
                <a:cs typeface="Calibri" pitchFamily="34" charset="-120"/>
              </a:rPr>
              <a:t>Al2O3/KCl PLOT (C2–C5)</a:t>
            </a:r>
            <a:r>
              <a:rPr lang="en-US" sz="1050" dirty="0">
                <a:solidFill>
                  <a:srgbClr val="333333"/>
                </a:solidFill>
                <a:latin typeface="Calibri" pitchFamily="34" charset="0"/>
                <a:ea typeface="Calibri" pitchFamily="34" charset="-122"/>
                <a:cs typeface="Calibri" pitchFamily="34" charset="-120"/>
              </a:rPr>
              <a:t> + </a:t>
            </a:r>
            <a:r>
              <a:rPr lang="en-US" sz="1050" b="1" dirty="0">
                <a:solidFill>
                  <a:srgbClr val="333333"/>
                </a:solidFill>
                <a:latin typeface="Calibri" pitchFamily="34" charset="0"/>
                <a:ea typeface="Calibri" pitchFamily="34" charset="-122"/>
                <a:cs typeface="Calibri" pitchFamily="34" charset="-120"/>
              </a:rPr>
              <a:t>DB-1 non-polar (C6–C12 aromatics)</a:t>
            </a:r>
            <a:r>
              <a:rPr lang="en-US" sz="1050" dirty="0">
                <a:solidFill>
                  <a:srgbClr val="333333"/>
                </a:solidFill>
                <a:latin typeface="Calibri" pitchFamily="34" charset="0"/>
                <a:ea typeface="Calibri" pitchFamily="34" charset="-122"/>
                <a:cs typeface="Calibri" pitchFamily="34" charset="-120"/>
              </a:rPr>
              <a:t>, Deans-switched.
</a:t>
            </a:r>
            <a:r>
              <a:rPr lang="en-US" sz="1050" b="1" dirty="0">
                <a:solidFill>
                  <a:srgbClr val="C2410C"/>
                </a:solidFill>
                <a:latin typeface="Calibri" pitchFamily="34" charset="0"/>
                <a:ea typeface="Calibri" pitchFamily="34" charset="-122"/>
                <a:cs typeface="Calibri" pitchFamily="34" charset="-120"/>
              </a:rPr>
              <a:t>5. </a:t>
            </a:r>
            <a:r>
              <a:rPr lang="en-US" sz="1050" dirty="0">
                <a:solidFill>
                  <a:srgbClr val="333333"/>
                </a:solidFill>
                <a:latin typeface="Calibri" pitchFamily="34" charset="0"/>
                <a:ea typeface="Calibri" pitchFamily="34" charset="-122"/>
                <a:cs typeface="Calibri" pitchFamily="34" charset="-120"/>
              </a:rPr>
              <a:t>Detection: </a:t>
            </a:r>
            <a:r>
              <a:rPr lang="en-US" sz="1050" b="1" dirty="0">
                <a:solidFill>
                  <a:srgbClr val="333333"/>
                </a:solidFill>
                <a:latin typeface="Calibri" pitchFamily="34" charset="0"/>
                <a:ea typeface="Calibri" pitchFamily="34" charset="-122"/>
                <a:cs typeface="Calibri" pitchFamily="34" charset="-120"/>
              </a:rPr>
              <a:t>dual FID</a:t>
            </a:r>
            <a:r>
              <a:rPr lang="en-US" sz="1050" dirty="0">
                <a:solidFill>
                  <a:srgbClr val="333333"/>
                </a:solidFill>
                <a:latin typeface="Calibri" pitchFamily="34" charset="0"/>
                <a:ea typeface="Calibri" pitchFamily="34" charset="-122"/>
                <a:cs typeface="Calibri" pitchFamily="34" charset="-120"/>
              </a:rPr>
              <a:t> (carbon response → ppbC) or MS for confirmation.
</a:t>
            </a:r>
            <a:r>
              <a:rPr lang="en-US" sz="1050" b="1" dirty="0">
                <a:solidFill>
                  <a:srgbClr val="C2410C"/>
                </a:solidFill>
                <a:latin typeface="Calibri" pitchFamily="34" charset="0"/>
                <a:ea typeface="Calibri" pitchFamily="34" charset="-122"/>
                <a:cs typeface="Calibri" pitchFamily="34" charset="-120"/>
              </a:rPr>
              <a:t>6. </a:t>
            </a:r>
            <a:r>
              <a:rPr lang="en-US" sz="1050" dirty="0">
                <a:solidFill>
                  <a:srgbClr val="333333"/>
                </a:solidFill>
                <a:latin typeface="Calibri" pitchFamily="34" charset="0"/>
                <a:ea typeface="Calibri" pitchFamily="34" charset="-122"/>
                <a:cs typeface="Calibri" pitchFamily="34" charset="-120"/>
              </a:rPr>
              <a:t>Data pushed to LIMS → TAMIS → EPA AQS.
</a:t>
            </a:r>
            <a:r>
              <a:rPr lang="en-US" sz="1000" i="1" dirty="0">
                <a:solidFill>
                  <a:srgbClr val="6B7A85"/>
                </a:solidFill>
                <a:latin typeface="Calibri" pitchFamily="34" charset="0"/>
                <a:ea typeface="Calibri" pitchFamily="34" charset="-122"/>
                <a:cs typeface="Calibri" pitchFamily="34" charset="-120"/>
              </a:rPr>
              <a:t>Cycle time: 20–60 min. Cryogen-free (Peltier) or LN₂-cooled.</a:t>
            </a:r>
            <a:endParaRPr lang="en-US" sz="1050" dirty="0"/>
          </a:p>
        </p:txBody>
      </p:sp>
      <p:sp>
        <p:nvSpPr>
          <p:cNvPr id="7" name="Shape 5"/>
          <p:cNvSpPr/>
          <p:nvPr/>
        </p:nvSpPr>
        <p:spPr>
          <a:xfrm>
            <a:off x="653796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Commercial systems in deployment</a:t>
            </a:r>
            <a:endParaRPr lang="en-US" sz="14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766560" y="1965960"/>
          <a:ext cx="4709160" cy="2468880"/>
        </p:xfrm>
        <a:graphic>
          <a:graphicData uri="http://schemas.openxmlformats.org/drawingml/2006/table">
            <a:tbl>
              <a:tblPr/>
              <a:tblGrid>
                <a:gridCol w="19202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41148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System</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Notes</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11480">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Markes TT24-7 / UNITY-CIA</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Cryogen-free TD; U.S. PAMS reference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Synspec GC955-611/811</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Turnkey; dual-instrument C2-C12</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11480">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Chromatotec airmoVOC C2-C12</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Dual-FID; lowest MDLs (~1-10 ppt)</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PerkinElmer Clarus + TDx</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Legacy PAMS platform</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11480">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Entech 7200A + Agilent GCMS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Cryogenic; TO-15A overlap</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p:nvPr/>
        </p:nvSpPr>
        <p:spPr>
          <a:xfrm>
            <a:off x="6766560" y="4572000"/>
            <a:ext cx="4709160" cy="320040"/>
          </a:xfrm>
          <a:prstGeom prst="rect">
            <a:avLst/>
          </a:prstGeom>
          <a:noFill/>
          <a:ln/>
        </p:spPr>
        <p:txBody>
          <a:bodyPr wrap="square" lIns="0" tIns="0" rIns="0" bIns="0" rtlCol="0" anchor="ctr"/>
          <a:lstStyle/>
          <a:p>
            <a:pPr marL="0" indent="0">
              <a:buNone/>
            </a:pPr>
            <a:r>
              <a:rPr lang="en-US" sz="1300" b="1" dirty="0">
                <a:solidFill>
                  <a:srgbClr val="C2410C"/>
                </a:solidFill>
                <a:latin typeface="Cambria" pitchFamily="34" charset="0"/>
                <a:ea typeface="Cambria" pitchFamily="34" charset="-122"/>
                <a:cs typeface="Cambria" pitchFamily="34" charset="-120"/>
              </a:rPr>
              <a:t>Calibration + reporting</a:t>
            </a:r>
            <a:endParaRPr lang="en-US" sz="1300" dirty="0"/>
          </a:p>
        </p:txBody>
      </p:sp>
      <p:sp>
        <p:nvSpPr>
          <p:cNvPr id="11" name="Text 8"/>
          <p:cNvSpPr/>
          <p:nvPr/>
        </p:nvSpPr>
        <p:spPr>
          <a:xfrm>
            <a:off x="6766560" y="4937760"/>
            <a:ext cx="4709160" cy="1371600"/>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57-component PAMS gas standards (Restek/Airgas P/N 26370, Linde P/N 34445, Apel-Riemer custom) at 20-60 ppbC.  Daily auto-cal; 5-7 point curves quarterly.  Internal standards: BCM, 1,4-DFB, chlorobenzene-d5.</a:t>
            </a:r>
            <a:endParaRPr lang="en-US" sz="1000" dirty="0"/>
          </a:p>
        </p:txBody>
      </p:sp>
      <p:sp>
        <p:nvSpPr>
          <p:cNvPr id="12" name="Text 9"/>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3" name="Text 10"/>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45 / 60</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METHODS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EPA Method TO-15 — the canister method</a:t>
            </a:r>
            <a:endParaRPr lang="en-US" sz="3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3566160"/>
        </p:xfrm>
        <a:graphic>
          <a:graphicData uri="http://schemas.openxmlformats.org/drawingml/2006/table">
            <a:tbl>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09451">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Attribute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TO-15 (1999)</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TO-15A (2019)</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509451">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Working range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Soil vapor + ambient (200-500 pptv reporting)</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Ambient focus (20 pptv reporting)</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Canister cleanliness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&lt; 200 pptv per analyte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&lt; 20 pptv per analyte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509451">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Calibration ceiling</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~50 ppbv</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~5 ppbv (better low-level linearity)</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MDL (benzene, toluene)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0.1–0.5 ppbv</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5–15 pptv</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509451">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30-day stability test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Not required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Required, at 40-50% RH</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Gauges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Analog OK</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Digital/certified, 0.1 PSI resolution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bl>
          </a:graphicData>
        </a:graphic>
      </p:graphicFrame>
      <p:sp>
        <p:nvSpPr>
          <p:cNvPr id="5" name="Shape 2"/>
          <p:cNvSpPr/>
          <p:nvPr/>
        </p:nvSpPr>
        <p:spPr>
          <a:xfrm>
            <a:off x="8366760" y="1417320"/>
            <a:ext cx="3291840" cy="3566160"/>
          </a:xfrm>
          <a:prstGeom prst="roundRect">
            <a:avLst>
              <a:gd name="adj" fmla="val 2222"/>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8549640" y="1554480"/>
            <a:ext cx="3017520" cy="320040"/>
          </a:xfrm>
          <a:prstGeom prst="rect">
            <a:avLst/>
          </a:prstGeom>
          <a:noFill/>
          <a:ln/>
        </p:spPr>
        <p:txBody>
          <a:bodyPr wrap="square" lIns="0" tIns="0" rIns="0" bIns="0" rtlCol="0" anchor="ctr"/>
          <a:lstStyle/>
          <a:p>
            <a:pPr marL="0" indent="0">
              <a:buNone/>
            </a:pPr>
            <a:r>
              <a:rPr lang="en-US" sz="1300" b="1" dirty="0">
                <a:solidFill>
                  <a:srgbClr val="213C4E"/>
                </a:solidFill>
                <a:latin typeface="Cambria" pitchFamily="34" charset="0"/>
                <a:ea typeface="Cambria" pitchFamily="34" charset="-122"/>
                <a:cs typeface="Cambria" pitchFamily="34" charset="-120"/>
              </a:rPr>
              <a:t>Programs using TO-15</a:t>
            </a:r>
            <a:endParaRPr lang="en-US" sz="1300" dirty="0"/>
          </a:p>
        </p:txBody>
      </p:sp>
      <p:sp>
        <p:nvSpPr>
          <p:cNvPr id="7" name="Text 4"/>
          <p:cNvSpPr/>
          <p:nvPr/>
        </p:nvSpPr>
        <p:spPr>
          <a:xfrm>
            <a:off x="8549640" y="1874520"/>
            <a:ext cx="3017520" cy="30175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NATTS — National Air Toxics Trends Stations (27 sites)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UATMP — Urban Air Toxics Monitoring Program</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PAMS ozone-precursor sites (canister confirmation of AutoGC)</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State networks: TCEQ, CARB, NYSDEC</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Vapor intrusion (ITRC / ASTM E2600)</a:t>
            </a:r>
            <a:endParaRPr lang="en-US" sz="1000" dirty="0"/>
          </a:p>
        </p:txBody>
      </p:sp>
      <p:sp>
        <p:nvSpPr>
          <p:cNvPr id="8" name="Shape 5"/>
          <p:cNvSpPr/>
          <p:nvPr/>
        </p:nvSpPr>
        <p:spPr>
          <a:xfrm>
            <a:off x="548640" y="5166360"/>
            <a:ext cx="11064240" cy="1188720"/>
          </a:xfrm>
          <a:prstGeom prst="roundRect">
            <a:avLst>
              <a:gd name="adj" fmla="val 6154"/>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9" name="Text 6"/>
          <p:cNvSpPr/>
          <p:nvPr/>
        </p:nvSpPr>
        <p:spPr>
          <a:xfrm>
            <a:off x="777240" y="5303520"/>
            <a:ext cx="10607040" cy="960120"/>
          </a:xfrm>
          <a:prstGeom prst="rect">
            <a:avLst/>
          </a:prstGeom>
          <a:noFill/>
          <a:ln/>
        </p:spPr>
        <p:txBody>
          <a:bodyPr wrap="square" lIns="0" tIns="0" rIns="0" bIns="0" rtlCol="0" anchor="t"/>
          <a:lstStyle/>
          <a:p>
            <a:pPr marL="0" indent="0">
              <a:buNone/>
            </a:pPr>
            <a:r>
              <a:rPr lang="en-US" sz="1100" b="1" dirty="0">
                <a:solidFill>
                  <a:srgbClr val="C2410C"/>
                </a:solidFill>
                <a:latin typeface="Calibri" pitchFamily="34" charset="0"/>
                <a:ea typeface="Calibri" pitchFamily="34" charset="-122"/>
                <a:cs typeface="Calibri" pitchFamily="34" charset="-120"/>
              </a:rPr>
              <a:t>Canister types: </a:t>
            </a:r>
            <a:r>
              <a:rPr lang="en-US" sz="1100" dirty="0">
                <a:solidFill>
                  <a:srgbClr val="333333"/>
                </a:solidFill>
                <a:latin typeface="Calibri" pitchFamily="34" charset="0"/>
                <a:ea typeface="Calibri" pitchFamily="34" charset="-122"/>
                <a:cs typeface="Calibri" pitchFamily="34" charset="-120"/>
              </a:rPr>
              <a:t>SUMMA-passivated (NiCrOx layer, standard); Silonite (silica CVD, more inert). Sizes 0.4-15 L. 6L canisters = de facto standard for 24-hr integrated NATTS samples.  </a:t>
            </a:r>
            <a:r>
              <a:rPr lang="en-US" sz="1100" b="1" dirty="0">
                <a:solidFill>
                  <a:srgbClr val="C2410C"/>
                </a:solidFill>
                <a:latin typeface="Calibri" pitchFamily="34" charset="0"/>
                <a:ea typeface="Calibri" pitchFamily="34" charset="-122"/>
                <a:cs typeface="Calibri" pitchFamily="34" charset="-120"/>
              </a:rPr>
              <a:t>Coastal Bend relevance: </a:t>
            </a:r>
            <a:r>
              <a:rPr lang="en-US" sz="1100" dirty="0">
                <a:solidFill>
                  <a:srgbClr val="333333"/>
                </a:solidFill>
                <a:latin typeface="Calibri" pitchFamily="34" charset="0"/>
                <a:ea typeface="Calibri" pitchFamily="34" charset="-122"/>
                <a:cs typeface="Calibri" pitchFamily="34" charset="-120"/>
              </a:rPr>
              <a:t>our 24-hr AutoGC data at CC Hillcrest, Dona Park, Holly is effectively equivalent to TO-15 canister methodology in reporting cadence — 1-in-6 day sampling is typical.</a:t>
            </a:r>
            <a:endParaRPr lang="en-US" sz="1100" dirty="0"/>
          </a:p>
        </p:txBody>
      </p:sp>
      <p:sp>
        <p:nvSpPr>
          <p:cNvPr id="10" name="Text 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1" name="Text 8"/>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46 / 60</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VOC parameter codes — 43xxx and 45xxx series</a:t>
            </a:r>
            <a:endParaRPr lang="en-US" sz="3000" dirty="0"/>
          </a:p>
        </p:txBody>
      </p:sp>
      <p:sp>
        <p:nvSpPr>
          <p:cNvPr id="4" name="Shape 2"/>
          <p:cNvSpPr/>
          <p:nvPr/>
        </p:nvSpPr>
        <p:spPr>
          <a:xfrm>
            <a:off x="548640" y="1417320"/>
            <a:ext cx="3840480" cy="4937760"/>
          </a:xfrm>
          <a:prstGeom prst="roundRect">
            <a:avLst>
              <a:gd name="adj" fmla="val 190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352044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Code series</a:t>
            </a:r>
            <a:endParaRPr lang="en-US" sz="1400" dirty="0"/>
          </a:p>
        </p:txBody>
      </p:sp>
      <p:sp>
        <p:nvSpPr>
          <p:cNvPr id="6" name="Text 4"/>
          <p:cNvSpPr/>
          <p:nvPr/>
        </p:nvSpPr>
        <p:spPr>
          <a:xfrm>
            <a:off x="777240" y="1965960"/>
            <a:ext cx="3520440" cy="4297680"/>
          </a:xfrm>
          <a:prstGeom prst="rect">
            <a:avLst/>
          </a:prstGeom>
          <a:noFill/>
          <a:ln/>
        </p:spPr>
        <p:txBody>
          <a:bodyPr wrap="square" lIns="0" tIns="0" rIns="0" bIns="0" rtlCol="0" anchor="t"/>
          <a:lstStyle/>
          <a:p>
            <a:pPr marL="0" indent="0">
              <a:spcAft>
                <a:spcPts val="300"/>
              </a:spcAft>
              <a:buNone/>
            </a:pPr>
            <a:r>
              <a:rPr lang="en-US" sz="1100" b="1" dirty="0">
                <a:solidFill>
                  <a:srgbClr val="C2410C"/>
                </a:solidFill>
                <a:latin typeface="Calibri" pitchFamily="34" charset="0"/>
                <a:ea typeface="Calibri" pitchFamily="34" charset="-122"/>
                <a:cs typeface="Calibri" pitchFamily="34" charset="-120"/>
              </a:rPr>
              <a:t>43xxx</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Alkanes, alkenes, alkynes, oxygenates (aldehydes / ketones)</a:t>
            </a:r>
            <a:endParaRPr lang="en-US" sz="1100" dirty="0"/>
          </a:p>
          <a:p>
            <a:pPr marL="0" indent="0">
              <a:spcAft>
                <a:spcPts val="300"/>
              </a:spcAft>
              <a:buNone/>
            </a:pPr>
            <a:endParaRPr lang="en-US" sz="1100" dirty="0"/>
          </a:p>
          <a:p>
            <a:pPr marL="0" indent="0">
              <a:spcAft>
                <a:spcPts val="300"/>
              </a:spcAft>
              <a:buNone/>
            </a:pPr>
            <a:r>
              <a:rPr lang="en-US" sz="1100" b="1" dirty="0">
                <a:solidFill>
                  <a:srgbClr val="C2410C"/>
                </a:solidFill>
                <a:latin typeface="Calibri" pitchFamily="34" charset="0"/>
                <a:ea typeface="Calibri" pitchFamily="34" charset="-122"/>
                <a:cs typeface="Calibri" pitchFamily="34" charset="-120"/>
              </a:rPr>
              <a:t>45xxx</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Aromatic hydrocarbons (BTEX, xylenes, styrene, trimethylbenzenes)</a:t>
            </a:r>
            <a:endParaRPr lang="en-US" sz="1100" dirty="0"/>
          </a:p>
          <a:p>
            <a:pPr marL="0" indent="0">
              <a:spcAft>
                <a:spcPts val="300"/>
              </a:spcAft>
              <a:buNone/>
            </a:pPr>
            <a:endParaRPr lang="en-US" sz="1100" dirty="0"/>
          </a:p>
          <a:p>
            <a:pPr marL="0" indent="0">
              <a:spcAft>
                <a:spcPts val="300"/>
              </a:spcAft>
              <a:buNone/>
            </a:pPr>
            <a:r>
              <a:rPr lang="en-US" sz="1100" b="1" dirty="0">
                <a:solidFill>
                  <a:srgbClr val="C2410C"/>
                </a:solidFill>
                <a:latin typeface="Calibri" pitchFamily="34" charset="0"/>
                <a:ea typeface="Calibri" pitchFamily="34" charset="-122"/>
                <a:cs typeface="Calibri" pitchFamily="34" charset="-120"/>
              </a:rPr>
              <a:t>43000 (special)</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Sum of PAMS target compounds — a QC summary field</a:t>
            </a:r>
            <a:endParaRPr lang="en-US" sz="1100" dirty="0"/>
          </a:p>
          <a:p>
            <a:pPr marL="0" indent="0">
              <a:spcAft>
                <a:spcPts val="300"/>
              </a:spcAft>
              <a:buNone/>
            </a:pPr>
            <a:endParaRPr lang="en-US" sz="1100" dirty="0"/>
          </a:p>
          <a:p>
            <a:pPr marL="0" indent="0">
              <a:spcAft>
                <a:spcPts val="300"/>
              </a:spcAft>
              <a:buNone/>
            </a:pPr>
            <a:r>
              <a:rPr lang="en-US" sz="1100" b="1" dirty="0">
                <a:solidFill>
                  <a:srgbClr val="C2410C"/>
                </a:solidFill>
                <a:latin typeface="Calibri" pitchFamily="34" charset="0"/>
                <a:ea typeface="Calibri" pitchFamily="34" charset="-122"/>
                <a:cs typeface="Calibri" pitchFamily="34" charset="-120"/>
              </a:rPr>
              <a:t>43102</a:t>
            </a:r>
            <a:endParaRPr lang="en-US" sz="1100" dirty="0"/>
          </a:p>
          <a:p>
            <a:pPr marL="0" indent="0">
              <a:spcAft>
                <a:spcPts val="300"/>
              </a:spcAft>
              <a:buNone/>
            </a:pPr>
            <a:r>
              <a:rPr lang="en-US" sz="1100" dirty="0">
                <a:solidFill>
                  <a:srgbClr val="333333"/>
                </a:solidFill>
                <a:latin typeface="Calibri" pitchFamily="34" charset="0"/>
                <a:ea typeface="Calibri" pitchFamily="34" charset="-122"/>
                <a:cs typeface="Calibri" pitchFamily="34" charset="-120"/>
              </a:rPr>
              <a:t>Total NMOC — non-methane organic compound (bulk sum via TO-12)</a:t>
            </a:r>
            <a:endParaRPr lang="en-US" sz="1100" dirty="0"/>
          </a:p>
          <a:p>
            <a:pPr marL="0" indent="0">
              <a:spcAft>
                <a:spcPts val="300"/>
              </a:spcAft>
              <a:buNone/>
            </a:pPr>
            <a:endParaRPr lang="en-US" sz="1100" dirty="0"/>
          </a:p>
          <a:p>
            <a:pPr marL="0" indent="0">
              <a:spcAft>
                <a:spcPts val="300"/>
              </a:spcAft>
              <a:buNone/>
            </a:pPr>
            <a:endParaRPr lang="en-US" sz="1100" dirty="0"/>
          </a:p>
          <a:p>
            <a:pPr marL="0" indent="0">
              <a:spcAft>
                <a:spcPts val="300"/>
              </a:spcAft>
              <a:buNone/>
            </a:pPr>
            <a:r>
              <a:rPr lang="en-US" sz="900" i="1" dirty="0">
                <a:solidFill>
                  <a:srgbClr val="6B7A85"/>
                </a:solidFill>
                <a:latin typeface="Calibri" pitchFamily="34" charset="0"/>
                <a:ea typeface="Calibri" pitchFamily="34" charset="-122"/>
                <a:cs typeface="Calibri" pitchFamily="34" charset="-120"/>
              </a:rPr>
              <a:t>Master list: aqs.epa.gov/aqsweb/documents/codetables/parameters.html</a:t>
            </a:r>
            <a:endParaRPr lang="en-US" sz="11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26280" y="1417320"/>
          <a:ext cx="7178040" cy="4937760"/>
        </p:xfrm>
        <a:graphic>
          <a:graphicData uri="http://schemas.openxmlformats.org/drawingml/2006/table">
            <a:tbl>
              <a:tblPr/>
              <a:tblGrid>
                <a:gridCol w="9144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29045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Code</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Species</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Family</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HAP?</a:t>
                      </a:r>
                      <a:endParaRPr lang="en-US" sz="10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43202</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Ethane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Paraffin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no (exempt)</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43203</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Ethylene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Olefin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43206</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Acetylene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Alkyne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43212</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n-Butane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Paraffin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43218</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1,3-Butadiene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Olefin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 (Group 1)</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43220</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n-Pentane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Paraffin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43231</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n-Hexane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Paraffin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43243</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Isoprene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Olefin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no (biogenic)</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43248</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Cyclohexane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Cycloalkane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43250</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2,2,4-Trimethylpentane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Paraffin</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0"/>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45109</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m/p-Xylene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Aromatic</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45201</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Benzene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Aromatic</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 (Group 1)</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2"/>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45202</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Toluene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Aromatic</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45203</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Ethylbenzene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Aromatic</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4"/>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45204</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o-Xylene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Aromatic</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90456">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45220</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Styrene</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Aromatic</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50" dirty="0">
                          <a:solidFill>
                            <a:srgbClr val="333333"/>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6"/>
                  </a:ext>
                </a:extLst>
              </a:tr>
            </a:tbl>
          </a:graphicData>
        </a:graphic>
      </p:graphicFrame>
      <p:sp>
        <p:nvSpPr>
          <p:cNvPr id="8"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9" name="Text 6"/>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47 / 60</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CODES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VOC method codes — AutoGC + canister families</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297680"/>
        </p:xfrm>
        <a:graphic>
          <a:graphicData uri="http://schemas.openxmlformats.org/drawingml/2006/table">
            <a:tbl>
              <a:tblPr/>
              <a:tblGrid>
                <a:gridCol w="914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069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Instrument / method</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Typical use</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122</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6L ambient canister, dual-FID (PAMS)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Canister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 integrated samples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123</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6L pressurized canister, dual-FID (PAMS)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Canister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 integrated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PerkinElmer 8700 AutoGC subambient dual-FID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AutoGC</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Hourly, PAMS-target only</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142</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Preconcentration/thermal desorber AutoGC (PE Clarus)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AutoGC</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Continuous PAMS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146</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PE 8700 AutoGC, 6L pressurized canister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Hybrid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Combined workflow</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Canister subambient, multi-detector GC</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Canister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Multi-detector confirmation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SS canister subambient, GC/MS (TO-15)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HAP confirmation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110</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SS canister pressurized, GC/MS (TO-15)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HAP confirmation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127</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6L subambient SS canister, GC/MS (TO-15)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NATTS reference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0698">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129</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6L pressurized SS canister, GC/MS (TO-15)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TO-15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NATTS reference</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0"/>
                  </a:ext>
                </a:extLst>
              </a:tr>
            </a:tbl>
          </a:graphicData>
        </a:graphic>
      </p:graphicFrame>
      <p:sp>
        <p:nvSpPr>
          <p:cNvPr id="5" name="Shape 2"/>
          <p:cNvSpPr/>
          <p:nvPr/>
        </p:nvSpPr>
        <p:spPr>
          <a:xfrm>
            <a:off x="548640" y="5852160"/>
            <a:ext cx="11064240" cy="502920"/>
          </a:xfrm>
          <a:prstGeom prst="roundRect">
            <a:avLst>
              <a:gd name="adj" fmla="val 14545"/>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777240" y="5916168"/>
            <a:ext cx="10607040" cy="365760"/>
          </a:xfrm>
          <a:prstGeom prst="rect">
            <a:avLst/>
          </a:prstGeom>
          <a:noFill/>
          <a:ln/>
        </p:spPr>
        <p:txBody>
          <a:bodyPr wrap="square" lIns="0" tIns="0" rIns="0" bIns="0" rtlCol="0" anchor="ctr"/>
          <a:lstStyle/>
          <a:p>
            <a:pPr marL="0" indent="0">
              <a:buNone/>
            </a:pPr>
            <a:r>
              <a:rPr lang="en-US" sz="1050" b="1" dirty="0">
                <a:solidFill>
                  <a:srgbClr val="C2410C"/>
                </a:solidFill>
                <a:latin typeface="Calibri" pitchFamily="34" charset="0"/>
                <a:ea typeface="Calibri" pitchFamily="34" charset="-122"/>
                <a:cs typeface="Calibri" pitchFamily="34" charset="-120"/>
              </a:rPr>
              <a:t>Diagnostic for our Coastal Bend data: </a:t>
            </a:r>
            <a:r>
              <a:rPr lang="en-US" sz="1050" dirty="0">
                <a:solidFill>
                  <a:srgbClr val="333333"/>
                </a:solidFill>
                <a:latin typeface="Calibri" pitchFamily="34" charset="0"/>
                <a:ea typeface="Calibri" pitchFamily="34" charset="-122"/>
                <a:cs typeface="Calibri" pitchFamily="34" charset="-120"/>
              </a:rPr>
              <a:t>CC Palm's 3.3M rows are AutoGC (methods 128 or 142); CC Hillcrest / Dona Park / Holly 24-hr rows are canister-based (methods 122/123 or TO-15 family 127/129).</a:t>
            </a:r>
            <a:endParaRPr lang="en-US" sz="1050" dirty="0"/>
          </a:p>
        </p:txBody>
      </p:sp>
      <p:sp>
        <p:nvSpPr>
          <p:cNvPr id="7" name="Text 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8" name="Text 5"/>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48 / 60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UNITS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Units — ppbC + why VOCs are reported that way</a:t>
            </a:r>
            <a:endParaRPr lang="en-US" sz="3000" dirty="0"/>
          </a:p>
        </p:txBody>
      </p:sp>
      <p:sp>
        <p:nvSpPr>
          <p:cNvPr id="4" name="Shape 2"/>
          <p:cNvSpPr/>
          <p:nvPr/>
        </p:nvSpPr>
        <p:spPr>
          <a:xfrm>
            <a:off x="548640" y="1417320"/>
            <a:ext cx="585216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777240" y="1600200"/>
            <a:ext cx="548640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What ppbC means</a:t>
            </a:r>
            <a:endParaRPr lang="en-US" sz="1400" dirty="0"/>
          </a:p>
        </p:txBody>
      </p:sp>
      <p:sp>
        <p:nvSpPr>
          <p:cNvPr id="6" name="Text 4"/>
          <p:cNvSpPr/>
          <p:nvPr/>
        </p:nvSpPr>
        <p:spPr>
          <a:xfrm>
            <a:off x="777240" y="1965960"/>
            <a:ext cx="5486400" cy="4206240"/>
          </a:xfrm>
          <a:prstGeom prst="rect">
            <a:avLst/>
          </a:prstGeom>
          <a:noFill/>
          <a:ln/>
        </p:spPr>
        <p:txBody>
          <a:bodyPr wrap="square" lIns="0" tIns="0" rIns="0" bIns="0" rtlCol="0" anchor="t"/>
          <a:lstStyle/>
          <a:p>
            <a:pPr marL="0" indent="0">
              <a:spcAft>
                <a:spcPts val="200"/>
              </a:spcAft>
              <a:buNone/>
            </a:pPr>
            <a:r>
              <a:rPr lang="en-US" sz="1100" b="1" dirty="0">
                <a:solidFill>
                  <a:srgbClr val="C2410C"/>
                </a:solidFill>
                <a:latin typeface="Calibri" pitchFamily="34" charset="0"/>
                <a:ea typeface="Calibri" pitchFamily="34" charset="-122"/>
                <a:cs typeface="Calibri" pitchFamily="34" charset="-120"/>
              </a:rPr>
              <a:t>ppbC = parts per billion CARBON</a:t>
            </a:r>
            <a:endParaRPr lang="en-US" sz="1100" dirty="0"/>
          </a:p>
          <a:p>
            <a:pPr marL="0" indent="0">
              <a:spcAft>
                <a:spcPts val="200"/>
              </a:spcAft>
              <a:buNone/>
            </a:pPr>
            <a:r>
              <a:rPr lang="en-US" sz="1100" dirty="0">
                <a:solidFill>
                  <a:srgbClr val="333333"/>
                </a:solidFill>
                <a:latin typeface="Calibri" pitchFamily="34" charset="0"/>
                <a:ea typeface="Calibri" pitchFamily="34" charset="-122"/>
                <a:cs typeface="Calibri" pitchFamily="34" charset="-120"/>
              </a:rPr>
              <a:t>
For a molecule with n carbon atoms:
</a:t>
            </a:r>
            <a:r>
              <a:rPr lang="en-US" sz="1100" b="1" dirty="0">
                <a:solidFill>
                  <a:srgbClr val="213C4E"/>
                </a:solidFill>
                <a:latin typeface="Courier New" pitchFamily="34" charset="0"/>
                <a:ea typeface="Courier New" pitchFamily="34" charset="-122"/>
                <a:cs typeface="Courier New" pitchFamily="34" charset="-120"/>
              </a:rPr>
              <a:t>ppbC = ppbv × n</a:t>
            </a:r>
            <a:endParaRPr lang="en-US" sz="1100" dirty="0"/>
          </a:p>
          <a:p>
            <a:pPr marL="0" indent="0">
              <a:spcAft>
                <a:spcPts val="200"/>
              </a:spcAft>
              <a:buNone/>
            </a:pPr>
            <a:endParaRPr lang="en-US" sz="1100" dirty="0"/>
          </a:p>
          <a:p>
            <a:pPr marL="0" indent="0">
              <a:spcAft>
                <a:spcPts val="200"/>
              </a:spcAft>
              <a:buNone/>
            </a:pPr>
            <a:r>
              <a:rPr lang="en-US" sz="1100" b="1" dirty="0">
                <a:solidFill>
                  <a:srgbClr val="333333"/>
                </a:solidFill>
                <a:latin typeface="Calibri" pitchFamily="34" charset="0"/>
                <a:ea typeface="Calibri" pitchFamily="34" charset="-122"/>
                <a:cs typeface="Calibri" pitchFamily="34" charset="-120"/>
              </a:rPr>
              <a:t>Examples:</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Benzene (C6H6): 1 ppbv = 6 ppbC</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Toluene (C7H8): 1 ppbv = 7 ppbC</a:t>
            </a:r>
            <a:endParaRPr lang="en-US" sz="1100" dirty="0"/>
          </a:p>
          <a:p>
            <a:pPr marL="342900" indent="-342900">
              <a:spcAft>
                <a:spcPts val="200"/>
              </a:spcAft>
              <a:buSzPct val="100000"/>
              <a:buChar char="•"/>
            </a:pPr>
            <a:r>
              <a:rPr lang="en-US" sz="1100" dirty="0">
                <a:solidFill>
                  <a:srgbClr val="333333"/>
                </a:solidFill>
                <a:latin typeface="Calibri" pitchFamily="34" charset="0"/>
                <a:ea typeface="Calibri" pitchFamily="34" charset="-122"/>
                <a:cs typeface="Calibri" pitchFamily="34" charset="-120"/>
              </a:rPr>
              <a:t>Ethane (C2H6): 1 ppbv = 2 ppbC</a:t>
            </a:r>
            <a:endParaRPr lang="en-US" sz="1100" dirty="0"/>
          </a:p>
          <a:p>
            <a:pPr marL="0" indent="0">
              <a:spcAft>
                <a:spcPts val="200"/>
              </a:spcAft>
              <a:buNone/>
            </a:pPr>
            <a:endParaRPr lang="en-US" sz="1100" dirty="0"/>
          </a:p>
          <a:p>
            <a:pPr marL="0" indent="0">
              <a:spcAft>
                <a:spcPts val="200"/>
              </a:spcAft>
              <a:buNone/>
            </a:pPr>
            <a:r>
              <a:rPr lang="en-US" sz="1100" b="1" dirty="0">
                <a:solidFill>
                  <a:srgbClr val="C2410C"/>
                </a:solidFill>
                <a:latin typeface="Calibri" pitchFamily="34" charset="0"/>
                <a:ea typeface="Calibri" pitchFamily="34" charset="-122"/>
                <a:cs typeface="Calibri" pitchFamily="34" charset="-120"/>
              </a:rPr>
              <a:t>Why carbon-normalize?</a:t>
            </a:r>
            <a:endParaRPr lang="en-US" sz="1100" dirty="0"/>
          </a:p>
          <a:p>
            <a:pPr marL="0" indent="0">
              <a:spcAft>
                <a:spcPts val="200"/>
              </a:spcAft>
              <a:buNone/>
            </a:pPr>
            <a:r>
              <a:rPr lang="en-US" sz="1100" dirty="0">
                <a:solidFill>
                  <a:srgbClr val="333333"/>
                </a:solidFill>
                <a:latin typeface="Calibri" pitchFamily="34" charset="0"/>
                <a:ea typeface="Calibri" pitchFamily="34" charset="-122"/>
                <a:cs typeface="Calibri" pitchFamily="34" charset="-120"/>
              </a:rPr>
              <a:t>Ozone-formation potential scales roughly with reactive carbon count, not with mole count. A 10 ppbv toluene contributes about 10× more ozone-forming carbon than 1 ppbv toluene. Reporting in ppbC lets you compare across species of different chain length for photochemical modeling.</a:t>
            </a:r>
            <a:endParaRPr lang="en-US" sz="1100" dirty="0"/>
          </a:p>
        </p:txBody>
      </p:sp>
      <p:sp>
        <p:nvSpPr>
          <p:cNvPr id="7" name="Shape 5"/>
          <p:cNvSpPr/>
          <p:nvPr/>
        </p:nvSpPr>
        <p:spPr>
          <a:xfrm>
            <a:off x="6537960" y="1417320"/>
            <a:ext cx="5120640" cy="4937760"/>
          </a:xfrm>
          <a:prstGeom prst="roundRect">
            <a:avLst>
              <a:gd name="adj" fmla="val 148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8" name="Text 6"/>
          <p:cNvSpPr/>
          <p:nvPr/>
        </p:nvSpPr>
        <p:spPr>
          <a:xfrm>
            <a:off x="6766560" y="1554480"/>
            <a:ext cx="4709160" cy="365760"/>
          </a:xfrm>
          <a:prstGeom prst="rect">
            <a:avLst/>
          </a:prstGeom>
          <a:noFill/>
          <a:ln/>
        </p:spPr>
        <p:txBody>
          <a:bodyPr wrap="square" lIns="0" tIns="0" rIns="0" bIns="0" rtlCol="0" anchor="ctr"/>
          <a:lstStyle/>
          <a:p>
            <a:pPr marL="0" indent="0">
              <a:buNone/>
            </a:pPr>
            <a:r>
              <a:rPr lang="en-US" sz="1400" b="1" dirty="0">
                <a:solidFill>
                  <a:srgbClr val="213C4E"/>
                </a:solidFill>
                <a:latin typeface="Cambria" pitchFamily="34" charset="0"/>
                <a:ea typeface="Cambria" pitchFamily="34" charset="-122"/>
                <a:cs typeface="Cambria" pitchFamily="34" charset="-120"/>
              </a:rPr>
              <a:t>Converting between units</a:t>
            </a:r>
            <a:endParaRPr lang="en-US" sz="14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766560" y="1920240"/>
          <a:ext cx="4709160" cy="3200400"/>
        </p:xfrm>
        <a:graphic>
          <a:graphicData uri="http://schemas.openxmlformats.org/drawingml/2006/table">
            <a:tbl>
              <a:tblPr/>
              <a:tblGrid>
                <a:gridCol w="1371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40005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Species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Formula</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1 ppbv →</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00050">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Benzene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C6H6</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6 ppbC ≈ 3.19 µg/m³</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0050">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Toluene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C7H8</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7 ppbC ≈ 3.77 µg/m³</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00050">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Ethylbenzene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C8H10</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8 ppbC ≈ 4.34 µg/m³</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0050">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m/p-Xylene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C8H10</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8 ppbC ≈ 4.34 µg/m³</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00050">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1,3-Butadiene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C4H6</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4 ppbC ≈ 2.21 µg/m³</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0050">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Ethane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C2H6</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2 ppbC ≈ 1.23 µg/m³</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00050">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n-Hexane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C6H14</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6 ppbC ≈ 3.52 µg/m³</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0" name="Text 7"/>
          <p:cNvSpPr/>
          <p:nvPr/>
        </p:nvSpPr>
        <p:spPr>
          <a:xfrm>
            <a:off x="6766560" y="5257800"/>
            <a:ext cx="4709160" cy="960120"/>
          </a:xfrm>
          <a:prstGeom prst="rect">
            <a:avLst/>
          </a:prstGeom>
          <a:noFill/>
          <a:ln/>
        </p:spPr>
        <p:txBody>
          <a:bodyPr wrap="square" lIns="0" tIns="0" rIns="0" bIns="0" rtlCol="0" anchor="t"/>
          <a:lstStyle/>
          <a:p>
            <a:pPr marL="0" indent="0">
              <a:buNone/>
            </a:pPr>
            <a:r>
              <a:rPr lang="en-US" sz="1000" b="1" dirty="0">
                <a:solidFill>
                  <a:srgbClr val="333333"/>
                </a:solidFill>
                <a:latin typeface="Calibri" pitchFamily="34" charset="0"/>
                <a:ea typeface="Calibri" pitchFamily="34" charset="-122"/>
                <a:cs typeface="Calibri" pitchFamily="34" charset="-120"/>
              </a:rPr>
              <a:t>µg/m³ conversion at 25 °C, 1 atm:
</a:t>
            </a:r>
            <a:r>
              <a:rPr lang="en-US" sz="1000" dirty="0">
                <a:solidFill>
                  <a:srgbClr val="213C4E"/>
                </a:solidFill>
                <a:latin typeface="Courier New" pitchFamily="34" charset="0"/>
                <a:ea typeface="Courier New" pitchFamily="34" charset="-122"/>
                <a:cs typeface="Courier New" pitchFamily="34" charset="-120"/>
              </a:rPr>
              <a:t>µg/m³ = ppbv × MW / 24.45</a:t>
            </a:r>
            <a:endParaRPr lang="en-US" sz="1000" dirty="0"/>
          </a:p>
        </p:txBody>
      </p:sp>
      <p:sp>
        <p:nvSpPr>
          <p:cNvPr id="11"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2"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49 / 60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SOURCES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Coastal Bend VOC sources — Ship Channel + Eagle Ford proximity</a:t>
            </a:r>
            <a:endParaRPr lang="en-US" sz="3000" dirty="0"/>
          </a:p>
        </p:txBody>
      </p:sp>
      <p:sp>
        <p:nvSpPr>
          <p:cNvPr id="4" name="Shape 2"/>
          <p:cNvSpPr/>
          <p:nvPr/>
        </p:nvSpPr>
        <p:spPr>
          <a:xfrm>
            <a:off x="54864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365760" cy="365760"/>
          </a:xfrm>
          <a:prstGeom prst="rect">
            <a:avLst/>
          </a:prstGeom>
        </p:spPr>
      </p:pic>
      <p:sp>
        <p:nvSpPr>
          <p:cNvPr id="6" name="Text 3"/>
          <p:cNvSpPr/>
          <p:nvPr/>
        </p:nvSpPr>
        <p:spPr>
          <a:xfrm>
            <a:off x="123444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Corpus Christi Ship Channel refineries</a:t>
            </a:r>
            <a:endParaRPr lang="en-US" sz="1200" dirty="0"/>
          </a:p>
        </p:txBody>
      </p:sp>
      <p:sp>
        <p:nvSpPr>
          <p:cNvPr id="7" name="Text 4"/>
          <p:cNvSpPr/>
          <p:nvPr/>
        </p:nvSpPr>
        <p:spPr>
          <a:xfrm>
            <a:off x="73152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Six major refineries in Nueces County (Citgo East + West, Flint Hills East + West, Valero, CC Refining) release fugitive BTEX + olefins + paraffins. Fenceline benzene monitors (per 2015 NESHAP Subpart CC) provide independent QC on VOC emissions.</a:t>
            </a:r>
            <a:endParaRPr lang="en-US" sz="950" dirty="0"/>
          </a:p>
        </p:txBody>
      </p:sp>
      <p:sp>
        <p:nvSpPr>
          <p:cNvPr id="8" name="Shape 5"/>
          <p:cNvSpPr/>
          <p:nvPr/>
        </p:nvSpPr>
        <p:spPr>
          <a:xfrm>
            <a:off x="448056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63440" y="1691640"/>
            <a:ext cx="365760" cy="365760"/>
          </a:xfrm>
          <a:prstGeom prst="rect">
            <a:avLst/>
          </a:prstGeom>
        </p:spPr>
      </p:pic>
      <p:sp>
        <p:nvSpPr>
          <p:cNvPr id="10" name="Text 6"/>
          <p:cNvSpPr/>
          <p:nvPr/>
        </p:nvSpPr>
        <p:spPr>
          <a:xfrm>
            <a:off x="516636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Port of Corpus Christi</a:t>
            </a:r>
            <a:endParaRPr lang="en-US" sz="1200" dirty="0"/>
          </a:p>
        </p:txBody>
      </p:sp>
      <p:sp>
        <p:nvSpPr>
          <p:cNvPr id="11" name="Text 7"/>
          <p:cNvSpPr/>
          <p:nvPr/>
        </p:nvSpPr>
        <p:spPr>
          <a:xfrm>
            <a:off x="466344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Largest US crude oil export port. Bulk transfer of petroleum + condensate; marine tanker loading vapor losses; diesel bunker combustion. VOC signature is complex — mixed crude, refined products, condensate all pass through.</a:t>
            </a:r>
            <a:endParaRPr lang="en-US" sz="950" dirty="0"/>
          </a:p>
        </p:txBody>
      </p:sp>
      <p:sp>
        <p:nvSpPr>
          <p:cNvPr id="12" name="Shape 8"/>
          <p:cNvSpPr/>
          <p:nvPr/>
        </p:nvSpPr>
        <p:spPr>
          <a:xfrm>
            <a:off x="841248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595360" y="1691640"/>
            <a:ext cx="365760" cy="365760"/>
          </a:xfrm>
          <a:prstGeom prst="rect">
            <a:avLst/>
          </a:prstGeom>
        </p:spPr>
      </p:pic>
      <p:sp>
        <p:nvSpPr>
          <p:cNvPr id="14" name="Text 9"/>
          <p:cNvSpPr/>
          <p:nvPr/>
        </p:nvSpPr>
        <p:spPr>
          <a:xfrm>
            <a:off x="909828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Eagle Ford Shale proximity</a:t>
            </a:r>
            <a:endParaRPr lang="en-US" sz="1200" dirty="0"/>
          </a:p>
        </p:txBody>
      </p:sp>
      <p:sp>
        <p:nvSpPr>
          <p:cNvPr id="15" name="Text 10"/>
          <p:cNvSpPr/>
          <p:nvPr/>
        </p:nvSpPr>
        <p:spPr>
          <a:xfrm>
            <a:off x="859536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Nueces isn't in Eagle Ford proper but is DOWNWIND of Karnes / Wilson / Atascosa production. Long-range VOC transport from flaring, compressor stations, and diesel fleets contributes background hydrocarbon load.</a:t>
            </a:r>
            <a:endParaRPr lang="en-US" sz="950" dirty="0"/>
          </a:p>
        </p:txBody>
      </p:sp>
      <p:sp>
        <p:nvSpPr>
          <p:cNvPr id="16" name="Shape 11"/>
          <p:cNvSpPr/>
          <p:nvPr/>
        </p:nvSpPr>
        <p:spPr>
          <a:xfrm>
            <a:off x="54864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4206240"/>
            <a:ext cx="365760" cy="365760"/>
          </a:xfrm>
          <a:prstGeom prst="rect">
            <a:avLst/>
          </a:prstGeom>
        </p:spPr>
      </p:pic>
      <p:sp>
        <p:nvSpPr>
          <p:cNvPr id="18" name="Text 12"/>
          <p:cNvSpPr/>
          <p:nvPr/>
        </p:nvSpPr>
        <p:spPr>
          <a:xfrm>
            <a:off x="123444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Mobile sources</a:t>
            </a:r>
            <a:endParaRPr lang="en-US" sz="1200" dirty="0"/>
          </a:p>
        </p:txBody>
      </p:sp>
      <p:sp>
        <p:nvSpPr>
          <p:cNvPr id="19" name="Text 13"/>
          <p:cNvSpPr/>
          <p:nvPr/>
        </p:nvSpPr>
        <p:spPr>
          <a:xfrm>
            <a:off x="73152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I-37, US 77, US 181 diesel + gasoline VOC emissions. Mobile-source benzene is roughly 50-60% of national ambient benzene per EPA — declining under MSAT2 (0.62 vol% gasoline benzene cap since 2011).</a:t>
            </a:r>
            <a:endParaRPr lang="en-US" sz="950" dirty="0"/>
          </a:p>
        </p:txBody>
      </p:sp>
      <p:sp>
        <p:nvSpPr>
          <p:cNvPr id="20" name="Shape 14"/>
          <p:cNvSpPr/>
          <p:nvPr/>
        </p:nvSpPr>
        <p:spPr>
          <a:xfrm>
            <a:off x="448056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663440" y="4206240"/>
            <a:ext cx="365760" cy="365760"/>
          </a:xfrm>
          <a:prstGeom prst="rect">
            <a:avLst/>
          </a:prstGeom>
        </p:spPr>
      </p:pic>
      <p:sp>
        <p:nvSpPr>
          <p:cNvPr id="22" name="Text 15"/>
          <p:cNvSpPr/>
          <p:nvPr/>
        </p:nvSpPr>
        <p:spPr>
          <a:xfrm>
            <a:off x="516636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Biogenic isoprene + monoterpenes</a:t>
            </a:r>
            <a:endParaRPr lang="en-US" sz="1200" dirty="0"/>
          </a:p>
        </p:txBody>
      </p:sp>
      <p:sp>
        <p:nvSpPr>
          <p:cNvPr id="23" name="Text 16"/>
          <p:cNvSpPr/>
          <p:nvPr/>
        </p:nvSpPr>
        <p:spPr>
          <a:xfrm>
            <a:off x="466344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South Texas forests, brush, and agricultural vegetation emit large amounts of isoprene in summer daytime (temperature + light driven). Isoprene 43243 dominates ambient VOC totals during midday, especially at background sites.</a:t>
            </a:r>
            <a:endParaRPr lang="en-US" sz="950" dirty="0"/>
          </a:p>
        </p:txBody>
      </p:sp>
      <p:sp>
        <p:nvSpPr>
          <p:cNvPr id="24" name="Shape 17"/>
          <p:cNvSpPr/>
          <p:nvPr/>
        </p:nvSpPr>
        <p:spPr>
          <a:xfrm>
            <a:off x="841248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8595360" y="4206240"/>
            <a:ext cx="365760" cy="365760"/>
          </a:xfrm>
          <a:prstGeom prst="rect">
            <a:avLst/>
          </a:prstGeom>
        </p:spPr>
      </p:pic>
      <p:sp>
        <p:nvSpPr>
          <p:cNvPr id="26" name="Text 18"/>
          <p:cNvSpPr/>
          <p:nvPr/>
        </p:nvSpPr>
        <p:spPr>
          <a:xfrm>
            <a:off x="909828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Trans-boundary + marine</a:t>
            </a:r>
            <a:endParaRPr lang="en-US" sz="1200" dirty="0"/>
          </a:p>
        </p:txBody>
      </p:sp>
      <p:sp>
        <p:nvSpPr>
          <p:cNvPr id="27" name="Text 19"/>
          <p:cNvSpPr/>
          <p:nvPr/>
        </p:nvSpPr>
        <p:spPr>
          <a:xfrm>
            <a:off x="859536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Cross-Gulf transport can carry biomass burning VOCs from Mexican agricultural fires. Marine sources contribute DMS-derived sulfate (precursor to secondary aerosol) but negligible primary VOC.</a:t>
            </a:r>
            <a:endParaRPr lang="en-US" sz="95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50 / 60</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OUR DATA</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Coastal Bend VOCs in our v0.4.0 pipeline</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3931920">
                  <a:extLst>
                    <a:ext uri="{9D8B030D-6E8A-4147-A177-3AD203B41FA5}">
                      <a16:colId xmlns:a16="http://schemas.microsoft.com/office/drawing/2014/main" val="20004"/>
                    </a:ext>
                  </a:extLst>
                </a:gridCol>
              </a:tblGrid>
              <a:tr h="54864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Site (AQSID)</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County</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Sampling</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54864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Palm Ave (483550083)</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Nueces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1-hr AutoGC</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~3.3 M</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PAMS-target hourly; the workhorse dataset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Hillcrest (483550029)</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Nueces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 canister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~30 k</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Ship Channel-adjacent</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54864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Dona Park (483550032)</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Nueces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 canister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~30 k</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Residential + industrial</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CC Holly Rd (483550034)</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Nueces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24-hr canister</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~30 k</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Historically Hispanic residential</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548640">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County-level Nueces VOC files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Nueces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Various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aggregated</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33333"/>
                          </a:solidFill>
                          <a:latin typeface="Calibri" pitchFamily="34" charset="0"/>
                          <a:ea typeface="Calibri" pitchFamily="34" charset="-122"/>
                          <a:cs typeface="Calibri" pitchFamily="34" charset="-120"/>
                        </a:rPr>
                        <a:t>TCEQ region-wide roll-up</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4892040"/>
            <a:ext cx="5486400" cy="1417320"/>
          </a:xfrm>
          <a:prstGeom prst="roundRect">
            <a:avLst>
              <a:gd name="adj" fmla="val 516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6" name="Text 3"/>
          <p:cNvSpPr/>
          <p:nvPr/>
        </p:nvSpPr>
        <p:spPr>
          <a:xfrm>
            <a:off x="777240" y="5029200"/>
            <a:ext cx="5029200" cy="365760"/>
          </a:xfrm>
          <a:prstGeom prst="rect">
            <a:avLst/>
          </a:prstGeom>
          <a:noFill/>
          <a:ln/>
        </p:spPr>
        <p:txBody>
          <a:bodyPr wrap="square" lIns="0" tIns="0" rIns="0" bIns="0" rtlCol="0" anchor="ctr"/>
          <a:lstStyle/>
          <a:p>
            <a:pPr marL="0" indent="0">
              <a:buNone/>
            </a:pPr>
            <a:r>
              <a:rPr lang="en-US" sz="1300" b="1" dirty="0">
                <a:solidFill>
                  <a:srgbClr val="C2410C"/>
                </a:solidFill>
                <a:latin typeface="Cambria" pitchFamily="34" charset="0"/>
                <a:ea typeface="Cambria" pitchFamily="34" charset="-122"/>
                <a:cs typeface="Cambria" pitchFamily="34" charset="-120"/>
              </a:rPr>
              <a:t>The 1-hr / 24-hr apples-to-oranges caveat</a:t>
            </a:r>
            <a:endParaRPr lang="en-US" sz="1300" dirty="0"/>
          </a:p>
        </p:txBody>
      </p:sp>
      <p:sp>
        <p:nvSpPr>
          <p:cNvPr id="7" name="Text 4"/>
          <p:cNvSpPr/>
          <p:nvPr/>
        </p:nvSpPr>
        <p:spPr>
          <a:xfrm>
            <a:off x="777240" y="5394960"/>
            <a:ext cx="5029200" cy="86868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CC Palm's 1-hr AutoGC captures diurnal variation (morning rush hour peaks, midday isoprene surges, refinery plume events). 24-hr sites average that away — comparing means or medians directly is misleading.</a:t>
            </a:r>
            <a:endParaRPr lang="en-US" sz="1050" dirty="0"/>
          </a:p>
        </p:txBody>
      </p:sp>
      <p:sp>
        <p:nvSpPr>
          <p:cNvPr id="8" name="Shape 5"/>
          <p:cNvSpPr/>
          <p:nvPr/>
        </p:nvSpPr>
        <p:spPr>
          <a:xfrm>
            <a:off x="6172200" y="4892040"/>
            <a:ext cx="5486400" cy="1417320"/>
          </a:xfrm>
          <a:prstGeom prst="roundRect">
            <a:avLst>
              <a:gd name="adj" fmla="val 5161"/>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sp>
        <p:nvSpPr>
          <p:cNvPr id="9" name="Text 6"/>
          <p:cNvSpPr/>
          <p:nvPr/>
        </p:nvSpPr>
        <p:spPr>
          <a:xfrm>
            <a:off x="6400800" y="5029200"/>
            <a:ext cx="5029200" cy="365760"/>
          </a:xfrm>
          <a:prstGeom prst="rect">
            <a:avLst/>
          </a:prstGeom>
          <a:noFill/>
          <a:ln/>
        </p:spPr>
        <p:txBody>
          <a:bodyPr wrap="square" lIns="0" tIns="0" rIns="0" bIns="0" rtlCol="0" anchor="ctr"/>
          <a:lstStyle/>
          <a:p>
            <a:pPr marL="0" indent="0">
              <a:buNone/>
            </a:pPr>
            <a:r>
              <a:rPr lang="en-US" sz="1300" b="1" dirty="0">
                <a:solidFill>
                  <a:srgbClr val="0F766E"/>
                </a:solidFill>
                <a:latin typeface="Cambria" pitchFamily="34" charset="0"/>
                <a:ea typeface="Cambria" pitchFamily="34" charset="-122"/>
                <a:cs typeface="Cambria" pitchFamily="34" charset="-120"/>
              </a:rPr>
              <a:t>Analytical opportunity: source fingerprinting</a:t>
            </a:r>
            <a:endParaRPr lang="en-US" sz="1300" dirty="0"/>
          </a:p>
        </p:txBody>
      </p:sp>
      <p:sp>
        <p:nvSpPr>
          <p:cNvPr id="10" name="Text 7"/>
          <p:cNvSpPr/>
          <p:nvPr/>
        </p:nvSpPr>
        <p:spPr>
          <a:xfrm>
            <a:off x="6400800" y="5394960"/>
            <a:ext cx="5029200" cy="86868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The rich speciation at CC Palm supports source apportionment via PMF or CMB. Signature ratios: benzene/toluene (mobile vs refinery), isoprene fraction (biogenic marker), i-pentane/n-pentane (fuel evaporation), C2H2/CO (combustion age).</a:t>
            </a:r>
            <a:endParaRPr lang="en-US" sz="1050" dirty="0"/>
          </a:p>
        </p:txBody>
      </p:sp>
      <p:sp>
        <p:nvSpPr>
          <p:cNvPr id="11"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12" name="Text 9"/>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51 / 60</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VOCS · WEATHER</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VOC – weather + diurnal relationships</a:t>
            </a:r>
            <a:endParaRPr lang="en-US" sz="3000" dirty="0"/>
          </a:p>
        </p:txBody>
      </p:sp>
      <p:sp>
        <p:nvSpPr>
          <p:cNvPr id="4" name="Shape 2"/>
          <p:cNvSpPr/>
          <p:nvPr/>
        </p:nvSpPr>
        <p:spPr>
          <a:xfrm>
            <a:off x="54864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365760" cy="365760"/>
          </a:xfrm>
          <a:prstGeom prst="rect">
            <a:avLst/>
          </a:prstGeom>
        </p:spPr>
      </p:pic>
      <p:sp>
        <p:nvSpPr>
          <p:cNvPr id="6" name="Text 3"/>
          <p:cNvSpPr/>
          <p:nvPr/>
        </p:nvSpPr>
        <p:spPr>
          <a:xfrm>
            <a:off x="123444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Temperature — dual effect</a:t>
            </a:r>
            <a:endParaRPr lang="en-US" sz="1200" dirty="0"/>
          </a:p>
        </p:txBody>
      </p:sp>
      <p:sp>
        <p:nvSpPr>
          <p:cNvPr id="7" name="Text 4"/>
          <p:cNvSpPr/>
          <p:nvPr/>
        </p:nvSpPr>
        <p:spPr>
          <a:xfrm>
            <a:off x="73152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Higher T increases biogenic isoprene emissions (exponentially) AND evaporative fuel losses. Also accelerates OH oxidation, shortening VOC lifetime — net diurnal minimum at midday, peak in early morning.</a:t>
            </a:r>
            <a:endParaRPr lang="en-US" sz="950" dirty="0"/>
          </a:p>
        </p:txBody>
      </p:sp>
      <p:sp>
        <p:nvSpPr>
          <p:cNvPr id="8" name="Shape 5"/>
          <p:cNvSpPr/>
          <p:nvPr/>
        </p:nvSpPr>
        <p:spPr>
          <a:xfrm>
            <a:off x="448056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63440" y="1691640"/>
            <a:ext cx="365760" cy="365760"/>
          </a:xfrm>
          <a:prstGeom prst="rect">
            <a:avLst/>
          </a:prstGeom>
        </p:spPr>
      </p:pic>
      <p:sp>
        <p:nvSpPr>
          <p:cNvPr id="10" name="Text 6"/>
          <p:cNvSpPr/>
          <p:nvPr/>
        </p:nvSpPr>
        <p:spPr>
          <a:xfrm>
            <a:off x="516636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Wind direction (critical)</a:t>
            </a:r>
            <a:endParaRPr lang="en-US" sz="1200" dirty="0"/>
          </a:p>
        </p:txBody>
      </p:sp>
      <p:sp>
        <p:nvSpPr>
          <p:cNvPr id="11" name="Text 7"/>
          <p:cNvSpPr/>
          <p:nvPr/>
        </p:nvSpPr>
        <p:spPr>
          <a:xfrm>
            <a:off x="466344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CC Palm's ESE sector = Ship Channel plume; NW = urban Corpus; NE = trans-Karnes-Eagle-Ford. Conditional bivariate probability functions (CBPF) on VOC species by wind sector = source-attribution workhorse.</a:t>
            </a:r>
            <a:endParaRPr lang="en-US" sz="950" dirty="0"/>
          </a:p>
        </p:txBody>
      </p:sp>
      <p:sp>
        <p:nvSpPr>
          <p:cNvPr id="12" name="Shape 8"/>
          <p:cNvSpPr/>
          <p:nvPr/>
        </p:nvSpPr>
        <p:spPr>
          <a:xfrm>
            <a:off x="841248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595360" y="1691640"/>
            <a:ext cx="365760" cy="365760"/>
          </a:xfrm>
          <a:prstGeom prst="rect">
            <a:avLst/>
          </a:prstGeom>
        </p:spPr>
      </p:pic>
      <p:sp>
        <p:nvSpPr>
          <p:cNvPr id="14" name="Text 9"/>
          <p:cNvSpPr/>
          <p:nvPr/>
        </p:nvSpPr>
        <p:spPr>
          <a:xfrm>
            <a:off x="909828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Boundary layer height</a:t>
            </a:r>
            <a:endParaRPr lang="en-US" sz="1200" dirty="0"/>
          </a:p>
        </p:txBody>
      </p:sp>
      <p:sp>
        <p:nvSpPr>
          <p:cNvPr id="15" name="Text 10"/>
          <p:cNvSpPr/>
          <p:nvPr/>
        </p:nvSpPr>
        <p:spPr>
          <a:xfrm>
            <a:off x="859536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Nocturnal shallow BL traps VOCs → morning peaks. Daytime convective BL (1500–2500 m) dilutes. Sea breeze creates internal structure that can produce localized plume enhancement inland.</a:t>
            </a:r>
            <a:endParaRPr lang="en-US" sz="950" dirty="0"/>
          </a:p>
        </p:txBody>
      </p:sp>
      <p:sp>
        <p:nvSpPr>
          <p:cNvPr id="16" name="Shape 11"/>
          <p:cNvSpPr/>
          <p:nvPr/>
        </p:nvSpPr>
        <p:spPr>
          <a:xfrm>
            <a:off x="54864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4206240"/>
            <a:ext cx="365760" cy="365760"/>
          </a:xfrm>
          <a:prstGeom prst="rect">
            <a:avLst/>
          </a:prstGeom>
        </p:spPr>
      </p:pic>
      <p:sp>
        <p:nvSpPr>
          <p:cNvPr id="18" name="Text 12"/>
          <p:cNvSpPr/>
          <p:nvPr/>
        </p:nvSpPr>
        <p:spPr>
          <a:xfrm>
            <a:off x="123444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Photolysis + OH reactivity</a:t>
            </a:r>
            <a:endParaRPr lang="en-US" sz="1200" dirty="0"/>
          </a:p>
        </p:txBody>
      </p:sp>
      <p:sp>
        <p:nvSpPr>
          <p:cNvPr id="19" name="Text 13"/>
          <p:cNvSpPr/>
          <p:nvPr/>
        </p:nvSpPr>
        <p:spPr>
          <a:xfrm>
            <a:off x="73152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Solar-driven OH radical concentration peaks midday. Reactive VOCs (alkenes, aromatics) show characteristic midday minima; unreactive species (ethane, propane) don't. Ratio of reactive to unreactive → aged vs fresh emission signature.</a:t>
            </a:r>
            <a:endParaRPr lang="en-US" sz="950" dirty="0"/>
          </a:p>
        </p:txBody>
      </p:sp>
      <p:sp>
        <p:nvSpPr>
          <p:cNvPr id="20" name="Shape 14"/>
          <p:cNvSpPr/>
          <p:nvPr/>
        </p:nvSpPr>
        <p:spPr>
          <a:xfrm>
            <a:off x="448056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663440" y="4206240"/>
            <a:ext cx="365760" cy="365760"/>
          </a:xfrm>
          <a:prstGeom prst="rect">
            <a:avLst/>
          </a:prstGeom>
        </p:spPr>
      </p:pic>
      <p:sp>
        <p:nvSpPr>
          <p:cNvPr id="22" name="Text 15"/>
          <p:cNvSpPr/>
          <p:nvPr/>
        </p:nvSpPr>
        <p:spPr>
          <a:xfrm>
            <a:off x="516636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Humidity</a:t>
            </a:r>
            <a:endParaRPr lang="en-US" sz="1200" dirty="0"/>
          </a:p>
        </p:txBody>
      </p:sp>
      <p:sp>
        <p:nvSpPr>
          <p:cNvPr id="23" name="Text 16"/>
          <p:cNvSpPr/>
          <p:nvPr/>
        </p:nvSpPr>
        <p:spPr>
          <a:xfrm>
            <a:off x="466344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High RH accelerates heterogeneous aqueous-phase oxidation, particularly for aldehydes and other polar VOCs. Less critical than for particulate but relevant for SOA formation from VOC precursors.</a:t>
            </a:r>
            <a:endParaRPr lang="en-US" sz="950" dirty="0"/>
          </a:p>
        </p:txBody>
      </p:sp>
      <p:sp>
        <p:nvSpPr>
          <p:cNvPr id="24" name="Shape 17"/>
          <p:cNvSpPr/>
          <p:nvPr/>
        </p:nvSpPr>
        <p:spPr>
          <a:xfrm>
            <a:off x="841248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8595360" y="4206240"/>
            <a:ext cx="365760" cy="365760"/>
          </a:xfrm>
          <a:prstGeom prst="rect">
            <a:avLst/>
          </a:prstGeom>
        </p:spPr>
      </p:pic>
      <p:sp>
        <p:nvSpPr>
          <p:cNvPr id="26" name="Text 18"/>
          <p:cNvSpPr/>
          <p:nvPr/>
        </p:nvSpPr>
        <p:spPr>
          <a:xfrm>
            <a:off x="909828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Sea-breeze cycle</a:t>
            </a:r>
            <a:endParaRPr lang="en-US" sz="1200" dirty="0"/>
          </a:p>
        </p:txBody>
      </p:sp>
      <p:sp>
        <p:nvSpPr>
          <p:cNvPr id="27" name="Text 19"/>
          <p:cNvSpPr/>
          <p:nvPr/>
        </p:nvSpPr>
        <p:spPr>
          <a:xfrm>
            <a:off x="859536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As with PM2.5, dominant mesoscale feature. Morning offshore land breeze carries Ship Channel VOCs offshore; afternoon onshore sea breeze recirculates them back over Corpus. This drives the characteristic double-peak diurnal at some sites.</a:t>
            </a:r>
            <a:endParaRPr lang="en-US" sz="95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52 / 60</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62A38"/>
        </a:solidFill>
        <a:effectLst/>
      </p:bgPr>
    </p:bg>
    <p:spTree>
      <p:nvGrpSpPr>
        <p:cNvPr id="1" name=""/>
        <p:cNvGrpSpPr/>
        <p:nvPr/>
      </p:nvGrpSpPr>
      <p:grpSpPr>
        <a:xfrm>
          <a:off x="0" y="0"/>
          <a:ext cx="0" cy="0"/>
          <a:chOff x="0" y="0"/>
          <a:chExt cx="0" cy="0"/>
        </a:xfrm>
      </p:grpSpPr>
      <p:sp>
        <p:nvSpPr>
          <p:cNvPr id="2" name="Text 0"/>
          <p:cNvSpPr/>
          <p:nvPr/>
        </p:nvSpPr>
        <p:spPr>
          <a:xfrm>
            <a:off x="548640" y="2743200"/>
            <a:ext cx="10972800" cy="365760"/>
          </a:xfrm>
          <a:prstGeom prst="rect">
            <a:avLst/>
          </a:prstGeom>
          <a:noFill/>
          <a:ln/>
        </p:spPr>
        <p:txBody>
          <a:bodyPr wrap="square" lIns="0" tIns="0" rIns="0" bIns="0" rtlCol="0" anchor="ctr"/>
          <a:lstStyle/>
          <a:p>
            <a:pPr marL="0" indent="0">
              <a:buNone/>
            </a:pPr>
            <a:r>
              <a:rPr lang="en-US" sz="1200" b="1" kern="0" spc="400" dirty="0">
                <a:solidFill>
                  <a:srgbClr val="C2410C"/>
                </a:solidFill>
                <a:latin typeface="Calibri" pitchFamily="34" charset="0"/>
                <a:ea typeface="Calibri" pitchFamily="34" charset="-122"/>
                <a:cs typeface="Calibri" pitchFamily="34" charset="-120"/>
              </a:rPr>
              <a:t>SECTION 6</a:t>
            </a:r>
            <a:endParaRPr lang="en-US" sz="1200" dirty="0"/>
          </a:p>
        </p:txBody>
      </p:sp>
      <p:sp>
        <p:nvSpPr>
          <p:cNvPr id="3" name="Text 1"/>
          <p:cNvSpPr/>
          <p:nvPr/>
        </p:nvSpPr>
        <p:spPr>
          <a:xfrm>
            <a:off x="548640" y="3108960"/>
            <a:ext cx="10972800" cy="14630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Synthesis &amp; references</a:t>
            </a:r>
            <a:endParaRPr lang="en-US" sz="5400" dirty="0"/>
          </a:p>
        </p:txBody>
      </p:sp>
      <p:sp>
        <p:nvSpPr>
          <p:cNvPr id="4" name="Text 2"/>
          <p:cNvSpPr/>
          <p:nvPr/>
        </p:nvSpPr>
        <p:spPr>
          <a:xfrm>
            <a:off x="548640" y="4480560"/>
            <a:ext cx="10972800" cy="457200"/>
          </a:xfrm>
          <a:prstGeom prst="rect">
            <a:avLst/>
          </a:prstGeom>
          <a:noFill/>
          <a:ln/>
        </p:spPr>
        <p:txBody>
          <a:bodyPr wrap="square" lIns="0" tIns="0" rIns="0" bIns="0" rtlCol="0" anchor="ctr"/>
          <a:lstStyle/>
          <a:p>
            <a:pPr marL="0" indent="0">
              <a:buNone/>
            </a:pPr>
            <a:r>
              <a:rPr lang="en-US" sz="1600" i="1" dirty="0">
                <a:solidFill>
                  <a:srgbClr val="AABBC8"/>
                </a:solidFill>
                <a:latin typeface="Calibri" pitchFamily="34" charset="0"/>
                <a:ea typeface="Calibri" pitchFamily="34" charset="-122"/>
                <a:cs typeface="Calibri" pitchFamily="34" charset="-120"/>
              </a:rPr>
              <a:t>Cross-pollutant comparison · Aidan's next steps · Bibliography</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SYNTHESIS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Cross-pollutant comparison — at a glance</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937757"/>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448887">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PM2.5</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PM10</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VOCs</a:t>
                      </a:r>
                      <a:endParaRPr lang="en-US" sz="10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213C4E"/>
                    </a:solidFill>
                  </a:tcPr>
                </a:tc>
                <a:extLst>
                  <a:ext uri="{0D108BD9-81ED-4DB2-BD59-A6C34878D82A}">
                    <a16:rowId xmlns:a16="http://schemas.microsoft.com/office/drawing/2014/main" val="10000"/>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Dominant sources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Refinery + diesel + secondary (SO4/NO3/SOA) + sea salt</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Sea salt + Saharan dust + fugitive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Refineries + mobile + biogenic + Eagle Ford</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NAAQS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9 µg/m³ ann (2024) + 35 µg/m³ 24-hr p98</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150 µg/m³ 24-hr (annual REVOKED 2006)</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None as a class; HAP-specific via NESHAP</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2"/>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FRM chemistry</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Gravimetric filter (App. L)</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Gravimetric filter (App. J)</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Canister GC/MS (TO-15 / TO-15A)</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Dominant FEM</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BAM 1020, TEOM 1405-FDMS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BAM 1020</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AutoGC (dual-FID PAMS)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4"/>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AQS parameter codes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88101 (design-value), 88502 (continuous)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81102 (STP), 85101 (LC)</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43xxx + 45xxx (57 species)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Units in our pipeline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µg/m³ LC</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µg/m³ STP</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ppbC</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6"/>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Coastal Bend rows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~450k (5 sites hourly)</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sparse — 4 sites + Palo Alto 24-hr</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~3.4M (Palm + 3× 24-hr)</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2024 exceedances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Holly + Dona Park + Port Isabel (annual)</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Fenceline benzene monitoring active</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08"/>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Health signal</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Cardiovascular + respiratory + neuro + prenatal</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Respiratory + biological cargo</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Benzene + 1,3-butadiene cancer risk</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48887">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Key weather driver</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Sea breeze, RH (BAM bias), inversions</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Wind speed (dust), precip scavenging</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tc>
                  <a:txBody>
                    <a:bodyPr/>
                    <a:lstStyle/>
                    <a:p>
                      <a:pPr marL="0" indent="0" algn="l">
                        <a:buNone/>
                      </a:pPr>
                      <a:r>
                        <a:rPr lang="en-US" sz="900" dirty="0">
                          <a:solidFill>
                            <a:srgbClr val="333333"/>
                          </a:solidFill>
                          <a:latin typeface="Calibri" pitchFamily="34" charset="0"/>
                          <a:ea typeface="Calibri" pitchFamily="34" charset="-122"/>
                          <a:cs typeface="Calibri" pitchFamily="34" charset="-120"/>
                        </a:rPr>
                        <a:t>T (biogenic + evap), photochemistry</a:t>
                      </a:r>
                      <a:endParaRPr lang="en-US" sz="90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5F7F9"/>
                    </a:solidFill>
                  </a:tcPr>
                </a:tc>
                <a:extLst>
                  <a:ext uri="{0D108BD9-81ED-4DB2-BD59-A6C34878D82A}">
                    <a16:rowId xmlns:a16="http://schemas.microsoft.com/office/drawing/2014/main" val="10010"/>
                  </a:ext>
                </a:extLst>
              </a:tr>
            </a:tbl>
          </a:graphicData>
        </a:graphic>
      </p:graphicFrame>
      <p:sp>
        <p:nvSpPr>
          <p:cNvPr id="5" name="Text 2"/>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6" name="Text 3"/>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53 / 60</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NEXT STEPS</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Next steps for Aidan's PM2.5 / PM10 / VOCs work</a:t>
            </a:r>
            <a:endParaRPr lang="en-US" sz="3000" dirty="0"/>
          </a:p>
        </p:txBody>
      </p:sp>
      <p:sp>
        <p:nvSpPr>
          <p:cNvPr id="4" name="Shape 2"/>
          <p:cNvSpPr/>
          <p:nvPr/>
        </p:nvSpPr>
        <p:spPr>
          <a:xfrm>
            <a:off x="54864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1691640"/>
            <a:ext cx="365760" cy="365760"/>
          </a:xfrm>
          <a:prstGeom prst="rect">
            <a:avLst/>
          </a:prstGeom>
        </p:spPr>
      </p:pic>
      <p:sp>
        <p:nvSpPr>
          <p:cNvPr id="6" name="Text 3"/>
          <p:cNvSpPr/>
          <p:nvPr/>
        </p:nvSpPr>
        <p:spPr>
          <a:xfrm>
            <a:off x="123444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1. Method-code audit per site</a:t>
            </a:r>
            <a:endParaRPr lang="en-US" sz="1200" dirty="0"/>
          </a:p>
        </p:txBody>
      </p:sp>
      <p:sp>
        <p:nvSpPr>
          <p:cNvPr id="7" name="Text 4"/>
          <p:cNvSpPr/>
          <p:nvPr/>
        </p:nvSpPr>
        <p:spPr>
          <a:xfrm>
            <a:off x="73152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For each Coastal Bend site x (parameter_code, method_code) tuple, flag AQSIDs whose method_code changes mid-record. Document the transition dates in the methods writeup. Query included in the sensor-evolution slide.</a:t>
            </a:r>
            <a:endParaRPr lang="en-US" sz="950" dirty="0"/>
          </a:p>
        </p:txBody>
      </p:sp>
      <p:sp>
        <p:nvSpPr>
          <p:cNvPr id="8" name="Shape 5"/>
          <p:cNvSpPr/>
          <p:nvPr/>
        </p:nvSpPr>
        <p:spPr>
          <a:xfrm>
            <a:off x="448056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663440" y="1691640"/>
            <a:ext cx="365760" cy="365760"/>
          </a:xfrm>
          <a:prstGeom prst="rect">
            <a:avLst/>
          </a:prstGeom>
        </p:spPr>
      </p:pic>
      <p:sp>
        <p:nvSpPr>
          <p:cNvPr id="10" name="Text 6"/>
          <p:cNvSpPr/>
          <p:nvPr/>
        </p:nvSpPr>
        <p:spPr>
          <a:xfrm>
            <a:off x="516636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2. Separate 88101 vs 88502 for PM2.5</a:t>
            </a:r>
            <a:endParaRPr lang="en-US" sz="1200" dirty="0"/>
          </a:p>
        </p:txBody>
      </p:sp>
      <p:sp>
        <p:nvSpPr>
          <p:cNvPr id="11" name="Text 7"/>
          <p:cNvSpPr/>
          <p:nvPr/>
        </p:nvSpPr>
        <p:spPr>
          <a:xfrm>
            <a:off x="466344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Rebuild PM2.5 design-value analysis using ONLY parameter code 88101 (regulatory subset). Report both 3-yr rolling and single-year design values. Compare to values in aq.naaqs_design_values.</a:t>
            </a:r>
            <a:endParaRPr lang="en-US" sz="950" dirty="0"/>
          </a:p>
        </p:txBody>
      </p:sp>
      <p:sp>
        <p:nvSpPr>
          <p:cNvPr id="12" name="Shape 8"/>
          <p:cNvSpPr/>
          <p:nvPr/>
        </p:nvSpPr>
        <p:spPr>
          <a:xfrm>
            <a:off x="8412480" y="15087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8595360" y="1691640"/>
            <a:ext cx="365760" cy="365760"/>
          </a:xfrm>
          <a:prstGeom prst="rect">
            <a:avLst/>
          </a:prstGeom>
        </p:spPr>
      </p:pic>
      <p:sp>
        <p:nvSpPr>
          <p:cNvPr id="14" name="Text 9"/>
          <p:cNvSpPr/>
          <p:nvPr/>
        </p:nvSpPr>
        <p:spPr>
          <a:xfrm>
            <a:off x="9098280" y="16459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3. Coastal Bend PM10 audit</a:t>
            </a:r>
            <a:endParaRPr lang="en-US" sz="1200" dirty="0"/>
          </a:p>
        </p:txBody>
      </p:sp>
      <p:sp>
        <p:nvSpPr>
          <p:cNvPr id="15" name="Text 10"/>
          <p:cNvSpPr/>
          <p:nvPr/>
        </p:nvSpPr>
        <p:spPr>
          <a:xfrm>
            <a:off x="8595360" y="21945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Query pipeline for actual PM10 site coverage in Nueces + adjacent. Document data availability by year. Flag any Saharan dust event days for potential Exceptional Events exclusion analysis.</a:t>
            </a:r>
            <a:endParaRPr lang="en-US" sz="950" dirty="0"/>
          </a:p>
        </p:txBody>
      </p:sp>
      <p:sp>
        <p:nvSpPr>
          <p:cNvPr id="16" name="Shape 11"/>
          <p:cNvSpPr/>
          <p:nvPr/>
        </p:nvSpPr>
        <p:spPr>
          <a:xfrm>
            <a:off x="54864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31520" y="4206240"/>
            <a:ext cx="365760" cy="365760"/>
          </a:xfrm>
          <a:prstGeom prst="rect">
            <a:avLst/>
          </a:prstGeom>
        </p:spPr>
      </p:pic>
      <p:sp>
        <p:nvSpPr>
          <p:cNvPr id="18" name="Text 12"/>
          <p:cNvSpPr/>
          <p:nvPr/>
        </p:nvSpPr>
        <p:spPr>
          <a:xfrm>
            <a:off x="123444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4. CC Palm VOC exploratory descriptives</a:t>
            </a:r>
            <a:endParaRPr lang="en-US" sz="1200" dirty="0"/>
          </a:p>
        </p:txBody>
      </p:sp>
      <p:sp>
        <p:nvSpPr>
          <p:cNvPr id="19" name="Text 13"/>
          <p:cNvSpPr/>
          <p:nvPr/>
        </p:nvSpPr>
        <p:spPr>
          <a:xfrm>
            <a:off x="73152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3.3M rows × 47 species. Start with monthly medians by species, wind-rose CBPFs for benzene + 1,3-butadiene, and diurnal profiles for reactive vs unreactive species. Isoprene as the biogenic check.</a:t>
            </a:r>
            <a:endParaRPr lang="en-US" sz="950" dirty="0"/>
          </a:p>
        </p:txBody>
      </p:sp>
      <p:sp>
        <p:nvSpPr>
          <p:cNvPr id="20" name="Shape 14"/>
          <p:cNvSpPr/>
          <p:nvPr/>
        </p:nvSpPr>
        <p:spPr>
          <a:xfrm>
            <a:off x="448056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663440" y="4206240"/>
            <a:ext cx="365760" cy="365760"/>
          </a:xfrm>
          <a:prstGeom prst="rect">
            <a:avLst/>
          </a:prstGeom>
        </p:spPr>
      </p:pic>
      <p:sp>
        <p:nvSpPr>
          <p:cNvPr id="22" name="Text 15"/>
          <p:cNvSpPr/>
          <p:nvPr/>
        </p:nvSpPr>
        <p:spPr>
          <a:xfrm>
            <a:off x="516636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5. Weather station pairing for Coastal Bend</a:t>
            </a:r>
            <a:endParaRPr lang="en-US" sz="1200" dirty="0"/>
          </a:p>
        </p:txBody>
      </p:sp>
      <p:sp>
        <p:nvSpPr>
          <p:cNvPr id="23" name="Text 16"/>
          <p:cNvSpPr/>
          <p:nvPr/>
        </p:nvSpPr>
        <p:spPr>
          <a:xfrm>
            <a:off x="466344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Use existing Haversine pairing in aq.site_registry but confirm each pollutant site is paired to a defensible weather station. Sea-breeze proximity matters — a station east of an AQ site sees a different mesoscale regime.</a:t>
            </a:r>
            <a:endParaRPr lang="en-US" sz="950" dirty="0"/>
          </a:p>
        </p:txBody>
      </p:sp>
      <p:sp>
        <p:nvSpPr>
          <p:cNvPr id="24" name="Shape 17"/>
          <p:cNvSpPr/>
          <p:nvPr/>
        </p:nvSpPr>
        <p:spPr>
          <a:xfrm>
            <a:off x="8412480" y="4023360"/>
            <a:ext cx="3566160" cy="2331720"/>
          </a:xfrm>
          <a:prstGeom prst="roundRect">
            <a:avLst>
              <a:gd name="adj" fmla="val 3137"/>
            </a:avLst>
          </a:prstGeom>
          <a:solidFill>
            <a:srgbClr val="F5F7F9"/>
          </a:solidFill>
          <a:ln w="6350">
            <a:solidFill>
              <a:srgbClr val="D9DEE3"/>
            </a:solidFill>
            <a:prstDash val="solid"/>
          </a:ln>
          <a:effectLst>
            <a:outerShdw blurRad="50800" dist="12700" dir="5400000" algn="bl" rotWithShape="0">
              <a:srgbClr val="000000">
                <a:alpha val="6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8595360" y="4206240"/>
            <a:ext cx="365760" cy="365760"/>
          </a:xfrm>
          <a:prstGeom prst="rect">
            <a:avLst/>
          </a:prstGeom>
        </p:spPr>
      </p:pic>
      <p:sp>
        <p:nvSpPr>
          <p:cNvPr id="26" name="Text 18"/>
          <p:cNvSpPr/>
          <p:nvPr/>
        </p:nvSpPr>
        <p:spPr>
          <a:xfrm>
            <a:off x="9098280" y="4160520"/>
            <a:ext cx="2788920" cy="457200"/>
          </a:xfrm>
          <a:prstGeom prst="rect">
            <a:avLst/>
          </a:prstGeom>
          <a:noFill/>
          <a:ln/>
        </p:spPr>
        <p:txBody>
          <a:bodyPr wrap="square" lIns="0" tIns="0" rIns="0" bIns="0" rtlCol="0" anchor="ctr"/>
          <a:lstStyle/>
          <a:p>
            <a:pPr marL="0" indent="0">
              <a:buNone/>
            </a:pPr>
            <a:r>
              <a:rPr lang="en-US" sz="1200" b="1" dirty="0">
                <a:solidFill>
                  <a:srgbClr val="213C4E"/>
                </a:solidFill>
                <a:latin typeface="Cambria" pitchFamily="34" charset="0"/>
                <a:ea typeface="Cambria" pitchFamily="34" charset="-122"/>
                <a:cs typeface="Cambria" pitchFamily="34" charset="-120"/>
              </a:rPr>
              <a:t>6. Draft methods section</a:t>
            </a:r>
            <a:endParaRPr lang="en-US" sz="1200" dirty="0"/>
          </a:p>
        </p:txBody>
      </p:sp>
      <p:sp>
        <p:nvSpPr>
          <p:cNvPr id="27" name="Text 19"/>
          <p:cNvSpPr/>
          <p:nvPr/>
        </p:nvSpPr>
        <p:spPr>
          <a:xfrm>
            <a:off x="8595360" y="4709160"/>
            <a:ext cx="3246120" cy="1508760"/>
          </a:xfrm>
          <a:prstGeom prst="rect">
            <a:avLst/>
          </a:prstGeom>
          <a:noFill/>
          <a:ln/>
        </p:spPr>
        <p:txBody>
          <a:bodyPr wrap="square" lIns="0" tIns="0" rIns="0" bIns="0" rtlCol="0" anchor="t"/>
          <a:lstStyle/>
          <a:p>
            <a:pPr marL="0" indent="0">
              <a:buNone/>
            </a:pPr>
            <a:r>
              <a:rPr lang="en-US" sz="950" dirty="0">
                <a:solidFill>
                  <a:srgbClr val="333333"/>
                </a:solidFill>
                <a:latin typeface="Calibri" pitchFamily="34" charset="0"/>
                <a:ea typeface="Calibri" pitchFamily="34" charset="-122"/>
                <a:cs typeface="Calibri" pitchFamily="34" charset="-120"/>
              </a:rPr>
              <a:t>Working from this deck as source material, draft the methods section explicitly identifying FRM/FEM per site, method code transitions, parameter code subsets used for design values, and unit conversions applied (ozone ppb→ppm, VOC ppbC handling).</a:t>
            </a:r>
            <a:endParaRPr lang="en-US" sz="950" dirty="0"/>
          </a:p>
        </p:txBody>
      </p:sp>
      <p:sp>
        <p:nvSpPr>
          <p:cNvPr id="28" name="Text 2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29" name="Text 21"/>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54 / 60</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REFERENCES · 1/2</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References — foundational literature</a:t>
            </a:r>
            <a:endParaRPr lang="en-US" sz="3000" dirty="0"/>
          </a:p>
        </p:txBody>
      </p:sp>
      <p:sp>
        <p:nvSpPr>
          <p:cNvPr id="4" name="Text 2"/>
          <p:cNvSpPr/>
          <p:nvPr/>
        </p:nvSpPr>
        <p:spPr>
          <a:xfrm>
            <a:off x="548640" y="1417320"/>
            <a:ext cx="11064240" cy="4937760"/>
          </a:xfrm>
          <a:prstGeom prst="rect">
            <a:avLst/>
          </a:prstGeom>
          <a:noFill/>
          <a:ln/>
        </p:spPr>
        <p:txBody>
          <a:bodyPr wrap="square" lIns="0" tIns="0" rIns="0" bIns="0" rtlCol="0" anchor="t"/>
          <a:lstStyle/>
          <a:p>
            <a:pPr marL="0" indent="0">
              <a:spcAft>
                <a:spcPts val="100"/>
              </a:spcAft>
              <a:buNone/>
            </a:pPr>
            <a:r>
              <a:rPr lang="en-US" sz="1200" b="1" dirty="0">
                <a:solidFill>
                  <a:srgbClr val="C2410C"/>
                </a:solidFill>
                <a:latin typeface="Calibri" pitchFamily="34" charset="0"/>
                <a:ea typeface="Calibri" pitchFamily="34" charset="-122"/>
                <a:cs typeface="Calibri" pitchFamily="34" charset="-120"/>
              </a:rPr>
              <a:t>Regulatory + methods
</a:t>
            </a:r>
            <a:endParaRPr lang="en-US" sz="1200" dirty="0"/>
          </a:p>
          <a:p>
            <a:pPr marL="0" indent="0">
              <a:spcAft>
                <a:spcPts val="100"/>
              </a:spcAft>
              <a:buNone/>
            </a:pPr>
            <a:r>
              <a:rPr lang="en-US" sz="1000" dirty="0">
                <a:solidFill>
                  <a:srgbClr val="333333"/>
                </a:solidFill>
                <a:latin typeface="Calibri" pitchFamily="34" charset="0"/>
                <a:ea typeface="Calibri" pitchFamily="34" charset="-122"/>
                <a:cs typeface="Calibri" pitchFamily="34" charset="-120"/>
              </a:rPr>
              <a:t>40 CFR Part 50 (National Ambient Air Quality Standards) — Appendices A-1, D, F, J, L, O. U.S. Environmental Protection Agency.
40 CFR Part 53 (FEM designation criteria) and Part 58 (monitoring network design). U.S. EPA.
40 CFR Part 63 (NESHAP MACT source-category standards including Subparts CC, UUU, U, R, BBBBBB). U.S. EPA.
U.S. EPA (2024, March 6). Reconsideration of the National Ambient Air Quality Standards for Particulate Matter, Final Rule. 89 Fed. Reg. 16202–16406.
U.S. EPA (1999, revised 2019). Compendium Method TO-15 / TO-15A. EPA/625/R-96/010b + supplement.
U.S. EPA (2025, December 15). List of designated reference and equivalent methods (AMTIC).
</a:t>
            </a:r>
            <a:endParaRPr lang="en-US" sz="1200" dirty="0"/>
          </a:p>
          <a:p>
            <a:pPr marL="0" indent="0">
              <a:spcAft>
                <a:spcPts val="100"/>
              </a:spcAft>
              <a:buNone/>
            </a:pPr>
            <a:r>
              <a:rPr lang="en-US" sz="1200" b="1" dirty="0">
                <a:solidFill>
                  <a:srgbClr val="C2410C"/>
                </a:solidFill>
                <a:latin typeface="Calibri" pitchFamily="34" charset="0"/>
                <a:ea typeface="Calibri" pitchFamily="34" charset="-122"/>
                <a:cs typeface="Calibri" pitchFamily="34" charset="-120"/>
              </a:rPr>
              <a:t>PM2.5 health effects
</a:t>
            </a:r>
            <a:endParaRPr lang="en-US" sz="1200" dirty="0"/>
          </a:p>
          <a:p>
            <a:pPr marL="0" indent="0">
              <a:spcAft>
                <a:spcPts val="100"/>
              </a:spcAft>
              <a:buNone/>
            </a:pPr>
            <a:r>
              <a:rPr lang="en-US" sz="1000" dirty="0">
                <a:solidFill>
                  <a:srgbClr val="333333"/>
                </a:solidFill>
                <a:latin typeface="Calibri" pitchFamily="34" charset="0"/>
                <a:ea typeface="Calibri" pitchFamily="34" charset="-122"/>
                <a:cs typeface="Calibri" pitchFamily="34" charset="-120"/>
              </a:rPr>
              <a:t>Dockery, D. W., Pope, C. A. 3rd, Xu, X., et al. (1993). An association between air pollution and mortality in six U.S. cities. NEJM, 329(24), 1753–1759. https://doi.org/10.1056/NEJM199312093292401
Pope, C. A. 3rd, Burnett, R. T., Thun, M. J., et al. (2002). Lung cancer, cardiopulmonary mortality, and long-term exposure to fine particulate air pollution. JAMA, 287(9), 1132–1141. https://doi.org/10.1001/jama.287.9.1132
Krewski, D., Jerrett, M., Burnett, R. T., et al. (2009). Extended follow-up and spatial analysis of the American Cancer Society study linking particulate air pollution and mortality. HEI Research Report 140.
Di, Q., Wang, Y., Zanobetti, A., et al. (2017). Air pollution and mortality in the Medicare population. NEJM, 376(26), 2513–2522. https://doi.org/10.1056/NEJMoa1702747
Brook, R. D., Rajagopalan, S., Pope, C. A. 3rd, et al. (2010). Particulate matter air pollution and cardiovascular disease. Circulation, 121(21), 2331–2378.
Wilker, E. H., Osman, M., &amp; Weisskopf, M. G. (2023). Ambient air pollution and clinical dementia: Systematic review and meta-analysis. BMJ, 381, e071620.
Bekkar, B., Pacheco, S., Basu, R., &amp; DeNicola, N. (2020). Association of air pollution and heat exposure with preterm birth, low birth weight, and stillbirth in the US. JAMA Netw Open, 3(6), e208243.
IARC (2013). Outdoor air pollution. IARC Monograph 109.
WHO (2021). WHO global air quality guidelines: Particulate matter, ozone, NO2, SO2, and CO. Geneva.
</a:t>
            </a:r>
            <a:endParaRPr lang="en-US" sz="1200" dirty="0"/>
          </a:p>
        </p:txBody>
      </p:sp>
      <p:sp>
        <p:nvSpPr>
          <p:cNvPr id="5"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6" name="Text 4"/>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55 / 60</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000" b="1" kern="0" spc="300" dirty="0">
                <a:solidFill>
                  <a:srgbClr val="C2410C"/>
                </a:solidFill>
                <a:latin typeface="Calibri" pitchFamily="34" charset="0"/>
                <a:ea typeface="Calibri" pitchFamily="34" charset="-122"/>
                <a:cs typeface="Calibri" pitchFamily="34" charset="-120"/>
              </a:rPr>
              <a:t>REFERENCES · 2/2</a:t>
            </a:r>
            <a:endParaRPr lang="en-US" sz="1000" dirty="0"/>
          </a:p>
        </p:txBody>
      </p:sp>
      <p:sp>
        <p:nvSpPr>
          <p:cNvPr id="3" name="Text 1"/>
          <p:cNvSpPr/>
          <p:nvPr/>
        </p:nvSpPr>
        <p:spPr>
          <a:xfrm>
            <a:off x="548640" y="594360"/>
            <a:ext cx="10972800" cy="822960"/>
          </a:xfrm>
          <a:prstGeom prst="rect">
            <a:avLst/>
          </a:prstGeom>
          <a:noFill/>
          <a:ln/>
        </p:spPr>
        <p:txBody>
          <a:bodyPr wrap="square" lIns="0" tIns="0" rIns="0" bIns="0" rtlCol="0" anchor="ctr"/>
          <a:lstStyle/>
          <a:p>
            <a:pPr marL="0" indent="0">
              <a:buNone/>
            </a:pPr>
            <a:r>
              <a:rPr lang="en-US" sz="3000" b="1" dirty="0">
                <a:solidFill>
                  <a:srgbClr val="213C4E"/>
                </a:solidFill>
                <a:latin typeface="Cambria" pitchFamily="34" charset="0"/>
                <a:ea typeface="Cambria" pitchFamily="34" charset="-122"/>
                <a:cs typeface="Cambria" pitchFamily="34" charset="-120"/>
              </a:rPr>
              <a:t>References — PM10, dust, VOC / weather</a:t>
            </a:r>
            <a:endParaRPr lang="en-US" sz="3000" dirty="0"/>
          </a:p>
        </p:txBody>
      </p:sp>
      <p:sp>
        <p:nvSpPr>
          <p:cNvPr id="4" name="Text 2"/>
          <p:cNvSpPr/>
          <p:nvPr/>
        </p:nvSpPr>
        <p:spPr>
          <a:xfrm>
            <a:off x="548640" y="1417320"/>
            <a:ext cx="11064240" cy="4937760"/>
          </a:xfrm>
          <a:prstGeom prst="rect">
            <a:avLst/>
          </a:prstGeom>
          <a:noFill/>
          <a:ln/>
        </p:spPr>
        <p:txBody>
          <a:bodyPr wrap="square" lIns="0" tIns="0" rIns="0" bIns="0" rtlCol="0" anchor="t"/>
          <a:lstStyle/>
          <a:p>
            <a:pPr marL="0" indent="0">
              <a:spcAft>
                <a:spcPts val="100"/>
              </a:spcAft>
              <a:buNone/>
            </a:pPr>
            <a:r>
              <a:rPr lang="en-US" sz="1200" b="1" dirty="0">
                <a:solidFill>
                  <a:srgbClr val="C2410C"/>
                </a:solidFill>
                <a:latin typeface="Calibri" pitchFamily="34" charset="0"/>
                <a:ea typeface="Calibri" pitchFamily="34" charset="-122"/>
                <a:cs typeface="Calibri" pitchFamily="34" charset="-120"/>
              </a:rPr>
              <a:t>PM10 + Saharan dust + coarse-fraction epidemiology
</a:t>
            </a:r>
            <a:endParaRPr lang="en-US" sz="1200" dirty="0"/>
          </a:p>
          <a:p>
            <a:pPr marL="0" indent="0">
              <a:spcAft>
                <a:spcPts val="100"/>
              </a:spcAft>
              <a:buNone/>
            </a:pPr>
            <a:r>
              <a:rPr lang="en-US" sz="1000" dirty="0">
                <a:solidFill>
                  <a:srgbClr val="333333"/>
                </a:solidFill>
                <a:latin typeface="Calibri" pitchFamily="34" charset="0"/>
                <a:ea typeface="Calibri" pitchFamily="34" charset="-122"/>
                <a:cs typeface="Calibri" pitchFamily="34" charset="-120"/>
              </a:rPr>
              <a:t>Adar, S. D., Filigrana, P. A., Clements, N., &amp; Peel, J. L. (2014). Ambient coarse particulate matter and human health: A systematic review and meta-analysis. Curr Environ Health Rep, 1(3), 258–274.
Malig, B. J., &amp; Ostro, B. D. (2009). Coarse particles and mortality: Evidence from a multi-city study in California. Occup Environ Med, 66(12), 832–839.
Prospero, J. M., &amp; Lamb, P. J. (2003). African droughts and dust transport to the Caribbean: Climate change implications. Science, 302(5647), 1024–1027.
Prospero, J. M., &amp; Mayol-Bracero, O. L. (2013). Understanding the transport and impact of African dust on the Caribbean Basin. BAMS, 94(9), 1329–1337.
Yu, H., Chin, M., Bian, H., et al. (2015). Quantification of trans-Atlantic dust transport from seven-year CALIPSO lidar measurements. Remote Sens Environ, 159, 232–249.
Bozlaker, A., Prospero, J. M., Price, J., &amp; Chellam, S. (2019). Identifying and quantifying the impacts of advected North African dust on PM in Houston/Galveston. J Geophys Res Atmos, 124(22), 12,282–12,300.
Bozlaker, A., Contreras, L., Prospero, J. M., &amp; Chellam, S. (2024). Respirable metals, bacteria, and fungi during a Saharan–Sahelian dust event in Houston. Environ Sci Technol, 58(6), 2648–2661.
Ortiz-Martínez, M. G., Rodríguez-Cotto, R. I., et al. (2015). Linking endotoxins, African dust PM10, and asthma in Puerto Rico. Mediators Inflamm, 2015, 784212.
Tong, D. Q., Wang, J. X. L., Gill, T. E., et al. (2017). Intensified dust storm activity and Valley fever infection in the southwestern United States. Geophys Res Lett, 44(9), 4304–4312.
Kaur, K., &amp; Kelly, K. E. (2023). Evaluation of the U.S. EPA's correction equation for PurpleAir sensor data. Atmos Meas Tech, 16(5), 1311–1322.
</a:t>
            </a:r>
            <a:endParaRPr lang="en-US" sz="1200" dirty="0"/>
          </a:p>
          <a:p>
            <a:pPr marL="0" indent="0">
              <a:spcAft>
                <a:spcPts val="100"/>
              </a:spcAft>
              <a:buNone/>
            </a:pPr>
            <a:r>
              <a:rPr lang="en-US" sz="1200" b="1" dirty="0">
                <a:solidFill>
                  <a:srgbClr val="C2410C"/>
                </a:solidFill>
                <a:latin typeface="Calibri" pitchFamily="34" charset="0"/>
                <a:ea typeface="Calibri" pitchFamily="34" charset="-122"/>
                <a:cs typeface="Calibri" pitchFamily="34" charset="-120"/>
              </a:rPr>
              <a:t>Weather–pollutant + VOCs
</a:t>
            </a:r>
            <a:endParaRPr lang="en-US" sz="1200" dirty="0"/>
          </a:p>
          <a:p>
            <a:pPr marL="0" indent="0">
              <a:spcAft>
                <a:spcPts val="100"/>
              </a:spcAft>
              <a:buNone/>
            </a:pPr>
            <a:r>
              <a:rPr lang="en-US" sz="1000" dirty="0">
                <a:solidFill>
                  <a:srgbClr val="333333"/>
                </a:solidFill>
                <a:latin typeface="Calibri" pitchFamily="34" charset="0"/>
                <a:ea typeface="Calibri" pitchFamily="34" charset="-122"/>
                <a:cs typeface="Calibri" pitchFamily="34" charset="-120"/>
              </a:rPr>
              <a:t>Tai, A. P. K., Mickley, L. J., &amp; Jacob, D. J. (2010). Correlations between fine particulate matter (PM2.5) and meteorological variables. Atmos Environ, 44(32), 3976–3984.
Dawson, J. P., Adams, P. J., &amp; Pandis, S. N. (2007). Sensitivity of PM2.5 to climate in the Eastern US. Atmos Chem Phys, 7(16), 4295–4309.
Jacob, D. J., &amp; Winner, D. A. (2009). Effect of climate change on air quality. Atmos Environ, 43(1), 51–63.
O'Dell, K., Ford, B., Fischer, E. V., &amp; Pierce, J. R. (2019). Contribution of wildland-fire smoke to US PM2.5 and its influence on recent trends. Environ Sci Technol, 53(4), 1797–1804.
Burke, M., Childs, M. L., de la Cuesta, B., et al. (2023). Wildfire influence on recent U.S. pollution trends. PNAS, 120(38), e2309325120.
TCEQ (2015 rev.). RG-442: Guidelines to Develop Effects Screening Levels, Reference Values, and Unit Risk Factors.
TCEQ. Annual Monitoring Network Plans (2018–2024) — Coastal Bend + statewide network.
</a:t>
            </a:r>
            <a:endParaRPr lang="en-US" sz="1200" dirty="0"/>
          </a:p>
        </p:txBody>
      </p:sp>
      <p:sp>
        <p:nvSpPr>
          <p:cNvPr id="5"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6B7A85"/>
                </a:solidFill>
                <a:latin typeface="Calibri" pitchFamily="34" charset="0"/>
                <a:ea typeface="Calibri" pitchFamily="34" charset="-122"/>
                <a:cs typeface="Calibri" pitchFamily="34" charset="-120"/>
              </a:rPr>
              <a:t>Melaram Lab · TAMU-CC</a:t>
            </a:r>
            <a:r>
              <a:rPr lang="en-US" sz="900" dirty="0">
                <a:solidFill>
                  <a:srgbClr val="D9DEE3"/>
                </a:solidFill>
                <a:latin typeface="Calibri" pitchFamily="34" charset="0"/>
                <a:ea typeface="Calibri" pitchFamily="34" charset="-122"/>
                <a:cs typeface="Calibri" pitchFamily="34" charset="-120"/>
              </a:rPr>
              <a:t>   |   </a:t>
            </a:r>
            <a:r>
              <a:rPr lang="en-US" sz="900" dirty="0">
                <a:solidFill>
                  <a:srgbClr val="6B7A85"/>
                </a:solidFill>
                <a:latin typeface="Calibri" pitchFamily="34" charset="0"/>
                <a:ea typeface="Calibri" pitchFamily="34" charset="-122"/>
                <a:cs typeface="Calibri" pitchFamily="34" charset="-120"/>
              </a:rPr>
              <a:t>South Texas AQ · Coastal Bend briefing</a:t>
            </a:r>
            <a:endParaRPr lang="en-US" sz="900" dirty="0"/>
          </a:p>
        </p:txBody>
      </p:sp>
      <p:sp>
        <p:nvSpPr>
          <p:cNvPr id="6" name="Text 4"/>
          <p:cNvSpPr/>
          <p:nvPr/>
        </p:nvSpPr>
        <p:spPr>
          <a:xfrm>
            <a:off x="11094415" y="6537960"/>
            <a:ext cx="822960" cy="228600"/>
          </a:xfrm>
          <a:prstGeom prst="rect">
            <a:avLst/>
          </a:prstGeom>
          <a:noFill/>
          <a:ln/>
        </p:spPr>
        <p:txBody>
          <a:bodyPr wrap="square" lIns="0" tIns="0" rIns="0" bIns="0" rtlCol="0" anchor="ctr"/>
          <a:lstStyle/>
          <a:p>
            <a:pPr marL="0" indent="0" algn="r">
              <a:buNone/>
            </a:pPr>
            <a:r>
              <a:rPr lang="en-US" sz="900" dirty="0">
                <a:solidFill>
                  <a:srgbClr val="6B7A85"/>
                </a:solidFill>
                <a:latin typeface="Calibri" pitchFamily="34" charset="0"/>
                <a:ea typeface="Calibri" pitchFamily="34" charset="-122"/>
                <a:cs typeface="Calibri" pitchFamily="34" charset="-120"/>
              </a:rPr>
              <a:t>56 / 60</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213C4E"/>
        </a:solidFill>
        <a:effectLst/>
      </p:bgPr>
    </p:bg>
    <p:spTree>
      <p:nvGrpSpPr>
        <p:cNvPr id="1" name=""/>
        <p:cNvGrpSpPr/>
        <p:nvPr/>
      </p:nvGrpSpPr>
      <p:grpSpPr>
        <a:xfrm>
          <a:off x="0" y="0"/>
          <a:ext cx="0" cy="0"/>
          <a:chOff x="0" y="0"/>
          <a:chExt cx="0" cy="0"/>
        </a:xfrm>
      </p:grpSpPr>
      <p:sp>
        <p:nvSpPr>
          <p:cNvPr id="2" name="Text 0"/>
          <p:cNvSpPr/>
          <p:nvPr/>
        </p:nvSpPr>
        <p:spPr>
          <a:xfrm>
            <a:off x="548640" y="2103120"/>
            <a:ext cx="11064240" cy="457200"/>
          </a:xfrm>
          <a:prstGeom prst="rect">
            <a:avLst/>
          </a:prstGeom>
          <a:noFill/>
          <a:ln/>
        </p:spPr>
        <p:txBody>
          <a:bodyPr wrap="square" lIns="0" tIns="0" rIns="0" bIns="0" rtlCol="0" anchor="ctr"/>
          <a:lstStyle/>
          <a:p>
            <a:pPr marL="0" indent="0" algn="ctr">
              <a:buNone/>
            </a:pPr>
            <a:r>
              <a:rPr lang="en-US" sz="1400" b="1" kern="0" spc="800" dirty="0">
                <a:solidFill>
                  <a:srgbClr val="C2410C"/>
                </a:solidFill>
                <a:latin typeface="Calibri" pitchFamily="34" charset="0"/>
                <a:ea typeface="Calibri" pitchFamily="34" charset="-122"/>
                <a:cs typeface="Calibri" pitchFamily="34" charset="-120"/>
              </a:rPr>
              <a:t>MELARAM LAB</a:t>
            </a:r>
            <a:endParaRPr lang="en-US" sz="1400" dirty="0"/>
          </a:p>
        </p:txBody>
      </p:sp>
      <p:sp>
        <p:nvSpPr>
          <p:cNvPr id="3" name="Text 1"/>
          <p:cNvSpPr/>
          <p:nvPr/>
        </p:nvSpPr>
        <p:spPr>
          <a:xfrm>
            <a:off x="548640" y="2651760"/>
            <a:ext cx="1106424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South Texas Air Quality Study</a:t>
            </a:r>
            <a:endParaRPr lang="en-US" sz="4000" dirty="0"/>
          </a:p>
        </p:txBody>
      </p:sp>
      <p:sp>
        <p:nvSpPr>
          <p:cNvPr id="4" name="Text 2"/>
          <p:cNvSpPr/>
          <p:nvPr/>
        </p:nvSpPr>
        <p:spPr>
          <a:xfrm>
            <a:off x="548640" y="3566160"/>
            <a:ext cx="11064240" cy="457200"/>
          </a:xfrm>
          <a:prstGeom prst="rect">
            <a:avLst/>
          </a:prstGeom>
          <a:noFill/>
          <a:ln/>
        </p:spPr>
        <p:txBody>
          <a:bodyPr wrap="square" lIns="0" tIns="0" rIns="0" bIns="0" rtlCol="0" anchor="ctr"/>
          <a:lstStyle/>
          <a:p>
            <a:pPr marL="0" indent="0" algn="ctr">
              <a:buNone/>
            </a:pPr>
            <a:r>
              <a:rPr lang="en-US" sz="1800" i="1" dirty="0">
                <a:solidFill>
                  <a:srgbClr val="AABBC8"/>
                </a:solidFill>
                <a:latin typeface="Cambria" pitchFamily="34" charset="0"/>
                <a:ea typeface="Cambria" pitchFamily="34" charset="-122"/>
                <a:cs typeface="Cambria" pitchFamily="34" charset="-120"/>
              </a:rPr>
              <a:t>Coastal Bend PM2.5 · PM10 · VOCs briefing — v1</a:t>
            </a:r>
            <a:endParaRPr lang="en-US" sz="1800" dirty="0"/>
          </a:p>
        </p:txBody>
      </p:sp>
      <p:sp>
        <p:nvSpPr>
          <p:cNvPr id="5" name="Text 3"/>
          <p:cNvSpPr/>
          <p:nvPr/>
        </p:nvSpPr>
        <p:spPr>
          <a:xfrm>
            <a:off x="548640" y="4480560"/>
            <a:ext cx="11064240" cy="914400"/>
          </a:xfrm>
          <a:prstGeom prst="rect">
            <a:avLst/>
          </a:prstGeom>
          <a:noFill/>
          <a:ln/>
        </p:spPr>
        <p:txBody>
          <a:bodyPr wrap="square" lIns="0" tIns="0" rIns="0" bIns="0" rtlCol="0" anchor="ctr"/>
          <a:lstStyle/>
          <a:p>
            <a:pPr marL="0" indent="0" algn="ctr">
              <a:buNone/>
            </a:pPr>
            <a:r>
              <a:rPr lang="en-US" sz="1400" dirty="0">
                <a:solidFill>
                  <a:srgbClr val="AABBC8"/>
                </a:solidFill>
                <a:latin typeface="Calibri" pitchFamily="34" charset="0"/>
                <a:ea typeface="Calibri" pitchFamily="34" charset="-122"/>
                <a:cs typeface="Calibri" pitchFamily="34" charset="-120"/>
              </a:rPr>
              <a:t>Prepared by </a:t>
            </a:r>
            <a:r>
              <a:rPr lang="en-US" sz="1400" b="1" dirty="0">
                <a:solidFill>
                  <a:srgbClr val="FFFFFF"/>
                </a:solidFill>
                <a:latin typeface="Calibri" pitchFamily="34" charset="0"/>
                <a:ea typeface="Calibri" pitchFamily="34" charset="-122"/>
                <a:cs typeface="Calibri" pitchFamily="34" charset="-120"/>
              </a:rPr>
              <a:t>Aidan Meyers</a:t>
            </a:r>
            <a:r>
              <a:rPr lang="en-US" sz="1400" dirty="0">
                <a:solidFill>
                  <a:srgbClr val="AABBC8"/>
                </a:solidFill>
                <a:latin typeface="Calibri" pitchFamily="34" charset="0"/>
                <a:ea typeface="Calibri" pitchFamily="34" charset="-122"/>
                <a:cs typeface="Calibri" pitchFamily="34" charset="-120"/>
              </a:rPr>
              <a:t> · Melaram Lab, Texas A&amp;M University–Corpus Christi</a:t>
            </a:r>
            <a:endParaRPr lang="en-US" sz="1400" dirty="0"/>
          </a:p>
          <a:p>
            <a:pPr marL="0" indent="0" algn="ctr">
              <a:buNone/>
            </a:pPr>
            <a:endParaRPr lang="en-US" sz="1400" dirty="0"/>
          </a:p>
          <a:p>
            <a:pPr marL="0" indent="0" algn="ctr">
              <a:buNone/>
            </a:pPr>
            <a:r>
              <a:rPr lang="en-US" sz="1400" dirty="0">
                <a:solidFill>
                  <a:srgbClr val="C2410C"/>
                </a:solidFill>
                <a:latin typeface="Calibri" pitchFamily="34" charset="0"/>
                <a:ea typeface="Calibri" pitchFamily="34" charset="-122"/>
                <a:cs typeface="Calibri" pitchFamily="34" charset="-120"/>
              </a:rPr>
              <a:t>aidan.meyers@tamucc.edu · www.melaramlab.com</a:t>
            </a:r>
            <a:endParaRPr lang="en-US" sz="1400" dirty="0"/>
          </a:p>
        </p:txBody>
      </p:sp>
      <p:sp>
        <p:nvSpPr>
          <p:cNvPr id="6" name="Text 4"/>
          <p:cNvSpPr/>
          <p:nvPr/>
        </p:nvSpPr>
        <p:spPr>
          <a:xfrm>
            <a:off x="548640" y="5852160"/>
            <a:ext cx="11064240" cy="320040"/>
          </a:xfrm>
          <a:prstGeom prst="rect">
            <a:avLst/>
          </a:prstGeom>
          <a:noFill/>
          <a:ln/>
        </p:spPr>
        <p:txBody>
          <a:bodyPr wrap="square" lIns="0" tIns="0" rIns="0" bIns="0" rtlCol="0" anchor="ctr"/>
          <a:lstStyle/>
          <a:p>
            <a:pPr marL="0" indent="0" algn="ctr">
              <a:buNone/>
            </a:pPr>
            <a:r>
              <a:rPr lang="en-US" sz="1100" dirty="0">
                <a:solidFill>
                  <a:srgbClr val="8DA3B4"/>
                </a:solidFill>
                <a:latin typeface="Courier New" pitchFamily="34" charset="0"/>
                <a:ea typeface="Courier New" pitchFamily="34" charset="-122"/>
                <a:cs typeface="Courier New" pitchFamily="34" charset="-120"/>
              </a:rPr>
              <a:t>Pipeline: github.com/AidanJMeyers/south-texas-aq-pipeline · v0.4.0</a:t>
            </a:r>
            <a:endParaRPr lang="en-US" sz="1100" dirty="0"/>
          </a:p>
        </p:txBody>
      </p:sp>
      <p:sp>
        <p:nvSpPr>
          <p:cNvPr id="7" name="Text 5"/>
          <p:cNvSpPr/>
          <p:nvPr/>
        </p:nvSpPr>
        <p:spPr>
          <a:xfrm>
            <a:off x="548640" y="6172200"/>
            <a:ext cx="11064240" cy="320040"/>
          </a:xfrm>
          <a:prstGeom prst="rect">
            <a:avLst/>
          </a:prstGeom>
          <a:noFill/>
          <a:ln/>
        </p:spPr>
        <p:txBody>
          <a:bodyPr wrap="square" lIns="0" tIns="0" rIns="0" bIns="0" rtlCol="0" anchor="ctr"/>
          <a:lstStyle/>
          <a:p>
            <a:pPr marL="0" indent="0" algn="ctr">
              <a:buNone/>
            </a:pPr>
            <a:r>
              <a:rPr lang="en-US" sz="1000" i="1" dirty="0">
                <a:solidFill>
                  <a:srgbClr val="8DA3B4"/>
                </a:solidFill>
                <a:latin typeface="Calibri" pitchFamily="34" charset="0"/>
                <a:ea typeface="Calibri" pitchFamily="34" charset="-122"/>
                <a:cs typeface="Calibri" pitchFamily="34" charset="-120"/>
              </a:rPr>
              <a:t>Deck source: 02_Scripts/_deck_build/  ·  QC feedback welcome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EA00A59ED6934096BC9EAD0291FC20" ma:contentTypeVersion="15" ma:contentTypeDescription="Create a new document." ma:contentTypeScope="" ma:versionID="45151dd10f04552d7bd9b6b9cd9e5a43">
  <xsd:schema xmlns:xsd="http://www.w3.org/2001/XMLSchema" xmlns:xs="http://www.w3.org/2001/XMLSchema" xmlns:p="http://schemas.microsoft.com/office/2006/metadata/properties" xmlns:ns3="c5cb6695-3e7c-4969-9e89-5eaa815a3901" xmlns:ns4="4af44301-783c-4bdb-8271-2c5132ab2e9a" targetNamespace="http://schemas.microsoft.com/office/2006/metadata/properties" ma:root="true" ma:fieldsID="280bfc0d04674b67862925f66fb55639" ns3:_="" ns4:_="">
    <xsd:import namespace="c5cb6695-3e7c-4969-9e89-5eaa815a3901"/>
    <xsd:import namespace="4af44301-783c-4bdb-8271-2c5132ab2e9a"/>
    <xsd:element name="properties">
      <xsd:complexType>
        <xsd:sequence>
          <xsd:element name="documentManagement">
            <xsd:complexType>
              <xsd:all>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cb6695-3e7c-4969-9e89-5eaa815a3901"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af44301-783c-4bdb-8271-2c5132ab2e9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5cb6695-3e7c-4969-9e89-5eaa815a3901" xsi:nil="true"/>
  </documentManagement>
</p:properties>
</file>

<file path=customXml/itemProps1.xml><?xml version="1.0" encoding="utf-8"?>
<ds:datastoreItem xmlns:ds="http://schemas.openxmlformats.org/officeDocument/2006/customXml" ds:itemID="{BA1BF1C3-7288-431D-BEC4-A60D706874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cb6695-3e7c-4969-9e89-5eaa815a3901"/>
    <ds:schemaRef ds:uri="4af44301-783c-4bdb-8271-2c5132ab2e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F0A4B87-15B9-4BF7-ABEE-3B3B5B13791C}">
  <ds:schemaRefs>
    <ds:schemaRef ds:uri="http://schemas.microsoft.com/sharepoint/v3/contenttype/forms"/>
  </ds:schemaRefs>
</ds:datastoreItem>
</file>

<file path=customXml/itemProps3.xml><?xml version="1.0" encoding="utf-8"?>
<ds:datastoreItem xmlns:ds="http://schemas.openxmlformats.org/officeDocument/2006/customXml" ds:itemID="{E214C070-EFAB-4F70-AC59-D80508A03C2E}">
  <ds:schemaRefs>
    <ds:schemaRef ds:uri="http://purl.org/dc/terms/"/>
    <ds:schemaRef ds:uri="c5cb6695-3e7c-4969-9e89-5eaa815a3901"/>
    <ds:schemaRef ds:uri="http://purl.org/dc/dcmitype/"/>
    <ds:schemaRef ds:uri="http://www.w3.org/XML/1998/namespace"/>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4af44301-783c-4bdb-8271-2c5132ab2e9a"/>
  </ds:schemaRefs>
</ds:datastoreItem>
</file>

<file path=docProps/app.xml><?xml version="1.0" encoding="utf-8"?>
<Properties xmlns="http://schemas.openxmlformats.org/officeDocument/2006/extended-properties" xmlns:vt="http://schemas.openxmlformats.org/officeDocument/2006/docPropsVTypes">
  <TotalTime>10298</TotalTime>
  <Words>21676</Words>
  <Application>Microsoft Office PowerPoint</Application>
  <PresentationFormat>Widescreen</PresentationFormat>
  <Paragraphs>1664</Paragraphs>
  <Slides>60</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Texas Air Quality — PM2.5, PM10, VOCs Briefing</dc:title>
  <dc:subject>Coastal Bend informational deck for team alignment</dc:subject>
  <dc:creator>Aidan Meyers, Melaram Lab, TAMU-CC</dc:creator>
  <cp:lastModifiedBy>Aidan Meyers</cp:lastModifiedBy>
  <cp:revision>2</cp:revision>
  <dcterms:created xsi:type="dcterms:W3CDTF">2026-07-08T20:07:56Z</dcterms:created>
  <dcterms:modified xsi:type="dcterms:W3CDTF">2026-07-15T23:52:01Z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0x0101000EEA00A59ED6934096BC9EAD0291FC20</vt:lpwstr>
  </property>
</Properties>
</file>