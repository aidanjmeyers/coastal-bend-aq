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5"/>
    <p:sldId id="258" r:id="rId6"/>
    <p:sldId id="274" r:id="rId7"/>
    <p:sldId id="265" r:id="rId8"/>
    <p:sldId id="260" r:id="rId9"/>
    <p:sldId id="263" r:id="rId10"/>
    <p:sldId id="264" r:id="rId11"/>
    <p:sldId id="262" r:id="rId12"/>
    <p:sldId id="266" r:id="rId13"/>
    <p:sldId id="267" r:id="rId14"/>
    <p:sldId id="268" r:id="rId15"/>
    <p:sldId id="271" r:id="rId16"/>
    <p:sldId id="269" r:id="rId17"/>
    <p:sldId id="270" r:id="rId18"/>
    <p:sldId id="272" r:id="rId19"/>
    <p:sldId id="259"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DAE2FD-911D-1022-1B08-206C2C91A9AB}" v="100" dt="2026-07-09T02:14:15.1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_rels/data2.xml.rels><?xml version="1.0" encoding="UTF-8" standalone="yes"?>
<Relationships xmlns="http://schemas.openxmlformats.org/package/2006/relationships"><Relationship Id="rId3" Type="http://schemas.openxmlformats.org/officeDocument/2006/relationships/hyperlink" Target="https://www.ecfr.gov/current/title-40/part-50" TargetMode="External"/><Relationship Id="rId2" Type="http://schemas.openxmlformats.org/officeDocument/2006/relationships/hyperlink" Target="https://www.ecfr.gov/current/title-40/section-53.16" TargetMode="External"/><Relationship Id="rId1" Type="http://schemas.openxmlformats.org/officeDocument/2006/relationships/hyperlink" Target="https://www.ecfr.gov/current/title-40/section-53.11" TargetMode="External"/></Relationships>
</file>

<file path=ppt/diagrams/_rels/drawing2.xml.rels><?xml version="1.0" encoding="UTF-8" standalone="yes"?>
<Relationships xmlns="http://schemas.openxmlformats.org/package/2006/relationships"><Relationship Id="rId3" Type="http://schemas.openxmlformats.org/officeDocument/2006/relationships/hyperlink" Target="https://www.ecfr.gov/current/title-40/part-50" TargetMode="External"/><Relationship Id="rId2" Type="http://schemas.openxmlformats.org/officeDocument/2006/relationships/hyperlink" Target="https://www.ecfr.gov/current/title-40/section-53.16" TargetMode="External"/><Relationship Id="rId1" Type="http://schemas.openxmlformats.org/officeDocument/2006/relationships/hyperlink" Target="https://www.ecfr.gov/current/title-40/section-53.11"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CC1E23-E5C9-4BC3-A348-1EEB8ED91B8B}"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D75AC0F-3F7F-45E6-AEB2-DABEE23E23F9}">
      <dgm:prSet/>
      <dgm:spPr/>
      <dgm:t>
        <a:bodyPr/>
        <a:lstStyle/>
        <a:p>
          <a:r>
            <a:rPr lang="en-US"/>
            <a:t>Section 109(b)(1) defines a primary standard as one “the attainment and maintenance of which in the judgment of the Administrator, based on [the air quality] criteria and allowing an adequate margin of safety, are requisite to protect the public health.” </a:t>
          </a:r>
          <a:r>
            <a:rPr lang="en-US" baseline="30000"/>
            <a:t>[1] </a:t>
          </a:r>
          <a:r>
            <a:rPr lang="en-US"/>
            <a:t>Section 109(b)(1). </a:t>
          </a:r>
        </a:p>
      </dgm:t>
    </dgm:pt>
    <dgm:pt modelId="{67D865F8-0DAE-413D-9180-C5F98511F97B}" type="parTrans" cxnId="{B43A867B-35C4-4876-A226-4068097B4B82}">
      <dgm:prSet/>
      <dgm:spPr/>
      <dgm:t>
        <a:bodyPr/>
        <a:lstStyle/>
        <a:p>
          <a:endParaRPr lang="en-US"/>
        </a:p>
      </dgm:t>
    </dgm:pt>
    <dgm:pt modelId="{03F006E0-98E5-48A3-B086-31E53514B5BF}" type="sibTrans" cxnId="{B43A867B-35C4-4876-A226-4068097B4B82}">
      <dgm:prSet/>
      <dgm:spPr/>
      <dgm:t>
        <a:bodyPr/>
        <a:lstStyle/>
        <a:p>
          <a:endParaRPr lang="en-US"/>
        </a:p>
      </dgm:t>
    </dgm:pt>
    <dgm:pt modelId="{DF00A71C-A83C-4049-B5E8-A88D82BDB9BF}">
      <dgm:prSet/>
      <dgm:spPr/>
      <dgm:t>
        <a:bodyPr/>
        <a:lstStyle/>
        <a:p>
          <a:r>
            <a:rPr lang="en-US"/>
            <a:t>A secondary standard, in turn, must “specify a level of air quality the attainment and maintenance of which, in the judgment of the Administrator, based on [the air quality] criteria, is requisite to protect the public welfare from any known or anticipated adverse effects associated with the presence of such pollutant in the ambient air.” </a:t>
          </a:r>
          <a:r>
            <a:rPr lang="en-US" baseline="30000"/>
            <a:t>[2] </a:t>
          </a:r>
          <a:r>
            <a:rPr lang="en-US"/>
            <a:t>Section 109(b)(2) </a:t>
          </a:r>
        </a:p>
      </dgm:t>
    </dgm:pt>
    <dgm:pt modelId="{DB01F559-4861-4225-BF95-BF16066F5441}" type="parTrans" cxnId="{F3662381-EEC1-4396-AD1E-BA7E184BB296}">
      <dgm:prSet/>
      <dgm:spPr/>
      <dgm:t>
        <a:bodyPr/>
        <a:lstStyle/>
        <a:p>
          <a:endParaRPr lang="en-US"/>
        </a:p>
      </dgm:t>
    </dgm:pt>
    <dgm:pt modelId="{F3BE9D0C-0062-4F77-886D-81E395AF2EB8}" type="sibTrans" cxnId="{F3662381-EEC1-4396-AD1E-BA7E184BB296}">
      <dgm:prSet/>
      <dgm:spPr/>
      <dgm:t>
        <a:bodyPr/>
        <a:lstStyle/>
        <a:p>
          <a:endParaRPr lang="en-US"/>
        </a:p>
      </dgm:t>
    </dgm:pt>
    <dgm:pt modelId="{47DAACF2-F364-4D7E-84F5-698961EAB528}" type="pres">
      <dgm:prSet presAssocID="{46CC1E23-E5C9-4BC3-A348-1EEB8ED91B8B}" presName="hierChild1" presStyleCnt="0">
        <dgm:presLayoutVars>
          <dgm:chPref val="1"/>
          <dgm:dir/>
          <dgm:animOne val="branch"/>
          <dgm:animLvl val="lvl"/>
          <dgm:resizeHandles/>
        </dgm:presLayoutVars>
      </dgm:prSet>
      <dgm:spPr/>
    </dgm:pt>
    <dgm:pt modelId="{FA93153D-82C1-4040-BFC4-8E437E0AF1D5}" type="pres">
      <dgm:prSet presAssocID="{ED75AC0F-3F7F-45E6-AEB2-DABEE23E23F9}" presName="hierRoot1" presStyleCnt="0"/>
      <dgm:spPr/>
    </dgm:pt>
    <dgm:pt modelId="{22BA1D57-B04C-4ABA-B37B-45028DCED61A}" type="pres">
      <dgm:prSet presAssocID="{ED75AC0F-3F7F-45E6-AEB2-DABEE23E23F9}" presName="composite" presStyleCnt="0"/>
      <dgm:spPr/>
    </dgm:pt>
    <dgm:pt modelId="{61874D18-6ACC-46F7-9E13-D81428FF0D6D}" type="pres">
      <dgm:prSet presAssocID="{ED75AC0F-3F7F-45E6-AEB2-DABEE23E23F9}" presName="background" presStyleLbl="node0" presStyleIdx="0" presStyleCnt="2"/>
      <dgm:spPr/>
    </dgm:pt>
    <dgm:pt modelId="{B0FED813-CA0D-4C15-92F5-7DA92C3C0933}" type="pres">
      <dgm:prSet presAssocID="{ED75AC0F-3F7F-45E6-AEB2-DABEE23E23F9}" presName="text" presStyleLbl="fgAcc0" presStyleIdx="0" presStyleCnt="2">
        <dgm:presLayoutVars>
          <dgm:chPref val="3"/>
        </dgm:presLayoutVars>
      </dgm:prSet>
      <dgm:spPr/>
    </dgm:pt>
    <dgm:pt modelId="{928D827C-E63D-413F-A191-06C2AB1B5B0D}" type="pres">
      <dgm:prSet presAssocID="{ED75AC0F-3F7F-45E6-AEB2-DABEE23E23F9}" presName="hierChild2" presStyleCnt="0"/>
      <dgm:spPr/>
    </dgm:pt>
    <dgm:pt modelId="{49A61AE7-5DCB-4A48-BBAC-55FE6549C543}" type="pres">
      <dgm:prSet presAssocID="{DF00A71C-A83C-4049-B5E8-A88D82BDB9BF}" presName="hierRoot1" presStyleCnt="0"/>
      <dgm:spPr/>
    </dgm:pt>
    <dgm:pt modelId="{E566B6DD-97B1-4AE3-8211-454CFB958892}" type="pres">
      <dgm:prSet presAssocID="{DF00A71C-A83C-4049-B5E8-A88D82BDB9BF}" presName="composite" presStyleCnt="0"/>
      <dgm:spPr/>
    </dgm:pt>
    <dgm:pt modelId="{07C4CAE1-79DE-4806-A585-78BCC363512B}" type="pres">
      <dgm:prSet presAssocID="{DF00A71C-A83C-4049-B5E8-A88D82BDB9BF}" presName="background" presStyleLbl="node0" presStyleIdx="1" presStyleCnt="2"/>
      <dgm:spPr/>
    </dgm:pt>
    <dgm:pt modelId="{28E8906D-944D-4A9D-BA40-C0E241936BD1}" type="pres">
      <dgm:prSet presAssocID="{DF00A71C-A83C-4049-B5E8-A88D82BDB9BF}" presName="text" presStyleLbl="fgAcc0" presStyleIdx="1" presStyleCnt="2">
        <dgm:presLayoutVars>
          <dgm:chPref val="3"/>
        </dgm:presLayoutVars>
      </dgm:prSet>
      <dgm:spPr/>
    </dgm:pt>
    <dgm:pt modelId="{9B8F106C-437B-4221-9D02-266591290694}" type="pres">
      <dgm:prSet presAssocID="{DF00A71C-A83C-4049-B5E8-A88D82BDB9BF}" presName="hierChild2" presStyleCnt="0"/>
      <dgm:spPr/>
    </dgm:pt>
  </dgm:ptLst>
  <dgm:cxnLst>
    <dgm:cxn modelId="{47276C55-A9DF-4B7A-89AD-69026E33F501}" type="presOf" srcId="{46CC1E23-E5C9-4BC3-A348-1EEB8ED91B8B}" destId="{47DAACF2-F364-4D7E-84F5-698961EAB528}" srcOrd="0" destOrd="0" presId="urn:microsoft.com/office/officeart/2005/8/layout/hierarchy1"/>
    <dgm:cxn modelId="{B43A867B-35C4-4876-A226-4068097B4B82}" srcId="{46CC1E23-E5C9-4BC3-A348-1EEB8ED91B8B}" destId="{ED75AC0F-3F7F-45E6-AEB2-DABEE23E23F9}" srcOrd="0" destOrd="0" parTransId="{67D865F8-0DAE-413D-9180-C5F98511F97B}" sibTransId="{03F006E0-98E5-48A3-B086-31E53514B5BF}"/>
    <dgm:cxn modelId="{F3662381-EEC1-4396-AD1E-BA7E184BB296}" srcId="{46CC1E23-E5C9-4BC3-A348-1EEB8ED91B8B}" destId="{DF00A71C-A83C-4049-B5E8-A88D82BDB9BF}" srcOrd="1" destOrd="0" parTransId="{DB01F559-4861-4225-BF95-BF16066F5441}" sibTransId="{F3BE9D0C-0062-4F77-886D-81E395AF2EB8}"/>
    <dgm:cxn modelId="{B2DDD1C5-D791-4304-99AC-50AA54DE4132}" type="presOf" srcId="{ED75AC0F-3F7F-45E6-AEB2-DABEE23E23F9}" destId="{B0FED813-CA0D-4C15-92F5-7DA92C3C0933}" srcOrd="0" destOrd="0" presId="urn:microsoft.com/office/officeart/2005/8/layout/hierarchy1"/>
    <dgm:cxn modelId="{FEFDFCC8-C8EE-4ED6-BB2A-11AEC6777C44}" type="presOf" srcId="{DF00A71C-A83C-4049-B5E8-A88D82BDB9BF}" destId="{28E8906D-944D-4A9D-BA40-C0E241936BD1}" srcOrd="0" destOrd="0" presId="urn:microsoft.com/office/officeart/2005/8/layout/hierarchy1"/>
    <dgm:cxn modelId="{B066FE6B-2AE7-4A30-9179-51DD7DAAC867}" type="presParOf" srcId="{47DAACF2-F364-4D7E-84F5-698961EAB528}" destId="{FA93153D-82C1-4040-BFC4-8E437E0AF1D5}" srcOrd="0" destOrd="0" presId="urn:microsoft.com/office/officeart/2005/8/layout/hierarchy1"/>
    <dgm:cxn modelId="{6FD22605-7605-46CE-83DF-E55558E9855E}" type="presParOf" srcId="{FA93153D-82C1-4040-BFC4-8E437E0AF1D5}" destId="{22BA1D57-B04C-4ABA-B37B-45028DCED61A}" srcOrd="0" destOrd="0" presId="urn:microsoft.com/office/officeart/2005/8/layout/hierarchy1"/>
    <dgm:cxn modelId="{735372C9-2942-450F-A724-F4C2854769B0}" type="presParOf" srcId="{22BA1D57-B04C-4ABA-B37B-45028DCED61A}" destId="{61874D18-6ACC-46F7-9E13-D81428FF0D6D}" srcOrd="0" destOrd="0" presId="urn:microsoft.com/office/officeart/2005/8/layout/hierarchy1"/>
    <dgm:cxn modelId="{B33E4AE1-D154-4E5B-AFBF-C923C2140B57}" type="presParOf" srcId="{22BA1D57-B04C-4ABA-B37B-45028DCED61A}" destId="{B0FED813-CA0D-4C15-92F5-7DA92C3C0933}" srcOrd="1" destOrd="0" presId="urn:microsoft.com/office/officeart/2005/8/layout/hierarchy1"/>
    <dgm:cxn modelId="{217F6846-4F54-4AE3-8800-0F7F7FF6A593}" type="presParOf" srcId="{FA93153D-82C1-4040-BFC4-8E437E0AF1D5}" destId="{928D827C-E63D-413F-A191-06C2AB1B5B0D}" srcOrd="1" destOrd="0" presId="urn:microsoft.com/office/officeart/2005/8/layout/hierarchy1"/>
    <dgm:cxn modelId="{A5B896B7-108F-4B21-8D1F-0DF023D6EDBF}" type="presParOf" srcId="{47DAACF2-F364-4D7E-84F5-698961EAB528}" destId="{49A61AE7-5DCB-4A48-BBAC-55FE6549C543}" srcOrd="1" destOrd="0" presId="urn:microsoft.com/office/officeart/2005/8/layout/hierarchy1"/>
    <dgm:cxn modelId="{322F0A26-23B2-4AD9-8CC6-BB765EA08DD8}" type="presParOf" srcId="{49A61AE7-5DCB-4A48-BBAC-55FE6549C543}" destId="{E566B6DD-97B1-4AE3-8211-454CFB958892}" srcOrd="0" destOrd="0" presId="urn:microsoft.com/office/officeart/2005/8/layout/hierarchy1"/>
    <dgm:cxn modelId="{885B40BF-9219-4FF5-8F0A-CFDEE83D4778}" type="presParOf" srcId="{E566B6DD-97B1-4AE3-8211-454CFB958892}" destId="{07C4CAE1-79DE-4806-A585-78BCC363512B}" srcOrd="0" destOrd="0" presId="urn:microsoft.com/office/officeart/2005/8/layout/hierarchy1"/>
    <dgm:cxn modelId="{328E1BFC-4C3F-47D2-B489-27D225FD7996}" type="presParOf" srcId="{E566B6DD-97B1-4AE3-8211-454CFB958892}" destId="{28E8906D-944D-4A9D-BA40-C0E241936BD1}" srcOrd="1" destOrd="0" presId="urn:microsoft.com/office/officeart/2005/8/layout/hierarchy1"/>
    <dgm:cxn modelId="{C4043332-4C6A-474B-8252-F218BF3D126B}" type="presParOf" srcId="{49A61AE7-5DCB-4A48-BBAC-55FE6549C543}" destId="{9B8F106C-437B-4221-9D02-26659129069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5034E9-2C08-4D27-992C-BD57EBA40A08}"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4948C620-2DA6-4A44-8591-2AF10027123E}">
      <dgm:prSet/>
      <dgm:spPr/>
      <dgm:t>
        <a:bodyPr/>
        <a:lstStyle/>
        <a:p>
          <a:r>
            <a:rPr lang="en-US" i="1" dirty="0">
              <a:highlight>
                <a:srgbClr val="00FFFF"/>
              </a:highlight>
            </a:rPr>
            <a:t>Federal equivalent method (FEM)</a:t>
          </a:r>
          <a:r>
            <a:rPr lang="en-US" dirty="0">
              <a:highlight>
                <a:srgbClr val="00FFFF"/>
              </a:highlight>
            </a:rPr>
            <a:t> </a:t>
          </a:r>
          <a:r>
            <a:rPr lang="en-US" dirty="0"/>
            <a:t>means a method for measuring the concentration of an air pollutant in the ambient air that has been designated as an equivalent method in accordance with this part; it does not include a method for which an equivalent method designation has been canceled in accordance with </a:t>
          </a:r>
          <a:r>
            <a:rPr lang="en-US" dirty="0">
              <a:hlinkClick xmlns:r="http://schemas.openxmlformats.org/officeDocument/2006/relationships" r:id="rId1"/>
            </a:rPr>
            <a:t>§ 53.11</a:t>
          </a:r>
          <a:r>
            <a:rPr lang="en-US" dirty="0"/>
            <a:t> or </a:t>
          </a:r>
          <a:r>
            <a:rPr lang="en-US" dirty="0">
              <a:hlinkClick xmlns:r="http://schemas.openxmlformats.org/officeDocument/2006/relationships" r:id="rId2"/>
            </a:rPr>
            <a:t>§ 53.16</a:t>
          </a:r>
          <a:r>
            <a:rPr lang="en-US" dirty="0"/>
            <a:t>. [2]</a:t>
          </a:r>
        </a:p>
      </dgm:t>
    </dgm:pt>
    <dgm:pt modelId="{DE9F134A-7C3B-4299-8F9F-DD836FEF67A8}" type="parTrans" cxnId="{B21634C6-D4B2-4AAB-9794-DF4223B629FB}">
      <dgm:prSet/>
      <dgm:spPr/>
      <dgm:t>
        <a:bodyPr/>
        <a:lstStyle/>
        <a:p>
          <a:endParaRPr lang="en-US"/>
        </a:p>
      </dgm:t>
    </dgm:pt>
    <dgm:pt modelId="{354962CC-61AE-47B2-8B9C-F0EBEC82820F}" type="sibTrans" cxnId="{B21634C6-D4B2-4AAB-9794-DF4223B629FB}">
      <dgm:prSet/>
      <dgm:spPr/>
      <dgm:t>
        <a:bodyPr/>
        <a:lstStyle/>
        <a:p>
          <a:endParaRPr lang="en-US"/>
        </a:p>
      </dgm:t>
    </dgm:pt>
    <dgm:pt modelId="{C4A89A1D-E635-413E-B5D9-93F0233AC9CF}">
      <dgm:prSet/>
      <dgm:spPr/>
      <dgm:t>
        <a:bodyPr/>
        <a:lstStyle/>
        <a:p>
          <a:r>
            <a:rPr lang="en-US" i="1" dirty="0">
              <a:highlight>
                <a:srgbClr val="00FFFF"/>
              </a:highlight>
            </a:rPr>
            <a:t>Federal reference method (FRM)</a:t>
          </a:r>
          <a:r>
            <a:rPr lang="en-US" dirty="0">
              <a:highlight>
                <a:srgbClr val="00FFFF"/>
              </a:highlight>
            </a:rPr>
            <a:t> </a:t>
          </a:r>
          <a:r>
            <a:rPr lang="en-US" dirty="0"/>
            <a:t>means a method of sampling and analyzing the ambient air for an air pollutant that is specified as a reference method in an appendix to </a:t>
          </a:r>
          <a:r>
            <a:rPr lang="en-US" dirty="0">
              <a:hlinkClick xmlns:r="http://schemas.openxmlformats.org/officeDocument/2006/relationships" r:id="rId3"/>
            </a:rPr>
            <a:t>part 50 of this chapter</a:t>
          </a:r>
          <a:r>
            <a:rPr lang="en-US" dirty="0"/>
            <a:t>, or a method that has been designated as a reference method in accordance with this part; it does not include a method for which a reference method designation has been canceled in accordance with </a:t>
          </a:r>
          <a:r>
            <a:rPr lang="en-US" dirty="0">
              <a:hlinkClick xmlns:r="http://schemas.openxmlformats.org/officeDocument/2006/relationships" r:id="rId1"/>
            </a:rPr>
            <a:t>§ 53.11</a:t>
          </a:r>
          <a:r>
            <a:rPr lang="en-US" dirty="0"/>
            <a:t> or </a:t>
          </a:r>
          <a:r>
            <a:rPr lang="en-US" dirty="0">
              <a:hlinkClick xmlns:r="http://schemas.openxmlformats.org/officeDocument/2006/relationships" r:id="rId2"/>
            </a:rPr>
            <a:t>§ 53.16</a:t>
          </a:r>
          <a:r>
            <a:rPr lang="en-US" dirty="0"/>
            <a:t> [2]</a:t>
          </a:r>
        </a:p>
      </dgm:t>
    </dgm:pt>
    <dgm:pt modelId="{404D12BF-CB36-4C43-95CC-358F9C0E715B}" type="parTrans" cxnId="{4E1C490A-ED54-4028-8BD7-5A05C75B7D44}">
      <dgm:prSet/>
      <dgm:spPr/>
      <dgm:t>
        <a:bodyPr/>
        <a:lstStyle/>
        <a:p>
          <a:endParaRPr lang="en-US"/>
        </a:p>
      </dgm:t>
    </dgm:pt>
    <dgm:pt modelId="{C75B0053-C85E-4130-9516-9ACC6533584E}" type="sibTrans" cxnId="{4E1C490A-ED54-4028-8BD7-5A05C75B7D44}">
      <dgm:prSet/>
      <dgm:spPr/>
      <dgm:t>
        <a:bodyPr/>
        <a:lstStyle/>
        <a:p>
          <a:endParaRPr lang="en-US"/>
        </a:p>
      </dgm:t>
    </dgm:pt>
    <dgm:pt modelId="{1E135F79-95BF-4E37-9E5C-4A9D3ABB70C5}" type="pres">
      <dgm:prSet presAssocID="{235034E9-2C08-4D27-992C-BD57EBA40A08}" presName="hierChild1" presStyleCnt="0">
        <dgm:presLayoutVars>
          <dgm:chPref val="1"/>
          <dgm:dir/>
          <dgm:animOne val="branch"/>
          <dgm:animLvl val="lvl"/>
          <dgm:resizeHandles/>
        </dgm:presLayoutVars>
      </dgm:prSet>
      <dgm:spPr/>
    </dgm:pt>
    <dgm:pt modelId="{56001DA4-8F97-4BFD-B642-3FDF1AB3871B}" type="pres">
      <dgm:prSet presAssocID="{4948C620-2DA6-4A44-8591-2AF10027123E}" presName="hierRoot1" presStyleCnt="0"/>
      <dgm:spPr/>
    </dgm:pt>
    <dgm:pt modelId="{8B2E5648-18A8-4261-996F-6BC27DA035FB}" type="pres">
      <dgm:prSet presAssocID="{4948C620-2DA6-4A44-8591-2AF10027123E}" presName="composite" presStyleCnt="0"/>
      <dgm:spPr/>
    </dgm:pt>
    <dgm:pt modelId="{FFDE8C10-D094-4F46-998B-1C93ED49E1AB}" type="pres">
      <dgm:prSet presAssocID="{4948C620-2DA6-4A44-8591-2AF10027123E}" presName="background" presStyleLbl="node0" presStyleIdx="0" presStyleCnt="2"/>
      <dgm:spPr/>
    </dgm:pt>
    <dgm:pt modelId="{8E531568-A01F-4C9B-B7C9-0840E084F1D3}" type="pres">
      <dgm:prSet presAssocID="{4948C620-2DA6-4A44-8591-2AF10027123E}" presName="text" presStyleLbl="fgAcc0" presStyleIdx="0" presStyleCnt="2">
        <dgm:presLayoutVars>
          <dgm:chPref val="3"/>
        </dgm:presLayoutVars>
      </dgm:prSet>
      <dgm:spPr/>
    </dgm:pt>
    <dgm:pt modelId="{A059F92C-F928-4892-BB52-3437006BEA6D}" type="pres">
      <dgm:prSet presAssocID="{4948C620-2DA6-4A44-8591-2AF10027123E}" presName="hierChild2" presStyleCnt="0"/>
      <dgm:spPr/>
    </dgm:pt>
    <dgm:pt modelId="{D41E416F-14DD-4340-A327-771338A36B2B}" type="pres">
      <dgm:prSet presAssocID="{C4A89A1D-E635-413E-B5D9-93F0233AC9CF}" presName="hierRoot1" presStyleCnt="0"/>
      <dgm:spPr/>
    </dgm:pt>
    <dgm:pt modelId="{CBDEE868-A681-4CC7-ADA5-7038C1F8FDF9}" type="pres">
      <dgm:prSet presAssocID="{C4A89A1D-E635-413E-B5D9-93F0233AC9CF}" presName="composite" presStyleCnt="0"/>
      <dgm:spPr/>
    </dgm:pt>
    <dgm:pt modelId="{96FD6C1F-5156-44A7-AA64-851836C7ABA5}" type="pres">
      <dgm:prSet presAssocID="{C4A89A1D-E635-413E-B5D9-93F0233AC9CF}" presName="background" presStyleLbl="node0" presStyleIdx="1" presStyleCnt="2"/>
      <dgm:spPr/>
    </dgm:pt>
    <dgm:pt modelId="{B94E9D3B-7995-4FA6-ACB4-5FA1B63A01A5}" type="pres">
      <dgm:prSet presAssocID="{C4A89A1D-E635-413E-B5D9-93F0233AC9CF}" presName="text" presStyleLbl="fgAcc0" presStyleIdx="1" presStyleCnt="2">
        <dgm:presLayoutVars>
          <dgm:chPref val="3"/>
        </dgm:presLayoutVars>
      </dgm:prSet>
      <dgm:spPr/>
    </dgm:pt>
    <dgm:pt modelId="{3268E3F2-8A59-4BEB-8773-A9592D20AB7B}" type="pres">
      <dgm:prSet presAssocID="{C4A89A1D-E635-413E-B5D9-93F0233AC9CF}" presName="hierChild2" presStyleCnt="0"/>
      <dgm:spPr/>
    </dgm:pt>
  </dgm:ptLst>
  <dgm:cxnLst>
    <dgm:cxn modelId="{4E1C490A-ED54-4028-8BD7-5A05C75B7D44}" srcId="{235034E9-2C08-4D27-992C-BD57EBA40A08}" destId="{C4A89A1D-E635-413E-B5D9-93F0233AC9CF}" srcOrd="1" destOrd="0" parTransId="{404D12BF-CB36-4C43-95CC-358F9C0E715B}" sibTransId="{C75B0053-C85E-4130-9516-9ACC6533584E}"/>
    <dgm:cxn modelId="{E091E118-A246-4E8E-B7A0-F89A8830847D}" type="presOf" srcId="{235034E9-2C08-4D27-992C-BD57EBA40A08}" destId="{1E135F79-95BF-4E37-9E5C-4A9D3ABB70C5}" srcOrd="0" destOrd="0" presId="urn:microsoft.com/office/officeart/2005/8/layout/hierarchy1"/>
    <dgm:cxn modelId="{FA234776-6FDF-4E7F-8941-BBB6659E8819}" type="presOf" srcId="{C4A89A1D-E635-413E-B5D9-93F0233AC9CF}" destId="{B94E9D3B-7995-4FA6-ACB4-5FA1B63A01A5}" srcOrd="0" destOrd="0" presId="urn:microsoft.com/office/officeart/2005/8/layout/hierarchy1"/>
    <dgm:cxn modelId="{2074BCB8-A92E-42BB-91ED-6483525ACFD8}" type="presOf" srcId="{4948C620-2DA6-4A44-8591-2AF10027123E}" destId="{8E531568-A01F-4C9B-B7C9-0840E084F1D3}" srcOrd="0" destOrd="0" presId="urn:microsoft.com/office/officeart/2005/8/layout/hierarchy1"/>
    <dgm:cxn modelId="{B21634C6-D4B2-4AAB-9794-DF4223B629FB}" srcId="{235034E9-2C08-4D27-992C-BD57EBA40A08}" destId="{4948C620-2DA6-4A44-8591-2AF10027123E}" srcOrd="0" destOrd="0" parTransId="{DE9F134A-7C3B-4299-8F9F-DD836FEF67A8}" sibTransId="{354962CC-61AE-47B2-8B9C-F0EBEC82820F}"/>
    <dgm:cxn modelId="{7243AC49-83F4-42A6-882B-F6A6EE0ACB34}" type="presParOf" srcId="{1E135F79-95BF-4E37-9E5C-4A9D3ABB70C5}" destId="{56001DA4-8F97-4BFD-B642-3FDF1AB3871B}" srcOrd="0" destOrd="0" presId="urn:microsoft.com/office/officeart/2005/8/layout/hierarchy1"/>
    <dgm:cxn modelId="{643EF9EA-FE6F-4DA6-9AD2-8150055B9A64}" type="presParOf" srcId="{56001DA4-8F97-4BFD-B642-3FDF1AB3871B}" destId="{8B2E5648-18A8-4261-996F-6BC27DA035FB}" srcOrd="0" destOrd="0" presId="urn:microsoft.com/office/officeart/2005/8/layout/hierarchy1"/>
    <dgm:cxn modelId="{C7BA1154-1EA1-4C63-B319-4AA2C93BB6B0}" type="presParOf" srcId="{8B2E5648-18A8-4261-996F-6BC27DA035FB}" destId="{FFDE8C10-D094-4F46-998B-1C93ED49E1AB}" srcOrd="0" destOrd="0" presId="urn:microsoft.com/office/officeart/2005/8/layout/hierarchy1"/>
    <dgm:cxn modelId="{6EABB4FE-FADE-4EF4-9BA7-153DBE27E731}" type="presParOf" srcId="{8B2E5648-18A8-4261-996F-6BC27DA035FB}" destId="{8E531568-A01F-4C9B-B7C9-0840E084F1D3}" srcOrd="1" destOrd="0" presId="urn:microsoft.com/office/officeart/2005/8/layout/hierarchy1"/>
    <dgm:cxn modelId="{1FDD10C5-5821-44C9-954F-E4E80A5DC03F}" type="presParOf" srcId="{56001DA4-8F97-4BFD-B642-3FDF1AB3871B}" destId="{A059F92C-F928-4892-BB52-3437006BEA6D}" srcOrd="1" destOrd="0" presId="urn:microsoft.com/office/officeart/2005/8/layout/hierarchy1"/>
    <dgm:cxn modelId="{D97F3247-8CAE-4C3A-BDAF-3864C755FCB1}" type="presParOf" srcId="{1E135F79-95BF-4E37-9E5C-4A9D3ABB70C5}" destId="{D41E416F-14DD-4340-A327-771338A36B2B}" srcOrd="1" destOrd="0" presId="urn:microsoft.com/office/officeart/2005/8/layout/hierarchy1"/>
    <dgm:cxn modelId="{67323F77-0E9F-4BBD-98CE-B2E50959EE31}" type="presParOf" srcId="{D41E416F-14DD-4340-A327-771338A36B2B}" destId="{CBDEE868-A681-4CC7-ADA5-7038C1F8FDF9}" srcOrd="0" destOrd="0" presId="urn:microsoft.com/office/officeart/2005/8/layout/hierarchy1"/>
    <dgm:cxn modelId="{6FB1B815-DDA9-4D65-9CF2-56C8B32B9D54}" type="presParOf" srcId="{CBDEE868-A681-4CC7-ADA5-7038C1F8FDF9}" destId="{96FD6C1F-5156-44A7-AA64-851836C7ABA5}" srcOrd="0" destOrd="0" presId="urn:microsoft.com/office/officeart/2005/8/layout/hierarchy1"/>
    <dgm:cxn modelId="{2CB8D059-BF0D-454C-9FC2-75823A62EB57}" type="presParOf" srcId="{CBDEE868-A681-4CC7-ADA5-7038C1F8FDF9}" destId="{B94E9D3B-7995-4FA6-ACB4-5FA1B63A01A5}" srcOrd="1" destOrd="0" presId="urn:microsoft.com/office/officeart/2005/8/layout/hierarchy1"/>
    <dgm:cxn modelId="{5AC32D49-61A5-4DFD-9387-0630E9E3290D}" type="presParOf" srcId="{D41E416F-14DD-4340-A327-771338A36B2B}" destId="{3268E3F2-8A59-4BEB-8773-A9592D20AB7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B2172-C04B-4264-833F-15CF1AD47EC0}"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E01844DD-D3FA-4160-A85E-8F91A37239DB}">
      <dgm:prSet/>
      <dgm:spPr/>
      <dgm:t>
        <a:bodyPr/>
        <a:lstStyle/>
        <a:p>
          <a:r>
            <a:rPr lang="en-US"/>
            <a:t>Automated Gas Chromatographs (AutoGCs)</a:t>
          </a:r>
        </a:p>
      </dgm:t>
    </dgm:pt>
    <dgm:pt modelId="{83BCDAE7-DD2D-45F0-A807-2B3E3D61DD15}" type="parTrans" cxnId="{AE3A973F-6CDC-4A3F-81D8-CAE71A0F2B79}">
      <dgm:prSet/>
      <dgm:spPr/>
      <dgm:t>
        <a:bodyPr/>
        <a:lstStyle/>
        <a:p>
          <a:endParaRPr lang="en-US"/>
        </a:p>
      </dgm:t>
    </dgm:pt>
    <dgm:pt modelId="{F1F365B4-EA6B-418C-8F94-4B94DE32BD3C}" type="sibTrans" cxnId="{AE3A973F-6CDC-4A3F-81D8-CAE71A0F2B79}">
      <dgm:prSet/>
      <dgm:spPr/>
      <dgm:t>
        <a:bodyPr/>
        <a:lstStyle/>
        <a:p>
          <a:endParaRPr lang="en-US"/>
        </a:p>
      </dgm:t>
    </dgm:pt>
    <dgm:pt modelId="{1B172502-3CF5-4798-914C-E33A414E09B5}">
      <dgm:prSet/>
      <dgm:spPr/>
      <dgm:t>
        <a:bodyPr/>
        <a:lstStyle/>
        <a:p>
          <a:r>
            <a:rPr lang="en-US"/>
            <a:t>AutoGC analysis can measure ambient levels of a number of VOCs which are of interest from an ozone formation standpoint even when their concentrations are too low to cause direct health effects.</a:t>
          </a:r>
        </a:p>
      </dgm:t>
    </dgm:pt>
    <dgm:pt modelId="{E3CDBF1E-4BC7-42A8-B26F-0246BD699A45}" type="parTrans" cxnId="{40BC1240-F5BF-48D2-85C3-CCDB691C15FE}">
      <dgm:prSet/>
      <dgm:spPr/>
      <dgm:t>
        <a:bodyPr/>
        <a:lstStyle/>
        <a:p>
          <a:endParaRPr lang="en-US"/>
        </a:p>
      </dgm:t>
    </dgm:pt>
    <dgm:pt modelId="{5C0F523B-65BE-4F70-831C-0490378346D5}" type="sibTrans" cxnId="{40BC1240-F5BF-48D2-85C3-CCDB691C15FE}">
      <dgm:prSet/>
      <dgm:spPr/>
      <dgm:t>
        <a:bodyPr/>
        <a:lstStyle/>
        <a:p>
          <a:endParaRPr lang="en-US"/>
        </a:p>
      </dgm:t>
    </dgm:pt>
    <dgm:pt modelId="{A418607C-5F65-4876-9BDC-FAB48FDE553B}">
      <dgm:prSet/>
      <dgm:spPr/>
      <dgm:t>
        <a:bodyPr/>
        <a:lstStyle/>
        <a:p>
          <a:r>
            <a:rPr lang="en-US"/>
            <a:t>Limitations</a:t>
          </a:r>
        </a:p>
      </dgm:t>
    </dgm:pt>
    <dgm:pt modelId="{D53DC2B9-D37D-4C7A-A9EA-6C161A62BFD4}" type="parTrans" cxnId="{47D25ADB-6ADD-46D0-B895-1E0588A06FBF}">
      <dgm:prSet/>
      <dgm:spPr/>
      <dgm:t>
        <a:bodyPr/>
        <a:lstStyle/>
        <a:p>
          <a:endParaRPr lang="en-US"/>
        </a:p>
      </dgm:t>
    </dgm:pt>
    <dgm:pt modelId="{6F85C53A-D426-4BDF-A782-F61D0143F2AA}" type="sibTrans" cxnId="{47D25ADB-6ADD-46D0-B895-1E0588A06FBF}">
      <dgm:prSet/>
      <dgm:spPr/>
      <dgm:t>
        <a:bodyPr/>
        <a:lstStyle/>
        <a:p>
          <a:endParaRPr lang="en-US"/>
        </a:p>
      </dgm:t>
    </dgm:pt>
    <dgm:pt modelId="{7752CC65-D1CE-4E3C-9C2E-41A2D3F536D4}">
      <dgm:prSet/>
      <dgm:spPr/>
      <dgm:t>
        <a:bodyPr/>
        <a:lstStyle/>
        <a:p>
          <a:r>
            <a:rPr lang="en-US"/>
            <a:t>AutoGCs are designed to collect data at a given sampling location over time. These instruments can be configured to automatically provide speciation data for 1 to over 55 targeted VOCs. However, the more extensive the list of compounds the more difficult it becomes to ensure that any single compound is correctly identified and quantitated at the time of initial data capture. Changes to compound identification and concentration are not uncommon during this validation process. Therefore, it is vital that the data user is aware of the high degree of uncertainty in the unvalidated data and any actions or decisions based on unvalidated data should be made with this in mind.</a:t>
          </a:r>
        </a:p>
      </dgm:t>
    </dgm:pt>
    <dgm:pt modelId="{8D27845A-1470-4A12-A6C9-9A902D462FBD}" type="parTrans" cxnId="{C103B4E9-07C3-447A-B3B4-620E4F770F2C}">
      <dgm:prSet/>
      <dgm:spPr/>
      <dgm:t>
        <a:bodyPr/>
        <a:lstStyle/>
        <a:p>
          <a:endParaRPr lang="en-US"/>
        </a:p>
      </dgm:t>
    </dgm:pt>
    <dgm:pt modelId="{7F1ED20A-EB56-4865-9727-EC4E51B3E884}" type="sibTrans" cxnId="{C103B4E9-07C3-447A-B3B4-620E4F770F2C}">
      <dgm:prSet/>
      <dgm:spPr/>
      <dgm:t>
        <a:bodyPr/>
        <a:lstStyle/>
        <a:p>
          <a:endParaRPr lang="en-US"/>
        </a:p>
      </dgm:t>
    </dgm:pt>
    <dgm:pt modelId="{EC9EFDD3-E93D-4F0A-BCD7-94F727AD1FA4}" type="pres">
      <dgm:prSet presAssocID="{18EB2172-C04B-4264-833F-15CF1AD47EC0}" presName="linear" presStyleCnt="0">
        <dgm:presLayoutVars>
          <dgm:dir/>
          <dgm:animLvl val="lvl"/>
          <dgm:resizeHandles val="exact"/>
        </dgm:presLayoutVars>
      </dgm:prSet>
      <dgm:spPr/>
    </dgm:pt>
    <dgm:pt modelId="{12F44DCC-7B4D-41FC-9B3D-3368C661D957}" type="pres">
      <dgm:prSet presAssocID="{E01844DD-D3FA-4160-A85E-8F91A37239DB}" presName="parentLin" presStyleCnt="0"/>
      <dgm:spPr/>
    </dgm:pt>
    <dgm:pt modelId="{CE73548E-CCC7-421E-A933-DB7CD556DFF2}" type="pres">
      <dgm:prSet presAssocID="{E01844DD-D3FA-4160-A85E-8F91A37239DB}" presName="parentLeftMargin" presStyleLbl="node1" presStyleIdx="0" presStyleCnt="2"/>
      <dgm:spPr/>
    </dgm:pt>
    <dgm:pt modelId="{193CE537-0BD3-402D-9551-25105173B782}" type="pres">
      <dgm:prSet presAssocID="{E01844DD-D3FA-4160-A85E-8F91A37239DB}" presName="parentText" presStyleLbl="node1" presStyleIdx="0" presStyleCnt="2">
        <dgm:presLayoutVars>
          <dgm:chMax val="0"/>
          <dgm:bulletEnabled val="1"/>
        </dgm:presLayoutVars>
      </dgm:prSet>
      <dgm:spPr/>
    </dgm:pt>
    <dgm:pt modelId="{B6F25BCE-4BE4-4D5F-A107-1B702B442298}" type="pres">
      <dgm:prSet presAssocID="{E01844DD-D3FA-4160-A85E-8F91A37239DB}" presName="negativeSpace" presStyleCnt="0"/>
      <dgm:spPr/>
    </dgm:pt>
    <dgm:pt modelId="{A4E0D0A7-EF89-425F-96D4-74E9C01FBC33}" type="pres">
      <dgm:prSet presAssocID="{E01844DD-D3FA-4160-A85E-8F91A37239DB}" presName="childText" presStyleLbl="conFgAcc1" presStyleIdx="0" presStyleCnt="2">
        <dgm:presLayoutVars>
          <dgm:bulletEnabled val="1"/>
        </dgm:presLayoutVars>
      </dgm:prSet>
      <dgm:spPr/>
    </dgm:pt>
    <dgm:pt modelId="{272B5E96-D5B0-487A-B689-C4FB6CC5DC30}" type="pres">
      <dgm:prSet presAssocID="{F1F365B4-EA6B-418C-8F94-4B94DE32BD3C}" presName="spaceBetweenRectangles" presStyleCnt="0"/>
      <dgm:spPr/>
    </dgm:pt>
    <dgm:pt modelId="{4AB89BA3-B264-4300-8915-59A20AE76DF9}" type="pres">
      <dgm:prSet presAssocID="{A418607C-5F65-4876-9BDC-FAB48FDE553B}" presName="parentLin" presStyleCnt="0"/>
      <dgm:spPr/>
    </dgm:pt>
    <dgm:pt modelId="{E1735FBD-2169-4D7F-9A0B-69602737793C}" type="pres">
      <dgm:prSet presAssocID="{A418607C-5F65-4876-9BDC-FAB48FDE553B}" presName="parentLeftMargin" presStyleLbl="node1" presStyleIdx="0" presStyleCnt="2"/>
      <dgm:spPr/>
    </dgm:pt>
    <dgm:pt modelId="{05D03629-9FAB-436E-B0C8-727A162AAEB2}" type="pres">
      <dgm:prSet presAssocID="{A418607C-5F65-4876-9BDC-FAB48FDE553B}" presName="parentText" presStyleLbl="node1" presStyleIdx="1" presStyleCnt="2">
        <dgm:presLayoutVars>
          <dgm:chMax val="0"/>
          <dgm:bulletEnabled val="1"/>
        </dgm:presLayoutVars>
      </dgm:prSet>
      <dgm:spPr/>
    </dgm:pt>
    <dgm:pt modelId="{12615233-8B6B-4AC0-AA4E-601CBAD9676B}" type="pres">
      <dgm:prSet presAssocID="{A418607C-5F65-4876-9BDC-FAB48FDE553B}" presName="negativeSpace" presStyleCnt="0"/>
      <dgm:spPr/>
    </dgm:pt>
    <dgm:pt modelId="{4FD036D8-408F-4F0D-990A-86A16E2E7C76}" type="pres">
      <dgm:prSet presAssocID="{A418607C-5F65-4876-9BDC-FAB48FDE553B}" presName="childText" presStyleLbl="conFgAcc1" presStyleIdx="1" presStyleCnt="2">
        <dgm:presLayoutVars>
          <dgm:bulletEnabled val="1"/>
        </dgm:presLayoutVars>
      </dgm:prSet>
      <dgm:spPr/>
    </dgm:pt>
  </dgm:ptLst>
  <dgm:cxnLst>
    <dgm:cxn modelId="{C005410D-0D45-44A2-AEEB-DBE8A8BF7A33}" type="presOf" srcId="{1B172502-3CF5-4798-914C-E33A414E09B5}" destId="{A4E0D0A7-EF89-425F-96D4-74E9C01FBC33}" srcOrd="0" destOrd="0" presId="urn:microsoft.com/office/officeart/2005/8/layout/list1"/>
    <dgm:cxn modelId="{00D4BD1A-AF04-4B22-900B-1C3B1EB11A39}" type="presOf" srcId="{E01844DD-D3FA-4160-A85E-8F91A37239DB}" destId="{CE73548E-CCC7-421E-A933-DB7CD556DFF2}" srcOrd="0" destOrd="0" presId="urn:microsoft.com/office/officeart/2005/8/layout/list1"/>
    <dgm:cxn modelId="{8FBAE02F-1F1F-453C-B03F-F0E32F7057CC}" type="presOf" srcId="{A418607C-5F65-4876-9BDC-FAB48FDE553B}" destId="{E1735FBD-2169-4D7F-9A0B-69602737793C}" srcOrd="0" destOrd="0" presId="urn:microsoft.com/office/officeart/2005/8/layout/list1"/>
    <dgm:cxn modelId="{AE3A973F-6CDC-4A3F-81D8-CAE71A0F2B79}" srcId="{18EB2172-C04B-4264-833F-15CF1AD47EC0}" destId="{E01844DD-D3FA-4160-A85E-8F91A37239DB}" srcOrd="0" destOrd="0" parTransId="{83BCDAE7-DD2D-45F0-A807-2B3E3D61DD15}" sibTransId="{F1F365B4-EA6B-418C-8F94-4B94DE32BD3C}"/>
    <dgm:cxn modelId="{40BC1240-F5BF-48D2-85C3-CCDB691C15FE}" srcId="{E01844DD-D3FA-4160-A85E-8F91A37239DB}" destId="{1B172502-3CF5-4798-914C-E33A414E09B5}" srcOrd="0" destOrd="0" parTransId="{E3CDBF1E-4BC7-42A8-B26F-0246BD699A45}" sibTransId="{5C0F523B-65BE-4F70-831C-0490378346D5}"/>
    <dgm:cxn modelId="{F0000148-997B-456E-85AA-8E1E18B71080}" type="presOf" srcId="{E01844DD-D3FA-4160-A85E-8F91A37239DB}" destId="{193CE537-0BD3-402D-9551-25105173B782}" srcOrd="1" destOrd="0" presId="urn:microsoft.com/office/officeart/2005/8/layout/list1"/>
    <dgm:cxn modelId="{80767D6D-093A-434C-8BDF-8E8CB6FCAE15}" type="presOf" srcId="{7752CC65-D1CE-4E3C-9C2E-41A2D3F536D4}" destId="{4FD036D8-408F-4F0D-990A-86A16E2E7C76}" srcOrd="0" destOrd="0" presId="urn:microsoft.com/office/officeart/2005/8/layout/list1"/>
    <dgm:cxn modelId="{5A85547B-D82E-4350-9C08-1E0738F7B6CC}" type="presOf" srcId="{A418607C-5F65-4876-9BDC-FAB48FDE553B}" destId="{05D03629-9FAB-436E-B0C8-727A162AAEB2}" srcOrd="1" destOrd="0" presId="urn:microsoft.com/office/officeart/2005/8/layout/list1"/>
    <dgm:cxn modelId="{47D25ADB-6ADD-46D0-B895-1E0588A06FBF}" srcId="{18EB2172-C04B-4264-833F-15CF1AD47EC0}" destId="{A418607C-5F65-4876-9BDC-FAB48FDE553B}" srcOrd="1" destOrd="0" parTransId="{D53DC2B9-D37D-4C7A-A9EA-6C161A62BFD4}" sibTransId="{6F85C53A-D426-4BDF-A782-F61D0143F2AA}"/>
    <dgm:cxn modelId="{C103B4E9-07C3-447A-B3B4-620E4F770F2C}" srcId="{A418607C-5F65-4876-9BDC-FAB48FDE553B}" destId="{7752CC65-D1CE-4E3C-9C2E-41A2D3F536D4}" srcOrd="0" destOrd="0" parTransId="{8D27845A-1470-4A12-A6C9-9A902D462FBD}" sibTransId="{7F1ED20A-EB56-4865-9727-EC4E51B3E884}"/>
    <dgm:cxn modelId="{BCEED1F4-64E9-4A9D-961D-F958D274D780}" type="presOf" srcId="{18EB2172-C04B-4264-833F-15CF1AD47EC0}" destId="{EC9EFDD3-E93D-4F0A-BCD7-94F727AD1FA4}" srcOrd="0" destOrd="0" presId="urn:microsoft.com/office/officeart/2005/8/layout/list1"/>
    <dgm:cxn modelId="{C97E07E2-7282-4372-A0DF-A5C27665471B}" type="presParOf" srcId="{EC9EFDD3-E93D-4F0A-BCD7-94F727AD1FA4}" destId="{12F44DCC-7B4D-41FC-9B3D-3368C661D957}" srcOrd="0" destOrd="0" presId="urn:microsoft.com/office/officeart/2005/8/layout/list1"/>
    <dgm:cxn modelId="{E5EF48FB-E2C0-460F-A399-D7585CFDF391}" type="presParOf" srcId="{12F44DCC-7B4D-41FC-9B3D-3368C661D957}" destId="{CE73548E-CCC7-421E-A933-DB7CD556DFF2}" srcOrd="0" destOrd="0" presId="urn:microsoft.com/office/officeart/2005/8/layout/list1"/>
    <dgm:cxn modelId="{FB70BAE6-AE4F-49B8-8DE7-F78D8516C66E}" type="presParOf" srcId="{12F44DCC-7B4D-41FC-9B3D-3368C661D957}" destId="{193CE537-0BD3-402D-9551-25105173B782}" srcOrd="1" destOrd="0" presId="urn:microsoft.com/office/officeart/2005/8/layout/list1"/>
    <dgm:cxn modelId="{0D26ECFB-506B-4247-B47B-3EF506C1F053}" type="presParOf" srcId="{EC9EFDD3-E93D-4F0A-BCD7-94F727AD1FA4}" destId="{B6F25BCE-4BE4-4D5F-A107-1B702B442298}" srcOrd="1" destOrd="0" presId="urn:microsoft.com/office/officeart/2005/8/layout/list1"/>
    <dgm:cxn modelId="{6E77266C-DA11-4A4A-BAAB-59497F83E0DB}" type="presParOf" srcId="{EC9EFDD3-E93D-4F0A-BCD7-94F727AD1FA4}" destId="{A4E0D0A7-EF89-425F-96D4-74E9C01FBC33}" srcOrd="2" destOrd="0" presId="urn:microsoft.com/office/officeart/2005/8/layout/list1"/>
    <dgm:cxn modelId="{1D04EF1E-DD1B-4802-B5B2-C3C6D8FDACEB}" type="presParOf" srcId="{EC9EFDD3-E93D-4F0A-BCD7-94F727AD1FA4}" destId="{272B5E96-D5B0-487A-B689-C4FB6CC5DC30}" srcOrd="3" destOrd="0" presId="urn:microsoft.com/office/officeart/2005/8/layout/list1"/>
    <dgm:cxn modelId="{A24F76C5-C41A-435B-B999-53F14277935F}" type="presParOf" srcId="{EC9EFDD3-E93D-4F0A-BCD7-94F727AD1FA4}" destId="{4AB89BA3-B264-4300-8915-59A20AE76DF9}" srcOrd="4" destOrd="0" presId="urn:microsoft.com/office/officeart/2005/8/layout/list1"/>
    <dgm:cxn modelId="{A446621B-4E48-438C-B1B9-E530F3A0DAB0}" type="presParOf" srcId="{4AB89BA3-B264-4300-8915-59A20AE76DF9}" destId="{E1735FBD-2169-4D7F-9A0B-69602737793C}" srcOrd="0" destOrd="0" presId="urn:microsoft.com/office/officeart/2005/8/layout/list1"/>
    <dgm:cxn modelId="{666794FF-9C35-4298-B346-5647D395165A}" type="presParOf" srcId="{4AB89BA3-B264-4300-8915-59A20AE76DF9}" destId="{05D03629-9FAB-436E-B0C8-727A162AAEB2}" srcOrd="1" destOrd="0" presId="urn:microsoft.com/office/officeart/2005/8/layout/list1"/>
    <dgm:cxn modelId="{540E5487-5E6B-4C98-878F-C0C3A912D0E6}" type="presParOf" srcId="{EC9EFDD3-E93D-4F0A-BCD7-94F727AD1FA4}" destId="{12615233-8B6B-4AC0-AA4E-601CBAD9676B}" srcOrd="5" destOrd="0" presId="urn:microsoft.com/office/officeart/2005/8/layout/list1"/>
    <dgm:cxn modelId="{9C2C3558-7A9B-4E66-B2CC-C8C1F549A329}" type="presParOf" srcId="{EC9EFDD3-E93D-4F0A-BCD7-94F727AD1FA4}" destId="{4FD036D8-408F-4F0D-990A-86A16E2E7C76}"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3E119C-E92F-4E72-B468-F1BB15E1D93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9B27AFA-0B2A-4FF2-AFC9-F032F56DDDF6}">
      <dgm:prSet/>
      <dgm:spPr/>
      <dgm:t>
        <a:bodyPr/>
        <a:lstStyle/>
        <a:p>
          <a:r>
            <a:rPr lang="en-US"/>
            <a:t>There is NO National Ambient Air Quality Standard (NAAQS) for VOCs</a:t>
          </a:r>
        </a:p>
      </dgm:t>
    </dgm:pt>
    <dgm:pt modelId="{0D92E4E3-A13E-4F36-B380-62ECD0719F70}" type="parTrans" cxnId="{AB506593-43E6-4214-91AF-693D6C796E09}">
      <dgm:prSet/>
      <dgm:spPr/>
      <dgm:t>
        <a:bodyPr/>
        <a:lstStyle/>
        <a:p>
          <a:endParaRPr lang="en-US"/>
        </a:p>
      </dgm:t>
    </dgm:pt>
    <dgm:pt modelId="{534E3DFA-5EA8-4666-BA2A-06AC5CADA57A}" type="sibTrans" cxnId="{AB506593-43E6-4214-91AF-693D6C796E09}">
      <dgm:prSet/>
      <dgm:spPr/>
      <dgm:t>
        <a:bodyPr/>
        <a:lstStyle/>
        <a:p>
          <a:endParaRPr lang="en-US"/>
        </a:p>
      </dgm:t>
    </dgm:pt>
    <dgm:pt modelId="{08470F3B-E3FB-4DFC-9676-AE7ABE745ACD}">
      <dgm:prSet/>
      <dgm:spPr/>
      <dgm:t>
        <a:bodyPr/>
        <a:lstStyle/>
        <a:p>
          <a:r>
            <a:rPr lang="en-US"/>
            <a:t>Instead, EPA regulates:</a:t>
          </a:r>
        </a:p>
      </dgm:t>
    </dgm:pt>
    <dgm:pt modelId="{EB5B9A50-EAAC-4FAA-8507-FEFFF859F831}" type="parTrans" cxnId="{EFBFF365-E94E-4B56-A5B0-36119C4B9E53}">
      <dgm:prSet/>
      <dgm:spPr/>
      <dgm:t>
        <a:bodyPr/>
        <a:lstStyle/>
        <a:p>
          <a:endParaRPr lang="en-US"/>
        </a:p>
      </dgm:t>
    </dgm:pt>
    <dgm:pt modelId="{BF7F8DA9-9B09-49CA-BAC3-067340CDE67B}" type="sibTrans" cxnId="{EFBFF365-E94E-4B56-A5B0-36119C4B9E53}">
      <dgm:prSet/>
      <dgm:spPr/>
      <dgm:t>
        <a:bodyPr/>
        <a:lstStyle/>
        <a:p>
          <a:endParaRPr lang="en-US"/>
        </a:p>
      </dgm:t>
    </dgm:pt>
    <dgm:pt modelId="{4E8C4538-F184-432C-8004-5636D1E80190}">
      <dgm:prSet/>
      <dgm:spPr/>
      <dgm:t>
        <a:bodyPr/>
        <a:lstStyle/>
        <a:p>
          <a:r>
            <a:rPr lang="en-US"/>
            <a:t>Ground-level ozone (formed from VOCs + NOₓ + sunlight) </a:t>
          </a:r>
        </a:p>
      </dgm:t>
    </dgm:pt>
    <dgm:pt modelId="{2DBC3F80-BD14-4FF2-9E66-8B9CE390A7ED}" type="parTrans" cxnId="{0AAADC0A-C00D-48F6-83BB-F97B3D9E4820}">
      <dgm:prSet/>
      <dgm:spPr/>
      <dgm:t>
        <a:bodyPr/>
        <a:lstStyle/>
        <a:p>
          <a:endParaRPr lang="en-US"/>
        </a:p>
      </dgm:t>
    </dgm:pt>
    <dgm:pt modelId="{F3609356-E299-4F82-8343-1E7F7F3BFC73}" type="sibTrans" cxnId="{0AAADC0A-C00D-48F6-83BB-F97B3D9E4820}">
      <dgm:prSet/>
      <dgm:spPr/>
      <dgm:t>
        <a:bodyPr/>
        <a:lstStyle/>
        <a:p>
          <a:endParaRPr lang="en-US"/>
        </a:p>
      </dgm:t>
    </dgm:pt>
    <dgm:pt modelId="{E559B21E-A754-4903-952D-98D0474F018C}">
      <dgm:prSet/>
      <dgm:spPr/>
      <dgm:t>
        <a:bodyPr/>
        <a:lstStyle/>
        <a:p>
          <a:r>
            <a:rPr lang="en-US"/>
            <a:t>Hazardous Air Pollutants (HAPs) such as benzene </a:t>
          </a:r>
        </a:p>
      </dgm:t>
    </dgm:pt>
    <dgm:pt modelId="{47B05012-C4F7-4E31-82EF-76DD48B223CD}" type="parTrans" cxnId="{C7DE9D98-65C8-4313-91A4-D6C7E0E09880}">
      <dgm:prSet/>
      <dgm:spPr/>
      <dgm:t>
        <a:bodyPr/>
        <a:lstStyle/>
        <a:p>
          <a:endParaRPr lang="en-US"/>
        </a:p>
      </dgm:t>
    </dgm:pt>
    <dgm:pt modelId="{5FC3CCA4-3535-48D9-9229-468F3AFB187E}" type="sibTrans" cxnId="{C7DE9D98-65C8-4313-91A4-D6C7E0E09880}">
      <dgm:prSet/>
      <dgm:spPr/>
      <dgm:t>
        <a:bodyPr/>
        <a:lstStyle/>
        <a:p>
          <a:endParaRPr lang="en-US"/>
        </a:p>
      </dgm:t>
    </dgm:pt>
    <dgm:pt modelId="{1D582144-9965-4434-A5FF-512D75112983}">
      <dgm:prSet/>
      <dgm:spPr/>
      <dgm:t>
        <a:bodyPr/>
        <a:lstStyle/>
        <a:p>
          <a:r>
            <a:rPr lang="en-US"/>
            <a:t>Industrial VOC emissions</a:t>
          </a:r>
        </a:p>
      </dgm:t>
    </dgm:pt>
    <dgm:pt modelId="{21895E02-70F8-44EB-A377-F40D1E86145C}" type="parTrans" cxnId="{4DBA2BB5-B268-479C-B55A-282E7C0A8F73}">
      <dgm:prSet/>
      <dgm:spPr/>
      <dgm:t>
        <a:bodyPr/>
        <a:lstStyle/>
        <a:p>
          <a:endParaRPr lang="en-US"/>
        </a:p>
      </dgm:t>
    </dgm:pt>
    <dgm:pt modelId="{09D97B7F-BF43-408D-A6CA-B6E3ED14E2AD}" type="sibTrans" cxnId="{4DBA2BB5-B268-479C-B55A-282E7C0A8F73}">
      <dgm:prSet/>
      <dgm:spPr/>
      <dgm:t>
        <a:bodyPr/>
        <a:lstStyle/>
        <a:p>
          <a:endParaRPr lang="en-US"/>
        </a:p>
      </dgm:t>
    </dgm:pt>
    <dgm:pt modelId="{2FD1DD31-C46B-46F5-A2E4-5D2FB3AA46C3}">
      <dgm:prSet/>
      <dgm:spPr/>
      <dgm:t>
        <a:bodyPr/>
        <a:lstStyle/>
        <a:p>
          <a:r>
            <a:rPr lang="en-US"/>
            <a:t>NO universal Method codes </a:t>
          </a:r>
        </a:p>
      </dgm:t>
    </dgm:pt>
    <dgm:pt modelId="{4CE95BBB-D05C-4FF2-AF19-5F43D6568D0D}" type="parTrans" cxnId="{F046B48F-3723-46FC-863D-4013C93B1CD9}">
      <dgm:prSet/>
      <dgm:spPr/>
      <dgm:t>
        <a:bodyPr/>
        <a:lstStyle/>
        <a:p>
          <a:endParaRPr lang="en-US"/>
        </a:p>
      </dgm:t>
    </dgm:pt>
    <dgm:pt modelId="{18BCE57D-877C-4227-82B5-E93E58AFCD14}" type="sibTrans" cxnId="{F046B48F-3723-46FC-863D-4013C93B1CD9}">
      <dgm:prSet/>
      <dgm:spPr/>
      <dgm:t>
        <a:bodyPr/>
        <a:lstStyle/>
        <a:p>
          <a:endParaRPr lang="en-US"/>
        </a:p>
      </dgm:t>
    </dgm:pt>
    <dgm:pt modelId="{484765AA-7391-446F-AD1F-38D746897DF5}" type="pres">
      <dgm:prSet presAssocID="{743E119C-E92F-4E72-B468-F1BB15E1D93C}" presName="linear" presStyleCnt="0">
        <dgm:presLayoutVars>
          <dgm:animLvl val="lvl"/>
          <dgm:resizeHandles val="exact"/>
        </dgm:presLayoutVars>
      </dgm:prSet>
      <dgm:spPr/>
    </dgm:pt>
    <dgm:pt modelId="{BEA57C17-ED77-4E22-8B3D-62600448C22C}" type="pres">
      <dgm:prSet presAssocID="{99B27AFA-0B2A-4FF2-AFC9-F032F56DDDF6}" presName="parentText" presStyleLbl="node1" presStyleIdx="0" presStyleCnt="3">
        <dgm:presLayoutVars>
          <dgm:chMax val="0"/>
          <dgm:bulletEnabled val="1"/>
        </dgm:presLayoutVars>
      </dgm:prSet>
      <dgm:spPr/>
    </dgm:pt>
    <dgm:pt modelId="{78199A5C-8FF9-4F8E-B599-33EA170D8517}" type="pres">
      <dgm:prSet presAssocID="{534E3DFA-5EA8-4666-BA2A-06AC5CADA57A}" presName="spacer" presStyleCnt="0"/>
      <dgm:spPr/>
    </dgm:pt>
    <dgm:pt modelId="{865DE444-221F-45F4-B83C-159ACA41C4FE}" type="pres">
      <dgm:prSet presAssocID="{08470F3B-E3FB-4DFC-9676-AE7ABE745ACD}" presName="parentText" presStyleLbl="node1" presStyleIdx="1" presStyleCnt="3">
        <dgm:presLayoutVars>
          <dgm:chMax val="0"/>
          <dgm:bulletEnabled val="1"/>
        </dgm:presLayoutVars>
      </dgm:prSet>
      <dgm:spPr/>
    </dgm:pt>
    <dgm:pt modelId="{1F3EDC32-4B90-4878-88DF-6702BB895465}" type="pres">
      <dgm:prSet presAssocID="{08470F3B-E3FB-4DFC-9676-AE7ABE745ACD}" presName="childText" presStyleLbl="revTx" presStyleIdx="0" presStyleCnt="1">
        <dgm:presLayoutVars>
          <dgm:bulletEnabled val="1"/>
        </dgm:presLayoutVars>
      </dgm:prSet>
      <dgm:spPr/>
    </dgm:pt>
    <dgm:pt modelId="{E69C995D-993A-431B-BD47-04AD4B799D10}" type="pres">
      <dgm:prSet presAssocID="{2FD1DD31-C46B-46F5-A2E4-5D2FB3AA46C3}" presName="parentText" presStyleLbl="node1" presStyleIdx="2" presStyleCnt="3">
        <dgm:presLayoutVars>
          <dgm:chMax val="0"/>
          <dgm:bulletEnabled val="1"/>
        </dgm:presLayoutVars>
      </dgm:prSet>
      <dgm:spPr/>
    </dgm:pt>
  </dgm:ptLst>
  <dgm:cxnLst>
    <dgm:cxn modelId="{0AAADC0A-C00D-48F6-83BB-F97B3D9E4820}" srcId="{08470F3B-E3FB-4DFC-9676-AE7ABE745ACD}" destId="{4E8C4538-F184-432C-8004-5636D1E80190}" srcOrd="0" destOrd="0" parTransId="{2DBC3F80-BD14-4FF2-9E66-8B9CE390A7ED}" sibTransId="{F3609356-E299-4F82-8343-1E7F7F3BFC73}"/>
    <dgm:cxn modelId="{AEB1265C-C8DF-4BC8-A0D7-668DAD6461A3}" type="presOf" srcId="{1D582144-9965-4434-A5FF-512D75112983}" destId="{1F3EDC32-4B90-4878-88DF-6702BB895465}" srcOrd="0" destOrd="2" presId="urn:microsoft.com/office/officeart/2005/8/layout/vList2"/>
    <dgm:cxn modelId="{F3065443-1EFA-4FCB-BE39-FA291D8AC942}" type="presOf" srcId="{08470F3B-E3FB-4DFC-9676-AE7ABE745ACD}" destId="{865DE444-221F-45F4-B83C-159ACA41C4FE}" srcOrd="0" destOrd="0" presId="urn:microsoft.com/office/officeart/2005/8/layout/vList2"/>
    <dgm:cxn modelId="{01318545-F403-4B7B-9E81-0344E319BA8D}" type="presOf" srcId="{2FD1DD31-C46B-46F5-A2E4-5D2FB3AA46C3}" destId="{E69C995D-993A-431B-BD47-04AD4B799D10}" srcOrd="0" destOrd="0" presId="urn:microsoft.com/office/officeart/2005/8/layout/vList2"/>
    <dgm:cxn modelId="{EFBFF365-E94E-4B56-A5B0-36119C4B9E53}" srcId="{743E119C-E92F-4E72-B468-F1BB15E1D93C}" destId="{08470F3B-E3FB-4DFC-9676-AE7ABE745ACD}" srcOrd="1" destOrd="0" parTransId="{EB5B9A50-EAAC-4FAA-8507-FEFFF859F831}" sibTransId="{BF7F8DA9-9B09-49CA-BAC3-067340CDE67B}"/>
    <dgm:cxn modelId="{E4DBB94A-E017-43AB-8A72-5FDFCFB44457}" type="presOf" srcId="{743E119C-E92F-4E72-B468-F1BB15E1D93C}" destId="{484765AA-7391-446F-AD1F-38D746897DF5}" srcOrd="0" destOrd="0" presId="urn:microsoft.com/office/officeart/2005/8/layout/vList2"/>
    <dgm:cxn modelId="{03369A7F-A502-4119-BBCB-FB7558C1B4FB}" type="presOf" srcId="{4E8C4538-F184-432C-8004-5636D1E80190}" destId="{1F3EDC32-4B90-4878-88DF-6702BB895465}" srcOrd="0" destOrd="0" presId="urn:microsoft.com/office/officeart/2005/8/layout/vList2"/>
    <dgm:cxn modelId="{8A758480-2C5C-4D1E-B12D-C9E380A6EC85}" type="presOf" srcId="{99B27AFA-0B2A-4FF2-AFC9-F032F56DDDF6}" destId="{BEA57C17-ED77-4E22-8B3D-62600448C22C}" srcOrd="0" destOrd="0" presId="urn:microsoft.com/office/officeart/2005/8/layout/vList2"/>
    <dgm:cxn modelId="{0606AD8D-4D72-437B-85E7-702BDDC8A6BB}" type="presOf" srcId="{E559B21E-A754-4903-952D-98D0474F018C}" destId="{1F3EDC32-4B90-4878-88DF-6702BB895465}" srcOrd="0" destOrd="1" presId="urn:microsoft.com/office/officeart/2005/8/layout/vList2"/>
    <dgm:cxn modelId="{F046B48F-3723-46FC-863D-4013C93B1CD9}" srcId="{743E119C-E92F-4E72-B468-F1BB15E1D93C}" destId="{2FD1DD31-C46B-46F5-A2E4-5D2FB3AA46C3}" srcOrd="2" destOrd="0" parTransId="{4CE95BBB-D05C-4FF2-AF19-5F43D6568D0D}" sibTransId="{18BCE57D-877C-4227-82B5-E93E58AFCD14}"/>
    <dgm:cxn modelId="{AB506593-43E6-4214-91AF-693D6C796E09}" srcId="{743E119C-E92F-4E72-B468-F1BB15E1D93C}" destId="{99B27AFA-0B2A-4FF2-AFC9-F032F56DDDF6}" srcOrd="0" destOrd="0" parTransId="{0D92E4E3-A13E-4F36-B380-62ECD0719F70}" sibTransId="{534E3DFA-5EA8-4666-BA2A-06AC5CADA57A}"/>
    <dgm:cxn modelId="{C7DE9D98-65C8-4313-91A4-D6C7E0E09880}" srcId="{08470F3B-E3FB-4DFC-9676-AE7ABE745ACD}" destId="{E559B21E-A754-4903-952D-98D0474F018C}" srcOrd="1" destOrd="0" parTransId="{47B05012-C4F7-4E31-82EF-76DD48B223CD}" sibTransId="{5FC3CCA4-3535-48D9-9229-468F3AFB187E}"/>
    <dgm:cxn modelId="{4DBA2BB5-B268-479C-B55A-282E7C0A8F73}" srcId="{08470F3B-E3FB-4DFC-9676-AE7ABE745ACD}" destId="{1D582144-9965-4434-A5FF-512D75112983}" srcOrd="2" destOrd="0" parTransId="{21895E02-70F8-44EB-A377-F40D1E86145C}" sibTransId="{09D97B7F-BF43-408D-A6CA-B6E3ED14E2AD}"/>
    <dgm:cxn modelId="{637173A9-4360-41CB-8BCB-137004EA4D00}" type="presParOf" srcId="{484765AA-7391-446F-AD1F-38D746897DF5}" destId="{BEA57C17-ED77-4E22-8B3D-62600448C22C}" srcOrd="0" destOrd="0" presId="urn:microsoft.com/office/officeart/2005/8/layout/vList2"/>
    <dgm:cxn modelId="{046B5501-2402-48DA-B501-09E333DEE780}" type="presParOf" srcId="{484765AA-7391-446F-AD1F-38D746897DF5}" destId="{78199A5C-8FF9-4F8E-B599-33EA170D8517}" srcOrd="1" destOrd="0" presId="urn:microsoft.com/office/officeart/2005/8/layout/vList2"/>
    <dgm:cxn modelId="{C6C0147F-D09B-4580-83BF-CAD978BB0944}" type="presParOf" srcId="{484765AA-7391-446F-AD1F-38D746897DF5}" destId="{865DE444-221F-45F4-B83C-159ACA41C4FE}" srcOrd="2" destOrd="0" presId="urn:microsoft.com/office/officeart/2005/8/layout/vList2"/>
    <dgm:cxn modelId="{269601D6-BD0B-44E3-9B9F-6D1C17F9A504}" type="presParOf" srcId="{484765AA-7391-446F-AD1F-38D746897DF5}" destId="{1F3EDC32-4B90-4878-88DF-6702BB895465}" srcOrd="3" destOrd="0" presId="urn:microsoft.com/office/officeart/2005/8/layout/vList2"/>
    <dgm:cxn modelId="{878E8E67-BF94-4F18-A47D-9CA368356DDA}" type="presParOf" srcId="{484765AA-7391-446F-AD1F-38D746897DF5}" destId="{E69C995D-993A-431B-BD47-04AD4B799D1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874D18-6ACC-46F7-9E13-D81428FF0D6D}">
      <dsp:nvSpPr>
        <dsp:cNvPr id="0" name=""/>
        <dsp:cNvSpPr/>
      </dsp:nvSpPr>
      <dsp:spPr>
        <a:xfrm>
          <a:off x="1333" y="3626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FED813-CA0D-4C15-92F5-7DA92C3C0933}">
      <dsp:nvSpPr>
        <dsp:cNvPr id="0" name=""/>
        <dsp:cNvSpPr/>
      </dsp:nvSpPr>
      <dsp:spPr>
        <a:xfrm>
          <a:off x="521579" y="8569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Section 109(b)(1) defines a primary standard as one “the attainment and maintenance of which in the judgment of the Administrator, based on [the air quality] criteria and allowing an adequate margin of safety, are requisite to protect the public health.” </a:t>
          </a:r>
          <a:r>
            <a:rPr lang="en-US" sz="1900" kern="1200" baseline="30000"/>
            <a:t>[1] </a:t>
          </a:r>
          <a:r>
            <a:rPr lang="en-US" sz="1900" kern="1200"/>
            <a:t>Section 109(b)(1). </a:t>
          </a:r>
        </a:p>
      </dsp:txBody>
      <dsp:txXfrm>
        <a:off x="608661" y="943998"/>
        <a:ext cx="4508047" cy="2799040"/>
      </dsp:txXfrm>
    </dsp:sp>
    <dsp:sp modelId="{07C4CAE1-79DE-4806-A585-78BCC363512B}">
      <dsp:nvSpPr>
        <dsp:cNvPr id="0" name=""/>
        <dsp:cNvSpPr/>
      </dsp:nvSpPr>
      <dsp:spPr>
        <a:xfrm>
          <a:off x="5724037" y="3626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E8906D-944D-4A9D-BA40-C0E241936BD1}">
      <dsp:nvSpPr>
        <dsp:cNvPr id="0" name=""/>
        <dsp:cNvSpPr/>
      </dsp:nvSpPr>
      <dsp:spPr>
        <a:xfrm>
          <a:off x="6244283" y="8569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 secondary standard, in turn, must “specify a level of air quality the attainment and maintenance of which, in the judgment of the Administrator, based on [the air quality] criteria, is requisite to protect the public welfare from any known or anticipated adverse effects associated with the presence of such pollutant in the ambient air.” </a:t>
          </a:r>
          <a:r>
            <a:rPr lang="en-US" sz="1900" kern="1200" baseline="30000"/>
            <a:t>[2] </a:t>
          </a:r>
          <a:r>
            <a:rPr lang="en-US" sz="1900" kern="1200"/>
            <a:t>Section 109(b)(2) </a:t>
          </a:r>
        </a:p>
      </dsp:txBody>
      <dsp:txXfrm>
        <a:off x="6331365" y="943998"/>
        <a:ext cx="4508047" cy="2799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DE8C10-D094-4F46-998B-1C93ED49E1AB}">
      <dsp:nvSpPr>
        <dsp:cNvPr id="0" name=""/>
        <dsp:cNvSpPr/>
      </dsp:nvSpPr>
      <dsp:spPr>
        <a:xfrm>
          <a:off x="1333" y="3626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531568-A01F-4C9B-B7C9-0840E084F1D3}">
      <dsp:nvSpPr>
        <dsp:cNvPr id="0" name=""/>
        <dsp:cNvSpPr/>
      </dsp:nvSpPr>
      <dsp:spPr>
        <a:xfrm>
          <a:off x="521579" y="8569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i="1" kern="1200" dirty="0">
              <a:highlight>
                <a:srgbClr val="00FFFF"/>
              </a:highlight>
            </a:rPr>
            <a:t>Federal equivalent method (FEM)</a:t>
          </a:r>
          <a:r>
            <a:rPr lang="en-US" sz="1700" kern="1200" dirty="0">
              <a:highlight>
                <a:srgbClr val="00FFFF"/>
              </a:highlight>
            </a:rPr>
            <a:t> </a:t>
          </a:r>
          <a:r>
            <a:rPr lang="en-US" sz="1700" kern="1200" dirty="0"/>
            <a:t>means a method for measuring the concentration of an air pollutant in the ambient air that has been designated as an equivalent method in accordance with this part; it does not include a method for which an equivalent method designation has been canceled in accordance with </a:t>
          </a:r>
          <a:r>
            <a:rPr lang="en-US" sz="1700" kern="1200" dirty="0">
              <a:hlinkClick xmlns:r="http://schemas.openxmlformats.org/officeDocument/2006/relationships" r:id="rId1"/>
            </a:rPr>
            <a:t>§ 53.11</a:t>
          </a:r>
          <a:r>
            <a:rPr lang="en-US" sz="1700" kern="1200" dirty="0"/>
            <a:t> or </a:t>
          </a:r>
          <a:r>
            <a:rPr lang="en-US" sz="1700" kern="1200" dirty="0">
              <a:hlinkClick xmlns:r="http://schemas.openxmlformats.org/officeDocument/2006/relationships" r:id="rId2"/>
            </a:rPr>
            <a:t>§ 53.16</a:t>
          </a:r>
          <a:r>
            <a:rPr lang="en-US" sz="1700" kern="1200" dirty="0"/>
            <a:t>. [2]</a:t>
          </a:r>
        </a:p>
      </dsp:txBody>
      <dsp:txXfrm>
        <a:off x="608661" y="943998"/>
        <a:ext cx="4508047" cy="2799040"/>
      </dsp:txXfrm>
    </dsp:sp>
    <dsp:sp modelId="{96FD6C1F-5156-44A7-AA64-851836C7ABA5}">
      <dsp:nvSpPr>
        <dsp:cNvPr id="0" name=""/>
        <dsp:cNvSpPr/>
      </dsp:nvSpPr>
      <dsp:spPr>
        <a:xfrm>
          <a:off x="5724037" y="3626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4E9D3B-7995-4FA6-ACB4-5FA1B63A01A5}">
      <dsp:nvSpPr>
        <dsp:cNvPr id="0" name=""/>
        <dsp:cNvSpPr/>
      </dsp:nvSpPr>
      <dsp:spPr>
        <a:xfrm>
          <a:off x="6244283" y="8569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i="1" kern="1200" dirty="0">
              <a:highlight>
                <a:srgbClr val="00FFFF"/>
              </a:highlight>
            </a:rPr>
            <a:t>Federal reference method (FRM)</a:t>
          </a:r>
          <a:r>
            <a:rPr lang="en-US" sz="1700" kern="1200" dirty="0">
              <a:highlight>
                <a:srgbClr val="00FFFF"/>
              </a:highlight>
            </a:rPr>
            <a:t> </a:t>
          </a:r>
          <a:r>
            <a:rPr lang="en-US" sz="1700" kern="1200" dirty="0"/>
            <a:t>means a method of sampling and analyzing the ambient air for an air pollutant that is specified as a reference method in an appendix to </a:t>
          </a:r>
          <a:r>
            <a:rPr lang="en-US" sz="1700" kern="1200" dirty="0">
              <a:hlinkClick xmlns:r="http://schemas.openxmlformats.org/officeDocument/2006/relationships" r:id="rId3"/>
            </a:rPr>
            <a:t>part 50 of this chapter</a:t>
          </a:r>
          <a:r>
            <a:rPr lang="en-US" sz="1700" kern="1200" dirty="0"/>
            <a:t>, or a method that has been designated as a reference method in accordance with this part; it does not include a method for which a reference method designation has been canceled in accordance with </a:t>
          </a:r>
          <a:r>
            <a:rPr lang="en-US" sz="1700" kern="1200" dirty="0">
              <a:hlinkClick xmlns:r="http://schemas.openxmlformats.org/officeDocument/2006/relationships" r:id="rId1"/>
            </a:rPr>
            <a:t>§ 53.11</a:t>
          </a:r>
          <a:r>
            <a:rPr lang="en-US" sz="1700" kern="1200" dirty="0"/>
            <a:t> or </a:t>
          </a:r>
          <a:r>
            <a:rPr lang="en-US" sz="1700" kern="1200" dirty="0">
              <a:hlinkClick xmlns:r="http://schemas.openxmlformats.org/officeDocument/2006/relationships" r:id="rId2"/>
            </a:rPr>
            <a:t>§ 53.16</a:t>
          </a:r>
          <a:r>
            <a:rPr lang="en-US" sz="1700" kern="1200" dirty="0"/>
            <a:t> [2]</a:t>
          </a:r>
        </a:p>
      </dsp:txBody>
      <dsp:txXfrm>
        <a:off x="6331365" y="943998"/>
        <a:ext cx="4508047" cy="2799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E0D0A7-EF89-425F-96D4-74E9C01FBC33}">
      <dsp:nvSpPr>
        <dsp:cNvPr id="0" name=""/>
        <dsp:cNvSpPr/>
      </dsp:nvSpPr>
      <dsp:spPr>
        <a:xfrm>
          <a:off x="0" y="415759"/>
          <a:ext cx="6666833" cy="136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AutoGC analysis can measure ambient levels of a number of VOCs which are of interest from an ozone formation standpoint even when their concentrations are too low to cause direct health effects.</a:t>
          </a:r>
        </a:p>
      </dsp:txBody>
      <dsp:txXfrm>
        <a:off x="0" y="415759"/>
        <a:ext cx="6666833" cy="1360800"/>
      </dsp:txXfrm>
    </dsp:sp>
    <dsp:sp modelId="{193CE537-0BD3-402D-9551-25105173B782}">
      <dsp:nvSpPr>
        <dsp:cNvPr id="0" name=""/>
        <dsp:cNvSpPr/>
      </dsp:nvSpPr>
      <dsp:spPr>
        <a:xfrm>
          <a:off x="333341" y="179599"/>
          <a:ext cx="4666783" cy="4723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kern="1200"/>
            <a:t>Automated Gas Chromatographs (AutoGCs)</a:t>
          </a:r>
        </a:p>
      </dsp:txBody>
      <dsp:txXfrm>
        <a:off x="356398" y="202656"/>
        <a:ext cx="4620669" cy="426206"/>
      </dsp:txXfrm>
    </dsp:sp>
    <dsp:sp modelId="{4FD036D8-408F-4F0D-990A-86A16E2E7C76}">
      <dsp:nvSpPr>
        <dsp:cNvPr id="0" name=""/>
        <dsp:cNvSpPr/>
      </dsp:nvSpPr>
      <dsp:spPr>
        <a:xfrm>
          <a:off x="0" y="2099120"/>
          <a:ext cx="6666833" cy="31752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AutoGCs are designed to collect data at a given sampling location over time. These instruments can be configured to automatically provide speciation data for 1 to over 55 targeted VOCs. However, the more extensive the list of compounds the more difficult it becomes to ensure that any single compound is correctly identified and quantitated at the time of initial data capture. Changes to compound identification and concentration are not uncommon during this validation process. Therefore, it is vital that the data user is aware of the high degree of uncertainty in the unvalidated data and any actions or decisions based on unvalidated data should be made with this in mind.</a:t>
          </a:r>
        </a:p>
      </dsp:txBody>
      <dsp:txXfrm>
        <a:off x="0" y="2099120"/>
        <a:ext cx="6666833" cy="3175200"/>
      </dsp:txXfrm>
    </dsp:sp>
    <dsp:sp modelId="{05D03629-9FAB-436E-B0C8-727A162AAEB2}">
      <dsp:nvSpPr>
        <dsp:cNvPr id="0" name=""/>
        <dsp:cNvSpPr/>
      </dsp:nvSpPr>
      <dsp:spPr>
        <a:xfrm>
          <a:off x="333341" y="1862960"/>
          <a:ext cx="4666783" cy="47232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kern="1200"/>
            <a:t>Limitations</a:t>
          </a:r>
        </a:p>
      </dsp:txBody>
      <dsp:txXfrm>
        <a:off x="356398" y="1886017"/>
        <a:ext cx="4620669" cy="4262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A57C17-ED77-4E22-8B3D-62600448C22C}">
      <dsp:nvSpPr>
        <dsp:cNvPr id="0" name=""/>
        <dsp:cNvSpPr/>
      </dsp:nvSpPr>
      <dsp:spPr>
        <a:xfrm>
          <a:off x="0" y="596776"/>
          <a:ext cx="10515600" cy="6633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There is NO National Ambient Air Quality Standard (NAAQS) for VOCs</a:t>
          </a:r>
        </a:p>
      </dsp:txBody>
      <dsp:txXfrm>
        <a:off x="32384" y="629160"/>
        <a:ext cx="10450832" cy="598621"/>
      </dsp:txXfrm>
    </dsp:sp>
    <dsp:sp modelId="{865DE444-221F-45F4-B83C-159ACA41C4FE}">
      <dsp:nvSpPr>
        <dsp:cNvPr id="0" name=""/>
        <dsp:cNvSpPr/>
      </dsp:nvSpPr>
      <dsp:spPr>
        <a:xfrm>
          <a:off x="0" y="1337926"/>
          <a:ext cx="10515600" cy="6633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Instead, EPA regulates:</a:t>
          </a:r>
        </a:p>
      </dsp:txBody>
      <dsp:txXfrm>
        <a:off x="32384" y="1370310"/>
        <a:ext cx="10450832" cy="598621"/>
      </dsp:txXfrm>
    </dsp:sp>
    <dsp:sp modelId="{1F3EDC32-4B90-4878-88DF-6702BB895465}">
      <dsp:nvSpPr>
        <dsp:cNvPr id="0" name=""/>
        <dsp:cNvSpPr/>
      </dsp:nvSpPr>
      <dsp:spPr>
        <a:xfrm>
          <a:off x="0" y="2001316"/>
          <a:ext cx="10515600"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Ground-level ozone (formed from VOCs + NOₓ + sunlight) </a:t>
          </a:r>
        </a:p>
        <a:p>
          <a:pPr marL="228600" lvl="1" indent="-228600" algn="l" defTabSz="933450">
            <a:lnSpc>
              <a:spcPct val="90000"/>
            </a:lnSpc>
            <a:spcBef>
              <a:spcPct val="0"/>
            </a:spcBef>
            <a:spcAft>
              <a:spcPct val="20000"/>
            </a:spcAft>
            <a:buChar char="•"/>
          </a:pPr>
          <a:r>
            <a:rPr lang="en-US" sz="2100" kern="1200"/>
            <a:t>Hazardous Air Pollutants (HAPs) such as benzene </a:t>
          </a:r>
        </a:p>
        <a:p>
          <a:pPr marL="228600" lvl="1" indent="-228600" algn="l" defTabSz="933450">
            <a:lnSpc>
              <a:spcPct val="90000"/>
            </a:lnSpc>
            <a:spcBef>
              <a:spcPct val="0"/>
            </a:spcBef>
            <a:spcAft>
              <a:spcPct val="20000"/>
            </a:spcAft>
            <a:buChar char="•"/>
          </a:pPr>
          <a:r>
            <a:rPr lang="en-US" sz="2100" kern="1200"/>
            <a:t>Industrial VOC emissions</a:t>
          </a:r>
        </a:p>
      </dsp:txBody>
      <dsp:txXfrm>
        <a:off x="0" y="2001316"/>
        <a:ext cx="10515600" cy="1089854"/>
      </dsp:txXfrm>
    </dsp:sp>
    <dsp:sp modelId="{E69C995D-993A-431B-BD47-04AD4B799D10}">
      <dsp:nvSpPr>
        <dsp:cNvPr id="0" name=""/>
        <dsp:cNvSpPr/>
      </dsp:nvSpPr>
      <dsp:spPr>
        <a:xfrm>
          <a:off x="0" y="3091171"/>
          <a:ext cx="10515600" cy="6633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NO universal Method codes </a:t>
          </a:r>
        </a:p>
      </dsp:txBody>
      <dsp:txXfrm>
        <a:off x="32384" y="3123555"/>
        <a:ext cx="10450832" cy="59862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1E918-7846-064A-9773-E0EB93CBF2A2}"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388B93-FCB7-0444-8E6B-5BFB0473F86E}" type="slidenum">
              <a:rPr lang="en-US" smtClean="0"/>
              <a:t>‹#›</a:t>
            </a:fld>
            <a:endParaRPr lang="en-US"/>
          </a:p>
        </p:txBody>
      </p:sp>
    </p:spTree>
    <p:extLst>
      <p:ext uri="{BB962C8B-B14F-4D97-AF65-F5344CB8AC3E}">
        <p14:creationId xmlns:p14="http://schemas.microsoft.com/office/powerpoint/2010/main" val="3900615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Voc</a:t>
            </a:r>
            <a:r>
              <a:rPr lang="en-US" dirty="0"/>
              <a:t> regulatory guidelines </a:t>
            </a:r>
          </a:p>
        </p:txBody>
      </p:sp>
      <p:sp>
        <p:nvSpPr>
          <p:cNvPr id="4" name="Slide Number Placeholder 3"/>
          <p:cNvSpPr>
            <a:spLocks noGrp="1"/>
          </p:cNvSpPr>
          <p:nvPr>
            <p:ph type="sldNum" sz="quarter" idx="5"/>
          </p:nvPr>
        </p:nvSpPr>
        <p:spPr/>
        <p:txBody>
          <a:bodyPr/>
          <a:lstStyle/>
          <a:p>
            <a:fld id="{FC388B93-FCB7-0444-8E6B-5BFB0473F86E}" type="slidenum">
              <a:rPr lang="en-US" smtClean="0"/>
              <a:t>13</a:t>
            </a:fld>
            <a:endParaRPr lang="en-US"/>
          </a:p>
        </p:txBody>
      </p:sp>
    </p:spTree>
    <p:extLst>
      <p:ext uri="{BB962C8B-B14F-4D97-AF65-F5344CB8AC3E}">
        <p14:creationId xmlns:p14="http://schemas.microsoft.com/office/powerpoint/2010/main" val="541891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1C7E-E838-9BC7-164A-86CDB16E7E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568A02-EBFD-677E-8048-FC349E04F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411ED1-8ECE-FCCB-78C2-C00FE6C53751}"/>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5" name="Footer Placeholder 4">
            <a:extLst>
              <a:ext uri="{FF2B5EF4-FFF2-40B4-BE49-F238E27FC236}">
                <a16:creationId xmlns:a16="http://schemas.microsoft.com/office/drawing/2014/main" id="{13853816-06AE-3560-DD7D-7BBA1D3D51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A6166-6A00-3DF8-8EBD-32CBA7750C6F}"/>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1056057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7434B-3F61-C82A-5A29-DD7B0ECBC8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627FF8-9BCA-A91B-2419-EFD53E105A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CFFD1D-F715-D5AA-4570-B4D0EC1895CA}"/>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5" name="Footer Placeholder 4">
            <a:extLst>
              <a:ext uri="{FF2B5EF4-FFF2-40B4-BE49-F238E27FC236}">
                <a16:creationId xmlns:a16="http://schemas.microsoft.com/office/drawing/2014/main" id="{F00E20F3-CF8A-11EA-ADE7-F8BB0F90BA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95CEF5-5F78-D51C-0665-F0DCF1ED0AAA}"/>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825151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D9080-0DE5-9F13-0D4D-4DAE642E57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C54630-45C4-8817-5568-90CB9297A0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802B94-F8CA-0238-6B58-65A028CAF53F}"/>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5" name="Footer Placeholder 4">
            <a:extLst>
              <a:ext uri="{FF2B5EF4-FFF2-40B4-BE49-F238E27FC236}">
                <a16:creationId xmlns:a16="http://schemas.microsoft.com/office/drawing/2014/main" id="{AAEA3EA2-2510-229C-9400-8F9BEE22C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745FA0-279F-6949-65CD-F9EC9B71AE31}"/>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1622927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B4F9-297C-E108-92FD-FB78D34A20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F4A73E-FB37-329D-9EE7-207141F17B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DDCD30-5EB3-9906-636D-86E80C3308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A56C4B-9A10-98E1-91C4-A09662E74F46}"/>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6" name="Footer Placeholder 5">
            <a:extLst>
              <a:ext uri="{FF2B5EF4-FFF2-40B4-BE49-F238E27FC236}">
                <a16:creationId xmlns:a16="http://schemas.microsoft.com/office/drawing/2014/main" id="{E62BAF4B-81F0-395D-BF2A-032266805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262D04-175B-052F-E44B-0DF5E4D101AE}"/>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2735813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65154-3B3C-7BC6-3393-F62F40C93C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B73F7C-1F18-3738-0F69-59514C6F9F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AC0561-5FBF-FDB6-D9D4-865D36E698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F7E8DC-9059-8AC9-9A41-642EF791EA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FFA15-B323-6F88-5B40-5B15EE9921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204E66-F205-00C9-B943-F95721234280}"/>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8" name="Footer Placeholder 7">
            <a:extLst>
              <a:ext uri="{FF2B5EF4-FFF2-40B4-BE49-F238E27FC236}">
                <a16:creationId xmlns:a16="http://schemas.microsoft.com/office/drawing/2014/main" id="{E782320F-FE69-F0F4-6587-168B678871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ABC04B-75E7-7095-34DD-C62019C35BAB}"/>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178401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F201-57C5-3FB5-29EC-1A9F7F99A0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75D300-277C-58B7-818F-4A772D940221}"/>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4" name="Footer Placeholder 3">
            <a:extLst>
              <a:ext uri="{FF2B5EF4-FFF2-40B4-BE49-F238E27FC236}">
                <a16:creationId xmlns:a16="http://schemas.microsoft.com/office/drawing/2014/main" id="{CDF1379B-F8A6-02F4-F1FC-4BF50D0C9C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AF0D51-7CEE-14E6-EA1D-58451882421D}"/>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3615561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0439E-8F59-6BDF-7A66-16A2A7C78385}"/>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3" name="Footer Placeholder 2">
            <a:extLst>
              <a:ext uri="{FF2B5EF4-FFF2-40B4-BE49-F238E27FC236}">
                <a16:creationId xmlns:a16="http://schemas.microsoft.com/office/drawing/2014/main" id="{6B332319-5229-6000-8600-AF4627B32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1D81BA-8943-18B4-A89B-1D3C4ED6B695}"/>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2866339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E33B-9F52-1870-756D-0E6056019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530065-A510-EA44-A272-FDDDC6CF4F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D8094B-79D2-3A93-65D1-F73C5B286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2EB84-D882-297D-33C6-BC90E71DC7C6}"/>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6" name="Footer Placeholder 5">
            <a:extLst>
              <a:ext uri="{FF2B5EF4-FFF2-40B4-BE49-F238E27FC236}">
                <a16:creationId xmlns:a16="http://schemas.microsoft.com/office/drawing/2014/main" id="{866ABD87-548F-6CBD-0689-749FA15F77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48D49-6407-C42B-EA63-AB658EE46A67}"/>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228389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110F8-661D-F29A-9495-EC2206D30F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098F2A-83BE-CE55-A0EA-1AD4425472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AB6932-8AC4-1BCB-55A0-3987374BC6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ABE712-3C27-5551-654B-9227A8E04923}"/>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6" name="Footer Placeholder 5">
            <a:extLst>
              <a:ext uri="{FF2B5EF4-FFF2-40B4-BE49-F238E27FC236}">
                <a16:creationId xmlns:a16="http://schemas.microsoft.com/office/drawing/2014/main" id="{28DCEAE1-1954-23DF-119B-7D2926F94F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85442-246C-6D33-5CF2-4ADCC7511F19}"/>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1660113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84EEB-35D0-BC0C-EFB1-8436FD8420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16C217-04C7-1D7B-F275-597305DC9C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8B333C-8BD5-0A50-C32B-44771C376288}"/>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5" name="Footer Placeholder 4">
            <a:extLst>
              <a:ext uri="{FF2B5EF4-FFF2-40B4-BE49-F238E27FC236}">
                <a16:creationId xmlns:a16="http://schemas.microsoft.com/office/drawing/2014/main" id="{37A9B863-AC1C-C311-AD7E-69BA1EFCF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1A048-01A2-9FF2-466F-4139C7E3731A}"/>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112628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CAF009-B995-247C-B140-B40C0B9881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64E014-B740-E0F1-7153-12A2BF9473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D4CDB-B417-40D0-3A31-0D485FF45C79}"/>
              </a:ext>
            </a:extLst>
          </p:cNvPr>
          <p:cNvSpPr>
            <a:spLocks noGrp="1"/>
          </p:cNvSpPr>
          <p:nvPr>
            <p:ph type="dt" sz="half" idx="10"/>
          </p:nvPr>
        </p:nvSpPr>
        <p:spPr/>
        <p:txBody>
          <a:bodyPr/>
          <a:lstStyle/>
          <a:p>
            <a:fld id="{C66602AA-B144-4647-A268-2A4D34EACC89}" type="datetimeFigureOut">
              <a:rPr lang="en-US" smtClean="0"/>
              <a:t>7/8/2026</a:t>
            </a:fld>
            <a:endParaRPr lang="en-US"/>
          </a:p>
        </p:txBody>
      </p:sp>
      <p:sp>
        <p:nvSpPr>
          <p:cNvPr id="5" name="Footer Placeholder 4">
            <a:extLst>
              <a:ext uri="{FF2B5EF4-FFF2-40B4-BE49-F238E27FC236}">
                <a16:creationId xmlns:a16="http://schemas.microsoft.com/office/drawing/2014/main" id="{E8EAFD8B-05B8-11BF-A9ED-77D2A8DEF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A9670C-6C04-0FFB-A898-B142A793517F}"/>
              </a:ext>
            </a:extLst>
          </p:cNvPr>
          <p:cNvSpPr>
            <a:spLocks noGrp="1"/>
          </p:cNvSpPr>
          <p:nvPr>
            <p:ph type="sldNum" sz="quarter" idx="12"/>
          </p:nvPr>
        </p:nvSpPr>
        <p:spPr/>
        <p:txBody>
          <a:bodyPr/>
          <a:lstStyle/>
          <a:p>
            <a:fld id="{C09FBD16-9643-4F91-9B42-6B8682CA2CDF}" type="slidenum">
              <a:rPr lang="en-US" smtClean="0"/>
              <a:t>‹#›</a:t>
            </a:fld>
            <a:endParaRPr lang="en-US"/>
          </a:p>
        </p:txBody>
      </p:sp>
    </p:spTree>
    <p:extLst>
      <p:ext uri="{BB962C8B-B14F-4D97-AF65-F5344CB8AC3E}">
        <p14:creationId xmlns:p14="http://schemas.microsoft.com/office/powerpoint/2010/main" val="3805888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CC0C19-BA44-32E7-48CB-17820137EA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360BFB-6187-4457-2295-37149B0248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205C1-9B41-BDDF-5D74-B0F7975EBC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6602AA-B144-4647-A268-2A4D34EACC89}" type="datetimeFigureOut">
              <a:rPr lang="en-US" smtClean="0"/>
              <a:t>7/8/2026</a:t>
            </a:fld>
            <a:endParaRPr lang="en-US"/>
          </a:p>
        </p:txBody>
      </p:sp>
      <p:sp>
        <p:nvSpPr>
          <p:cNvPr id="5" name="Footer Placeholder 4">
            <a:extLst>
              <a:ext uri="{FF2B5EF4-FFF2-40B4-BE49-F238E27FC236}">
                <a16:creationId xmlns:a16="http://schemas.microsoft.com/office/drawing/2014/main" id="{7B3F9C0D-A825-4A56-14B0-F1600A8554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2D2C61-6EE6-32FC-2885-D63CF030B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9FBD16-9643-4F91-9B42-6B8682CA2CDF}" type="slidenum">
              <a:rPr lang="en-US" smtClean="0"/>
              <a:t>‹#›</a:t>
            </a:fld>
            <a:endParaRPr lang="en-US"/>
          </a:p>
        </p:txBody>
      </p:sp>
    </p:spTree>
    <p:extLst>
      <p:ext uri="{BB962C8B-B14F-4D97-AF65-F5344CB8AC3E}">
        <p14:creationId xmlns:p14="http://schemas.microsoft.com/office/powerpoint/2010/main" val="1334677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ederalregister.gov/documents/2024/12/27/2024-29463/review-of-the-secondary-national-ambient-air-quality-standards-for-oxides-of-nitrogen-oxides-of?utm_source=chatgpt.com" TargetMode="External"/><Relationship Id="rId2" Type="http://schemas.openxmlformats.org/officeDocument/2006/relationships/hyperlink" Target="https://www.epa.gov/so2-pollution/timeline-sulfur-dioxide-naaqs?utm_source=chatgpt.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epa.gov/aqs" TargetMode="External"/><Relationship Id="rId13" Type="http://schemas.openxmlformats.org/officeDocument/2006/relationships/hyperlink" Target="https://www.epa.gov/criteria-air-pollutants/naaqs-table" TargetMode="External"/><Relationship Id="rId3" Type="http://schemas.openxmlformats.org/officeDocument/2006/relationships/hyperlink" Target="https://www.ecfr.gov/current/title-40/chapter-I/subchapter-C/part-50/appendix-Appendix%20A-1%20to%20Part%2050" TargetMode="External"/><Relationship Id="rId7" Type="http://schemas.openxmlformats.org/officeDocument/2006/relationships/hyperlink" Target="https://www.tceq.texas.gov/airquality/monops" TargetMode="External"/><Relationship Id="rId12" Type="http://schemas.openxmlformats.org/officeDocument/2006/relationships/hyperlink" Target="https://www.epa.gov/isa/integrated-science-assessment-isa-sulfur-oxides-health-criteria" TargetMode="External"/><Relationship Id="rId2" Type="http://schemas.openxmlformats.org/officeDocument/2006/relationships/hyperlink" Target="https://aqs.epa.gov/aqsweb/documents/codetables/methods_all.html" TargetMode="External"/><Relationship Id="rId16" Type="http://schemas.openxmlformats.org/officeDocument/2006/relationships/hyperlink" Target="https://www.law.cornell.edu/uscode/text/42/7409" TargetMode="External"/><Relationship Id="rId1" Type="http://schemas.openxmlformats.org/officeDocument/2006/relationships/slideLayout" Target="../slideLayouts/slideLayout2.xml"/><Relationship Id="rId6" Type="http://schemas.openxmlformats.org/officeDocument/2006/relationships/hyperlink" Target="https://www.federalregister.gov/documents/2024/12/27/2024-29463/review-of-the-secondary-national-ambient-air-quality-standards-for-oxides-of-nitrogen-oxides-of" TargetMode="External"/><Relationship Id="rId11" Type="http://schemas.openxmlformats.org/officeDocument/2006/relationships/hyperlink" Target="https://www.epa.gov/ground-level-ozone-pollution/ground-level-ozone-basics" TargetMode="External"/><Relationship Id="rId5" Type="http://schemas.openxmlformats.org/officeDocument/2006/relationships/hyperlink" Target="https://www.federalregister.gov/documents/2010/06/22/2010-13947/primary-national-ambient-air-quality-standard-for-sulfur-dioxide" TargetMode="External"/><Relationship Id="rId15" Type="http://schemas.openxmlformats.org/officeDocument/2006/relationships/hyperlink" Target="https://www.epa.gov/indoor-air-quality-iaq/volatile-organic-compounds-impact-indoor-air-quality" TargetMode="External"/><Relationship Id="rId10" Type="http://schemas.openxmlformats.org/officeDocument/2006/relationships/hyperlink" Target="https://www.epa.gov/criteria-air-pollutants" TargetMode="External"/><Relationship Id="rId4" Type="http://schemas.openxmlformats.org/officeDocument/2006/relationships/hyperlink" Target="https://www.ecfr.gov/current/title-40/chapter-I/subchapter-C/part-53" TargetMode="External"/><Relationship Id="rId9" Type="http://schemas.openxmlformats.org/officeDocument/2006/relationships/hyperlink" Target="https://www.epa.gov/amtic" TargetMode="External"/><Relationship Id="rId14" Type="http://schemas.openxmlformats.org/officeDocument/2006/relationships/hyperlink" Target="https://www.epa.gov/so2-pollu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37425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1EC8A7-ADBA-F8AE-FAA2-57E07C526799}"/>
              </a:ext>
            </a:extLst>
          </p:cNvPr>
          <p:cNvSpPr>
            <a:spLocks noGrp="1"/>
          </p:cNvSpPr>
          <p:nvPr>
            <p:ph type="ctrTitle"/>
          </p:nvPr>
        </p:nvSpPr>
        <p:spPr>
          <a:xfrm>
            <a:off x="1155558" y="637763"/>
            <a:ext cx="9889797" cy="2874471"/>
          </a:xfrm>
        </p:spPr>
        <p:txBody>
          <a:bodyPr anchor="ctr">
            <a:normAutofit/>
          </a:bodyPr>
          <a:lstStyle/>
          <a:p>
            <a:pPr algn="l"/>
            <a:r>
              <a:rPr lang="en-US" sz="8000">
                <a:solidFill>
                  <a:schemeClr val="bg1"/>
                </a:solidFill>
              </a:rPr>
              <a:t>SO2 and VOCs</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3742597"/>
            <a:ext cx="12191990" cy="31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C03C90F-320A-87BE-1A4F-19BF82152EAB}"/>
              </a:ext>
            </a:extLst>
          </p:cNvPr>
          <p:cNvSpPr>
            <a:spLocks noGrp="1"/>
          </p:cNvSpPr>
          <p:nvPr>
            <p:ph type="subTitle" idx="1"/>
          </p:nvPr>
        </p:nvSpPr>
        <p:spPr>
          <a:xfrm>
            <a:off x="1155558" y="4307684"/>
            <a:ext cx="9544153" cy="1906846"/>
          </a:xfrm>
        </p:spPr>
        <p:txBody>
          <a:bodyPr anchor="t">
            <a:normAutofit/>
          </a:bodyPr>
          <a:lstStyle/>
          <a:p>
            <a:pPr algn="l"/>
            <a:r>
              <a:rPr lang="en-US" sz="3200"/>
              <a:t>Jasmine Treviño</a:t>
            </a:r>
          </a:p>
        </p:txBody>
      </p:sp>
      <p:sp>
        <p:nvSpPr>
          <p:cNvPr id="12" name="Rectangle 11">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1180" y="41010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24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FE8D0-8FBA-D39E-13D2-97F0996FFD02}"/>
              </a:ext>
            </a:extLst>
          </p:cNvPr>
          <p:cNvSpPr>
            <a:spLocks noGrp="1"/>
          </p:cNvSpPr>
          <p:nvPr>
            <p:ph type="title"/>
          </p:nvPr>
        </p:nvSpPr>
        <p:spPr/>
        <p:txBody>
          <a:bodyPr/>
          <a:lstStyle/>
          <a:p>
            <a:r>
              <a:rPr lang="en-US"/>
              <a:t>Sulfur Dioxide (SO₂)</a:t>
            </a:r>
            <a:endParaRPr lang="en-US" dirty="0"/>
          </a:p>
        </p:txBody>
      </p:sp>
      <p:sp>
        <p:nvSpPr>
          <p:cNvPr id="3" name="Content Placeholder 2">
            <a:extLst>
              <a:ext uri="{FF2B5EF4-FFF2-40B4-BE49-F238E27FC236}">
                <a16:creationId xmlns:a16="http://schemas.microsoft.com/office/drawing/2014/main" id="{CBCAEC1D-E94C-6146-C2D4-3E7F00CBA790}"/>
              </a:ext>
            </a:extLst>
          </p:cNvPr>
          <p:cNvSpPr>
            <a:spLocks noGrp="1"/>
          </p:cNvSpPr>
          <p:nvPr>
            <p:ph idx="1"/>
          </p:nvPr>
        </p:nvSpPr>
        <p:spPr/>
        <p:txBody>
          <a:bodyPr vert="horz" lIns="91440" tIns="45720" rIns="91440" bIns="45720" rtlCol="0" anchor="t">
            <a:normAutofit fontScale="92500" lnSpcReduction="10000"/>
          </a:bodyPr>
          <a:lstStyle/>
          <a:p>
            <a:r>
              <a:rPr lang="en-US" dirty="0"/>
              <a:t>What is it? </a:t>
            </a:r>
          </a:p>
          <a:p>
            <a:pPr lvl="1"/>
            <a:r>
              <a:rPr lang="en-US" dirty="0"/>
              <a:t>Colorless gas with a strong, irritating odor.</a:t>
            </a:r>
          </a:p>
          <a:p>
            <a:r>
              <a:rPr lang="en-US" dirty="0"/>
              <a:t>How is it measured? </a:t>
            </a:r>
          </a:p>
          <a:p>
            <a:pPr lvl="1"/>
            <a:r>
              <a:rPr lang="en-US"/>
              <a:t>Ultraviolet Fluorescence (UVF) [1] </a:t>
            </a:r>
            <a:r>
              <a:rPr lang="en-US" sz="1900">
                <a:latin typeface="Arial"/>
                <a:cs typeface="Arial"/>
              </a:rPr>
              <a:t>Thermo TEI 43i </a:t>
            </a:r>
          </a:p>
          <a:p>
            <a:r>
              <a:rPr lang="en-US" dirty="0"/>
              <a:t>Units reported </a:t>
            </a:r>
          </a:p>
          <a:p>
            <a:pPr lvl="1"/>
            <a:r>
              <a:rPr lang="en-US" dirty="0"/>
              <a:t>ppb (parts per billion)</a:t>
            </a:r>
          </a:p>
          <a:p>
            <a:r>
              <a:rPr lang="en-US" dirty="0"/>
              <a:t>Define each of the parameter code, method code?</a:t>
            </a:r>
          </a:p>
          <a:p>
            <a:pPr lvl="1"/>
            <a:r>
              <a:rPr lang="en-US" dirty="0"/>
              <a:t>42401 (param code) </a:t>
            </a:r>
          </a:p>
          <a:p>
            <a:pPr lvl="1"/>
            <a:r>
              <a:rPr lang="en-US"/>
              <a:t>Method code: 100 and 92</a:t>
            </a:r>
          </a:p>
          <a:p>
            <a:r>
              <a:rPr lang="en-US" dirty="0"/>
              <a:t>FRM/FEM TCEQ and EPA difference</a:t>
            </a:r>
          </a:p>
          <a:p>
            <a:pPr lvl="1"/>
            <a:r>
              <a:rPr lang="en-US" dirty="0"/>
              <a:t>None, TCEQ must follow EPA standards</a:t>
            </a:r>
          </a:p>
          <a:p>
            <a:endParaRPr lang="en-US" dirty="0"/>
          </a:p>
        </p:txBody>
      </p:sp>
    </p:spTree>
    <p:extLst>
      <p:ext uri="{BB962C8B-B14F-4D97-AF65-F5344CB8AC3E}">
        <p14:creationId xmlns:p14="http://schemas.microsoft.com/office/powerpoint/2010/main" val="2815369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81649609-A86A-DAB9-235A-1EFA1CCF87BB}"/>
              </a:ext>
            </a:extLst>
          </p:cNvPr>
          <p:cNvGraphicFramePr>
            <a:graphicFrameLocks noGrp="1"/>
          </p:cNvGraphicFramePr>
          <p:nvPr>
            <p:ph idx="1"/>
            <p:extLst>
              <p:ext uri="{D42A27DB-BD31-4B8C-83A1-F6EECF244321}">
                <p14:modId xmlns:p14="http://schemas.microsoft.com/office/powerpoint/2010/main" val="3868697880"/>
              </p:ext>
            </p:extLst>
          </p:nvPr>
        </p:nvGraphicFramePr>
        <p:xfrm>
          <a:off x="268513" y="2278742"/>
          <a:ext cx="11652365" cy="2299640"/>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1538650">
                  <a:extLst>
                    <a:ext uri="{9D8B030D-6E8A-4147-A177-3AD203B41FA5}">
                      <a16:colId xmlns:a16="http://schemas.microsoft.com/office/drawing/2014/main" val="3465751891"/>
                    </a:ext>
                  </a:extLst>
                </a:gridCol>
                <a:gridCol w="1289538">
                  <a:extLst>
                    <a:ext uri="{9D8B030D-6E8A-4147-A177-3AD203B41FA5}">
                      <a16:colId xmlns:a16="http://schemas.microsoft.com/office/drawing/2014/main" val="2154333968"/>
                    </a:ext>
                  </a:extLst>
                </a:gridCol>
                <a:gridCol w="1172306">
                  <a:extLst>
                    <a:ext uri="{9D8B030D-6E8A-4147-A177-3AD203B41FA5}">
                      <a16:colId xmlns:a16="http://schemas.microsoft.com/office/drawing/2014/main" val="296970079"/>
                    </a:ext>
                  </a:extLst>
                </a:gridCol>
                <a:gridCol w="1172307">
                  <a:extLst>
                    <a:ext uri="{9D8B030D-6E8A-4147-A177-3AD203B41FA5}">
                      <a16:colId xmlns:a16="http://schemas.microsoft.com/office/drawing/2014/main" val="238190621"/>
                    </a:ext>
                  </a:extLst>
                </a:gridCol>
                <a:gridCol w="1677212">
                  <a:extLst>
                    <a:ext uri="{9D8B030D-6E8A-4147-A177-3AD203B41FA5}">
                      <a16:colId xmlns:a16="http://schemas.microsoft.com/office/drawing/2014/main" val="3136035549"/>
                    </a:ext>
                  </a:extLst>
                </a:gridCol>
                <a:gridCol w="3141362">
                  <a:extLst>
                    <a:ext uri="{9D8B030D-6E8A-4147-A177-3AD203B41FA5}">
                      <a16:colId xmlns:a16="http://schemas.microsoft.com/office/drawing/2014/main" val="3081678137"/>
                    </a:ext>
                  </a:extLst>
                </a:gridCol>
                <a:gridCol w="1660990">
                  <a:extLst>
                    <a:ext uri="{9D8B030D-6E8A-4147-A177-3AD203B41FA5}">
                      <a16:colId xmlns:a16="http://schemas.microsoft.com/office/drawing/2014/main" val="1320790429"/>
                    </a:ext>
                  </a:extLst>
                </a:gridCol>
              </a:tblGrid>
              <a:tr h="870662">
                <a:tc>
                  <a:txBody>
                    <a:bodyPr/>
                    <a:lstStyle/>
                    <a:p>
                      <a:pPr>
                        <a:buNone/>
                      </a:pPr>
                      <a:r>
                        <a:rPr lang="en-US" sz="2000" b="1" cap="none" spc="0">
                          <a:solidFill>
                            <a:schemeClr val="bg1"/>
                          </a:solidFill>
                        </a:rPr>
                        <a:t>Parameter</a:t>
                      </a:r>
                    </a:p>
                  </a:txBody>
                  <a:tcPr marL="81991" marR="117129" marT="23426" marB="175694"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lgn="r">
                        <a:buNone/>
                      </a:pPr>
                      <a:r>
                        <a:rPr lang="en-US" sz="2000" b="1" cap="none" spc="0">
                          <a:solidFill>
                            <a:schemeClr val="bg1"/>
                          </a:solidFill>
                        </a:rPr>
                        <a:t>Parameter Code</a:t>
                      </a:r>
                    </a:p>
                  </a:txBody>
                  <a:tcPr marL="81991" marR="117129" marT="23426" marB="175694"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lgn="r">
                        <a:buNone/>
                      </a:pPr>
                      <a:r>
                        <a:rPr lang="en-US" sz="2000" b="1" cap="none" spc="0">
                          <a:solidFill>
                            <a:schemeClr val="bg1"/>
                          </a:solidFill>
                        </a:rPr>
                        <a:t>Method Code</a:t>
                      </a:r>
                    </a:p>
                  </a:txBody>
                  <a:tcPr marL="81991" marR="117129" marT="23426" marB="175694"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buNone/>
                      </a:pPr>
                      <a:r>
                        <a:rPr lang="en-US" sz="2000" b="1" cap="none" spc="0">
                          <a:solidFill>
                            <a:schemeClr val="bg1"/>
                          </a:solidFill>
                        </a:rPr>
                        <a:t>Method Type</a:t>
                      </a:r>
                    </a:p>
                  </a:txBody>
                  <a:tcPr marL="81991" marR="117129" marT="23426" marB="175694"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buNone/>
                      </a:pPr>
                      <a:r>
                        <a:rPr lang="en-US" sz="2000" b="1" cap="none" spc="0">
                          <a:solidFill>
                            <a:schemeClr val="bg1"/>
                          </a:solidFill>
                        </a:rPr>
                        <a:t>Method Designation</a:t>
                      </a:r>
                    </a:p>
                  </a:txBody>
                  <a:tcPr marL="81991" marR="117129" marT="23426" marB="175694"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buNone/>
                      </a:pPr>
                      <a:r>
                        <a:rPr lang="en-US" sz="2000" b="1" cap="none" spc="0">
                          <a:solidFill>
                            <a:schemeClr val="bg1"/>
                          </a:solidFill>
                        </a:rPr>
                        <a:t>Analysis/Measurement Method</a:t>
                      </a:r>
                    </a:p>
                  </a:txBody>
                  <a:tcPr marL="81991" marR="117129" marT="23426" marB="175694"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lvl="0">
                        <a:buNone/>
                      </a:pPr>
                      <a:r>
                        <a:rPr lang="en-US" sz="2000" b="1" cap="none" spc="0">
                          <a:solidFill>
                            <a:schemeClr val="bg1"/>
                          </a:solidFill>
                        </a:rPr>
                        <a:t>FRM or FEM</a:t>
                      </a:r>
                      <a:endParaRPr lang="en-US" sz="2000" b="1" cap="none" spc="0" dirty="0">
                        <a:solidFill>
                          <a:schemeClr val="bg1"/>
                        </a:solidFill>
                      </a:endParaRPr>
                    </a:p>
                  </a:txBody>
                  <a:tcPr marL="81991" marR="117129" marT="23426" marB="175693" anchor="b">
                    <a:lnL w="0">
                      <a:noFill/>
                    </a:lnL>
                    <a:lnR w="0">
                      <a:noFill/>
                    </a:lnR>
                    <a:lnT w="0">
                      <a:noFill/>
                    </a:lnT>
                    <a:lnB w="0">
                      <a:noFill/>
                    </a:lnB>
                    <a:solidFill>
                      <a:schemeClr val="tx1">
                        <a:lumMod val="75000"/>
                        <a:lumOff val="25000"/>
                      </a:schemeClr>
                    </a:solidFill>
                  </a:tcPr>
                </a:tc>
                <a:extLst>
                  <a:ext uri="{0D108BD9-81ED-4DB2-BD59-A6C34878D82A}">
                    <a16:rowId xmlns:a16="http://schemas.microsoft.com/office/drawing/2014/main" val="2988712269"/>
                  </a:ext>
                </a:extLst>
              </a:tr>
              <a:tr h="714489">
                <a:tc>
                  <a:txBody>
                    <a:bodyPr/>
                    <a:lstStyle/>
                    <a:p>
                      <a:pPr>
                        <a:buNone/>
                      </a:pPr>
                      <a:r>
                        <a:rPr lang="en-US" sz="1500" cap="none" spc="0">
                          <a:solidFill>
                            <a:schemeClr val="bg1"/>
                          </a:solidFill>
                        </a:rPr>
                        <a:t>Sulfur dioxide (SO₂)</a:t>
                      </a:r>
                    </a:p>
                  </a:txBody>
                  <a:tcPr marL="81991" marR="117129" marT="23426" marB="175694" anchor="ctr">
                    <a:lnL w="12700" cap="flat" cmpd="sng" algn="ctr">
                      <a:solidFill>
                        <a:schemeClr val="bg1"/>
                      </a:solid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algn="r">
                        <a:buNone/>
                      </a:pPr>
                      <a:r>
                        <a:rPr lang="en-US" sz="1500" cap="none" spc="0">
                          <a:solidFill>
                            <a:schemeClr val="bg1"/>
                          </a:solidFill>
                        </a:rPr>
                        <a:t>42401</a:t>
                      </a:r>
                    </a:p>
                  </a:txBody>
                  <a:tcPr marL="81991" marR="117129" marT="23426" marB="175694"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algn="r">
                        <a:buNone/>
                      </a:pPr>
                      <a:r>
                        <a:rPr lang="en-US" sz="1500" cap="none" spc="0">
                          <a:solidFill>
                            <a:schemeClr val="bg1"/>
                          </a:solidFill>
                        </a:rPr>
                        <a:t>092</a:t>
                      </a:r>
                    </a:p>
                  </a:txBody>
                  <a:tcPr marL="81991" marR="117129" marT="23426" marB="175694"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a:buNone/>
                      </a:pPr>
                      <a:r>
                        <a:rPr lang="en-US" sz="1500" cap="none" spc="0">
                          <a:solidFill>
                            <a:schemeClr val="bg1"/>
                          </a:solidFill>
                        </a:rPr>
                        <a:t>Continuous</a:t>
                      </a:r>
                    </a:p>
                  </a:txBody>
                  <a:tcPr marL="81991" marR="117129" marT="23426" marB="175694"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a:buNone/>
                      </a:pPr>
                      <a:r>
                        <a:rPr lang="en-US" sz="1500" cap="none" spc="0">
                          <a:solidFill>
                            <a:schemeClr val="bg1"/>
                          </a:solidFill>
                        </a:rPr>
                        <a:t>Automated Analyzer</a:t>
                      </a:r>
                    </a:p>
                  </a:txBody>
                  <a:tcPr marL="81991" marR="117129" marT="23426" marB="175694"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a:buNone/>
                      </a:pPr>
                      <a:r>
                        <a:rPr lang="en-US" sz="1500" cap="none" spc="0">
                          <a:solidFill>
                            <a:schemeClr val="bg1"/>
                          </a:solidFill>
                        </a:rPr>
                        <a:t>Ultraviolet Fluorescence</a:t>
                      </a:r>
                    </a:p>
                  </a:txBody>
                  <a:tcPr marL="81991" marR="117129" marT="23426" marB="175694"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lvl="0">
                        <a:buNone/>
                      </a:pPr>
                      <a:r>
                        <a:rPr lang="en-US" sz="1500" cap="none" spc="0">
                          <a:solidFill>
                            <a:schemeClr val="bg1"/>
                          </a:solidFill>
                        </a:rPr>
                        <a:t>FEM</a:t>
                      </a:r>
                      <a:endParaRPr lang="en-US" sz="1500" cap="none" spc="0" dirty="0">
                        <a:solidFill>
                          <a:schemeClr val="bg1"/>
                        </a:solidFill>
                      </a:endParaRPr>
                    </a:p>
                  </a:txBody>
                  <a:tcPr marL="81991" marR="117129" marT="23426" marB="175693" anchor="ctr">
                    <a:lnL w="0">
                      <a:noFill/>
                    </a:lnL>
                    <a:lnR w="0">
                      <a:noFill/>
                    </a:lnR>
                    <a:lnT w="0">
                      <a:noFill/>
                    </a:lnT>
                    <a:lnB w="0">
                      <a:noFill/>
                    </a:lnB>
                    <a:solidFill>
                      <a:schemeClr val="tx1">
                        <a:lumMod val="75000"/>
                        <a:lumOff val="25000"/>
                      </a:schemeClr>
                    </a:solidFill>
                  </a:tcPr>
                </a:tc>
                <a:extLst>
                  <a:ext uri="{0D108BD9-81ED-4DB2-BD59-A6C34878D82A}">
                    <a16:rowId xmlns:a16="http://schemas.microsoft.com/office/drawing/2014/main" val="1052408587"/>
                  </a:ext>
                </a:extLst>
              </a:tr>
              <a:tr h="714489">
                <a:tc>
                  <a:txBody>
                    <a:bodyPr/>
                    <a:lstStyle/>
                    <a:p>
                      <a:pPr>
                        <a:buNone/>
                      </a:pPr>
                      <a:r>
                        <a:rPr lang="en-US" sz="1500" cap="none" spc="0">
                          <a:solidFill>
                            <a:schemeClr val="bg1"/>
                          </a:solidFill>
                        </a:rPr>
                        <a:t>Sulfur dioxide (SO₂)</a:t>
                      </a:r>
                    </a:p>
                  </a:txBody>
                  <a:tcPr marL="81991" marR="117129" marT="23426" marB="175694"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r">
                        <a:buNone/>
                      </a:pPr>
                      <a:r>
                        <a:rPr lang="en-US" sz="1500" cap="none" spc="0">
                          <a:solidFill>
                            <a:schemeClr val="bg1"/>
                          </a:solidFill>
                        </a:rPr>
                        <a:t>42401</a:t>
                      </a:r>
                    </a:p>
                  </a:txBody>
                  <a:tcPr marL="81991" marR="117129" marT="23426" marB="175694"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r">
                        <a:buNone/>
                      </a:pPr>
                      <a:r>
                        <a:rPr lang="en-US" sz="1500" cap="none" spc="0">
                          <a:solidFill>
                            <a:schemeClr val="bg1"/>
                          </a:solidFill>
                        </a:rPr>
                        <a:t>100</a:t>
                      </a:r>
                    </a:p>
                  </a:txBody>
                  <a:tcPr marL="81991" marR="117129" marT="23426" marB="175694"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buNone/>
                      </a:pPr>
                      <a:r>
                        <a:rPr lang="en-US" sz="1500" cap="none" spc="0">
                          <a:solidFill>
                            <a:schemeClr val="bg1"/>
                          </a:solidFill>
                        </a:rPr>
                        <a:t>Continuous</a:t>
                      </a:r>
                    </a:p>
                  </a:txBody>
                  <a:tcPr marL="81991" marR="117129" marT="23426" marB="175694"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buNone/>
                      </a:pPr>
                      <a:r>
                        <a:rPr lang="en-US" sz="1500" cap="none" spc="0">
                          <a:solidFill>
                            <a:schemeClr val="bg1"/>
                          </a:solidFill>
                        </a:rPr>
                        <a:t>Instrumental</a:t>
                      </a:r>
                    </a:p>
                  </a:txBody>
                  <a:tcPr marL="81991" marR="117129" marT="23426" marB="175694"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buNone/>
                      </a:pPr>
                      <a:r>
                        <a:rPr lang="en-US" sz="1500" cap="none" spc="0">
                          <a:solidFill>
                            <a:schemeClr val="bg1"/>
                          </a:solidFill>
                        </a:rPr>
                        <a:t>Ultraviolet Fluorescence</a:t>
                      </a:r>
                    </a:p>
                  </a:txBody>
                  <a:tcPr marL="81991" marR="117129" marT="23426" marB="175694"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lvl="0">
                        <a:buNone/>
                      </a:pPr>
                      <a:r>
                        <a:rPr lang="en-US" sz="1500" cap="none" spc="0">
                          <a:solidFill>
                            <a:schemeClr val="bg1"/>
                          </a:solidFill>
                        </a:rPr>
                        <a:t>FEM</a:t>
                      </a:r>
                      <a:endParaRPr lang="en-US" sz="1500" cap="none" spc="0" dirty="0">
                        <a:solidFill>
                          <a:schemeClr val="bg1"/>
                        </a:solidFill>
                      </a:endParaRPr>
                    </a:p>
                  </a:txBody>
                  <a:tcPr marL="81991" marR="117129" marT="23426" marB="175693" anchor="ctr">
                    <a:lnL w="0">
                      <a:noFill/>
                    </a:lnL>
                    <a:lnR w="0">
                      <a:noFill/>
                    </a:lnR>
                    <a:lnT w="0">
                      <a:noFill/>
                    </a:lnT>
                    <a:lnB w="0">
                      <a:noFill/>
                    </a:lnB>
                    <a:solidFill>
                      <a:srgbClr val="595959"/>
                    </a:solidFill>
                  </a:tcPr>
                </a:tc>
                <a:extLst>
                  <a:ext uri="{0D108BD9-81ED-4DB2-BD59-A6C34878D82A}">
                    <a16:rowId xmlns:a16="http://schemas.microsoft.com/office/drawing/2014/main" val="3733171550"/>
                  </a:ext>
                </a:extLst>
              </a:tr>
            </a:tbl>
          </a:graphicData>
        </a:graphic>
      </p:graphicFrame>
      <p:sp>
        <p:nvSpPr>
          <p:cNvPr id="6" name="TextBox 5">
            <a:extLst>
              <a:ext uri="{FF2B5EF4-FFF2-40B4-BE49-F238E27FC236}">
                <a16:creationId xmlns:a16="http://schemas.microsoft.com/office/drawing/2014/main" id="{9FACE08A-5D87-C5C4-EEEC-1F1E63B26726}"/>
              </a:ext>
            </a:extLst>
          </p:cNvPr>
          <p:cNvSpPr txBox="1"/>
          <p:nvPr/>
        </p:nvSpPr>
        <p:spPr>
          <a:xfrm>
            <a:off x="543308" y="4777293"/>
            <a:ext cx="1110761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Continuous monitoring:</a:t>
            </a:r>
            <a:r>
              <a:rPr lang="en-US">
                <a:latin typeface="Calibri"/>
                <a:ea typeface="Calibri"/>
                <a:cs typeface="Calibri"/>
              </a:rPr>
              <a:t> Automated instruments continuously measure sulfur dioxide concentrations in ambient air and report data at regular intervals (typically every minute or hour), providing near real-time air quality information.</a:t>
            </a:r>
          </a:p>
        </p:txBody>
      </p:sp>
    </p:spTree>
    <p:extLst>
      <p:ext uri="{BB962C8B-B14F-4D97-AF65-F5344CB8AC3E}">
        <p14:creationId xmlns:p14="http://schemas.microsoft.com/office/powerpoint/2010/main" val="329507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085" name="Rectangle 308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1" name="Rectangle 3090">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383226-C69F-3AEB-636F-41799B3D1EED}"/>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How SO2 is measured diagram :D</a:t>
            </a:r>
          </a:p>
        </p:txBody>
      </p:sp>
      <p:pic>
        <p:nvPicPr>
          <p:cNvPr id="3074" name="Picture 2">
            <a:extLst>
              <a:ext uri="{FF2B5EF4-FFF2-40B4-BE49-F238E27FC236}">
                <a16:creationId xmlns:a16="http://schemas.microsoft.com/office/drawing/2014/main" id="{601C3D9F-3FF3-4DF7-878B-E260995CA4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38034" y="2181426"/>
            <a:ext cx="5108801" cy="399763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158757EE-379E-5B0C-4B8F-D9B1998F605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45165" y="2217815"/>
            <a:ext cx="4689538" cy="399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884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DF3D94-9F05-C575-0D52-141B0B9375D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SO2 (NAAQS)</a:t>
            </a:r>
          </a:p>
        </p:txBody>
      </p:sp>
      <p:graphicFrame>
        <p:nvGraphicFramePr>
          <p:cNvPr id="5" name="Content Placeholder 2">
            <a:extLst>
              <a:ext uri="{FF2B5EF4-FFF2-40B4-BE49-F238E27FC236}">
                <a16:creationId xmlns:a16="http://schemas.microsoft.com/office/drawing/2014/main" id="{A6388BED-C625-3640-43E6-F4C800D92FD1}"/>
              </a:ext>
            </a:extLst>
          </p:cNvPr>
          <p:cNvGraphicFramePr>
            <a:graphicFrameLocks noGrp="1"/>
          </p:cNvGraphicFramePr>
          <p:nvPr>
            <p:ph idx="1"/>
            <p:extLst>
              <p:ext uri="{D42A27DB-BD31-4B8C-83A1-F6EECF244321}">
                <p14:modId xmlns:p14="http://schemas.microsoft.com/office/powerpoint/2010/main" val="56992200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1304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AC14F-D733-5870-74EF-7E427055DA5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NAAQS Revisions</a:t>
            </a:r>
          </a:p>
        </p:txBody>
      </p:sp>
      <p:pic>
        <p:nvPicPr>
          <p:cNvPr id="5" name="Content Placeholder 4">
            <a:extLst>
              <a:ext uri="{FF2B5EF4-FFF2-40B4-BE49-F238E27FC236}">
                <a16:creationId xmlns:a16="http://schemas.microsoft.com/office/drawing/2014/main" id="{9B4F8A5F-918D-D6DB-357D-077231B201C3}"/>
              </a:ext>
            </a:extLst>
          </p:cNvPr>
          <p:cNvPicPr>
            <a:picLocks noGrp="1" noChangeAspect="1"/>
          </p:cNvPicPr>
          <p:nvPr>
            <p:ph idx="1"/>
          </p:nvPr>
        </p:nvPicPr>
        <p:blipFill>
          <a:blip r:embed="rId2"/>
          <a:stretch>
            <a:fillRect/>
          </a:stretch>
        </p:blipFill>
        <p:spPr>
          <a:xfrm>
            <a:off x="4527804" y="321733"/>
            <a:ext cx="7247267" cy="6214534"/>
          </a:xfrm>
          <a:prstGeom prst="rect">
            <a:avLst/>
          </a:prstGeom>
        </p:spPr>
      </p:pic>
    </p:spTree>
    <p:extLst>
      <p:ext uri="{BB962C8B-B14F-4D97-AF65-F5344CB8AC3E}">
        <p14:creationId xmlns:p14="http://schemas.microsoft.com/office/powerpoint/2010/main" val="181790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D30A683-6BB4-F136-FD8C-4661C6840F88}"/>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Summary of changes over the years </a:t>
            </a:r>
          </a:p>
        </p:txBody>
      </p:sp>
      <p:graphicFrame>
        <p:nvGraphicFramePr>
          <p:cNvPr id="4" name="Content Placeholder 3">
            <a:extLst>
              <a:ext uri="{FF2B5EF4-FFF2-40B4-BE49-F238E27FC236}">
                <a16:creationId xmlns:a16="http://schemas.microsoft.com/office/drawing/2014/main" id="{285D41C8-5443-2D76-5CD2-63DE39F1F453}"/>
              </a:ext>
            </a:extLst>
          </p:cNvPr>
          <p:cNvGraphicFramePr>
            <a:graphicFrameLocks noGrp="1"/>
          </p:cNvGraphicFramePr>
          <p:nvPr>
            <p:ph idx="1"/>
            <p:extLst>
              <p:ext uri="{D42A27DB-BD31-4B8C-83A1-F6EECF244321}">
                <p14:modId xmlns:p14="http://schemas.microsoft.com/office/powerpoint/2010/main" val="3353434270"/>
              </p:ext>
            </p:extLst>
          </p:nvPr>
        </p:nvGraphicFramePr>
        <p:xfrm>
          <a:off x="196645" y="1836331"/>
          <a:ext cx="11798709" cy="4584314"/>
        </p:xfrm>
        <a:graphic>
          <a:graphicData uri="http://schemas.openxmlformats.org/drawingml/2006/table">
            <a:tbl>
              <a:tblPr>
                <a:tableStyleId>{7DF18680-E054-41AD-8BC1-D1AEF772440D}</a:tableStyleId>
              </a:tblPr>
              <a:tblGrid>
                <a:gridCol w="2843755">
                  <a:extLst>
                    <a:ext uri="{9D8B030D-6E8A-4147-A177-3AD203B41FA5}">
                      <a16:colId xmlns:a16="http://schemas.microsoft.com/office/drawing/2014/main" val="3267793847"/>
                    </a:ext>
                  </a:extLst>
                </a:gridCol>
                <a:gridCol w="3008773">
                  <a:extLst>
                    <a:ext uri="{9D8B030D-6E8A-4147-A177-3AD203B41FA5}">
                      <a16:colId xmlns:a16="http://schemas.microsoft.com/office/drawing/2014/main" val="2981837087"/>
                    </a:ext>
                  </a:extLst>
                </a:gridCol>
                <a:gridCol w="2963099">
                  <a:extLst>
                    <a:ext uri="{9D8B030D-6E8A-4147-A177-3AD203B41FA5}">
                      <a16:colId xmlns:a16="http://schemas.microsoft.com/office/drawing/2014/main" val="2003973875"/>
                    </a:ext>
                  </a:extLst>
                </a:gridCol>
                <a:gridCol w="2983082">
                  <a:extLst>
                    <a:ext uri="{9D8B030D-6E8A-4147-A177-3AD203B41FA5}">
                      <a16:colId xmlns:a16="http://schemas.microsoft.com/office/drawing/2014/main" val="3386782959"/>
                    </a:ext>
                  </a:extLst>
                </a:gridCol>
              </a:tblGrid>
              <a:tr h="405222">
                <a:tc>
                  <a:txBody>
                    <a:bodyPr/>
                    <a:lstStyle/>
                    <a:p>
                      <a:pPr>
                        <a:buNone/>
                      </a:pPr>
                      <a:r>
                        <a:rPr lang="en-US" sz="1200" b="1" dirty="0"/>
                        <a:t>Years</a:t>
                      </a:r>
                    </a:p>
                  </a:txBody>
                  <a:tcPr marL="61746" marR="61746" marT="30873" marB="30873" anchor="ctr"/>
                </a:tc>
                <a:tc>
                  <a:txBody>
                    <a:bodyPr/>
                    <a:lstStyle/>
                    <a:p>
                      <a:pPr>
                        <a:buNone/>
                      </a:pPr>
                      <a:r>
                        <a:rPr lang="en-US" sz="1200" b="1"/>
                        <a:t>Primary Standard (Human Health)</a:t>
                      </a:r>
                    </a:p>
                  </a:txBody>
                  <a:tcPr marL="61746" marR="61746" marT="30873" marB="30873" anchor="ctr"/>
                </a:tc>
                <a:tc>
                  <a:txBody>
                    <a:bodyPr/>
                    <a:lstStyle/>
                    <a:p>
                      <a:pPr>
                        <a:buNone/>
                      </a:pPr>
                      <a:r>
                        <a:rPr lang="en-US" sz="1200" b="1"/>
                        <a:t>Secondary Standard (Public Welfare)</a:t>
                      </a:r>
                    </a:p>
                  </a:txBody>
                  <a:tcPr marL="61746" marR="61746" marT="30873" marB="30873" anchor="ctr"/>
                </a:tc>
                <a:tc>
                  <a:txBody>
                    <a:bodyPr/>
                    <a:lstStyle/>
                    <a:p>
                      <a:pPr>
                        <a:buNone/>
                      </a:pPr>
                      <a:r>
                        <a:rPr lang="en-US" sz="1200" b="1" dirty="0"/>
                        <a:t>Notes</a:t>
                      </a:r>
                    </a:p>
                  </a:txBody>
                  <a:tcPr marL="61746" marR="61746" marT="30873" marB="30873" anchor="ctr"/>
                </a:tc>
                <a:extLst>
                  <a:ext uri="{0D108BD9-81ED-4DB2-BD59-A6C34878D82A}">
                    <a16:rowId xmlns:a16="http://schemas.microsoft.com/office/drawing/2014/main" val="1853618261"/>
                  </a:ext>
                </a:extLst>
              </a:tr>
              <a:tr h="1172684">
                <a:tc>
                  <a:txBody>
                    <a:bodyPr/>
                    <a:lstStyle/>
                    <a:p>
                      <a:pPr>
                        <a:buNone/>
                      </a:pPr>
                      <a:r>
                        <a:rPr lang="en-US" sz="1200" b="1" dirty="0"/>
                        <a:t>2010–2011</a:t>
                      </a:r>
                      <a:endParaRPr lang="en-US" sz="1200" dirty="0"/>
                    </a:p>
                  </a:txBody>
                  <a:tcPr marL="61746" marR="61746" marT="30873" marB="30873" anchor="ctr"/>
                </a:tc>
                <a:tc>
                  <a:txBody>
                    <a:bodyPr/>
                    <a:lstStyle/>
                    <a:p>
                      <a:pPr>
                        <a:buNone/>
                      </a:pPr>
                      <a:r>
                        <a:rPr lang="en-US" sz="1200" b="1"/>
                        <a:t>75 ppb</a:t>
                      </a:r>
                      <a:r>
                        <a:rPr lang="en-US" sz="1200"/>
                        <a:t>, 1-hour average (99th percentile of daily maximum 1-hour concentrations, averaged over 3 years)</a:t>
                      </a:r>
                    </a:p>
                  </a:txBody>
                  <a:tcPr marL="61746" marR="61746" marT="30873" marB="30873" anchor="ctr"/>
                </a:tc>
                <a:tc>
                  <a:txBody>
                    <a:bodyPr/>
                    <a:lstStyle/>
                    <a:p>
                      <a:pPr>
                        <a:buNone/>
                      </a:pPr>
                      <a:r>
                        <a:rPr lang="en-US" sz="1200" b="1"/>
                        <a:t>500 ppb</a:t>
                      </a:r>
                      <a:r>
                        <a:rPr lang="en-US" sz="1200"/>
                        <a:t>, 3-hour average, not to be exceeded more than once per year</a:t>
                      </a:r>
                    </a:p>
                  </a:txBody>
                  <a:tcPr marL="61746" marR="61746" marT="30873" marB="30873" anchor="ctr"/>
                </a:tc>
                <a:tc>
                  <a:txBody>
                    <a:bodyPr/>
                    <a:lstStyle/>
                    <a:p>
                      <a:pPr>
                        <a:buNone/>
                      </a:pPr>
                      <a:r>
                        <a:rPr lang="en-US" sz="1200" dirty="0"/>
                        <a:t>EPA established the new 1-hour primary standard in 2010 and revoked the previous annual and 24-hour primary standards. (</a:t>
                      </a:r>
                      <a:r>
                        <a:rPr lang="en-US" sz="1200" dirty="0">
                          <a:hlinkClick r:id="rId2" tooltip="Timeline of Sulfur Dioxide NAAQS"/>
                        </a:rPr>
                        <a:t>US EPA</a:t>
                      </a:r>
                      <a:r>
                        <a:rPr lang="en-US" sz="1200" dirty="0"/>
                        <a:t>)</a:t>
                      </a:r>
                    </a:p>
                  </a:txBody>
                  <a:tcPr marL="61746" marR="61746" marT="30873" marB="30873" anchor="ctr"/>
                </a:tc>
                <a:extLst>
                  <a:ext uri="{0D108BD9-81ED-4DB2-BD59-A6C34878D82A}">
                    <a16:rowId xmlns:a16="http://schemas.microsoft.com/office/drawing/2014/main" val="3877039507"/>
                  </a:ext>
                </a:extLst>
              </a:tr>
              <a:tr h="916862">
                <a:tc>
                  <a:txBody>
                    <a:bodyPr/>
                    <a:lstStyle/>
                    <a:p>
                      <a:pPr>
                        <a:buNone/>
                      </a:pPr>
                      <a:r>
                        <a:rPr lang="en-US" sz="1200" b="1"/>
                        <a:t>2012–2018</a:t>
                      </a:r>
                      <a:endParaRPr lang="en-US" sz="1200"/>
                    </a:p>
                  </a:txBody>
                  <a:tcPr marL="61746" marR="61746" marT="30873" marB="30873" anchor="ctr"/>
                </a:tc>
                <a:tc>
                  <a:txBody>
                    <a:bodyPr/>
                    <a:lstStyle/>
                    <a:p>
                      <a:pPr>
                        <a:buNone/>
                      </a:pPr>
                      <a:r>
                        <a:rPr lang="en-US" sz="1200" b="1"/>
                        <a:t>75 ppb</a:t>
                      </a:r>
                      <a:r>
                        <a:rPr lang="en-US" sz="1200"/>
                        <a:t>, 1-hour average (99th percentile over 3 years)</a:t>
                      </a:r>
                    </a:p>
                  </a:txBody>
                  <a:tcPr marL="61746" marR="61746" marT="30873" marB="30873" anchor="ctr"/>
                </a:tc>
                <a:tc>
                  <a:txBody>
                    <a:bodyPr/>
                    <a:lstStyle/>
                    <a:p>
                      <a:pPr>
                        <a:buNone/>
                      </a:pPr>
                      <a:r>
                        <a:rPr lang="en-US" sz="1200" b="1"/>
                        <a:t>500 ppb</a:t>
                      </a:r>
                      <a:r>
                        <a:rPr lang="en-US" sz="1200"/>
                        <a:t>, 3-hour average, not to be exceeded more than once per year</a:t>
                      </a:r>
                    </a:p>
                  </a:txBody>
                  <a:tcPr marL="61746" marR="61746" marT="30873" marB="30873" anchor="ctr"/>
                </a:tc>
                <a:tc>
                  <a:txBody>
                    <a:bodyPr/>
                    <a:lstStyle/>
                    <a:p>
                      <a:pPr>
                        <a:buNone/>
                      </a:pPr>
                      <a:r>
                        <a:rPr lang="en-US" sz="1200"/>
                        <a:t>EPA reviewed the secondary standard in 2012 and retained it without revision. (</a:t>
                      </a:r>
                      <a:r>
                        <a:rPr lang="en-US" sz="1200">
                          <a:hlinkClick r:id="rId2" tooltip="Timeline of Sulfur Dioxide NAAQS"/>
                        </a:rPr>
                        <a:t>US EPA</a:t>
                      </a:r>
                      <a:r>
                        <a:rPr lang="en-US" sz="1200"/>
                        <a:t>)</a:t>
                      </a:r>
                    </a:p>
                  </a:txBody>
                  <a:tcPr marL="61746" marR="61746" marT="30873" marB="30873" anchor="ctr"/>
                </a:tc>
                <a:extLst>
                  <a:ext uri="{0D108BD9-81ED-4DB2-BD59-A6C34878D82A}">
                    <a16:rowId xmlns:a16="http://schemas.microsoft.com/office/drawing/2014/main" val="1656854906"/>
                  </a:ext>
                </a:extLst>
              </a:tr>
              <a:tr h="916862">
                <a:tc>
                  <a:txBody>
                    <a:bodyPr/>
                    <a:lstStyle/>
                    <a:p>
                      <a:pPr>
                        <a:buNone/>
                      </a:pPr>
                      <a:r>
                        <a:rPr lang="en-US" sz="1200" b="1"/>
                        <a:t>2019–2024</a:t>
                      </a:r>
                      <a:endParaRPr lang="en-US" sz="1200"/>
                    </a:p>
                  </a:txBody>
                  <a:tcPr marL="61746" marR="61746" marT="30873" marB="30873" anchor="ctr"/>
                </a:tc>
                <a:tc>
                  <a:txBody>
                    <a:bodyPr/>
                    <a:lstStyle/>
                    <a:p>
                      <a:pPr>
                        <a:buNone/>
                      </a:pPr>
                      <a:r>
                        <a:rPr lang="en-US" sz="1200" b="1"/>
                        <a:t>75 ppb</a:t>
                      </a:r>
                      <a:r>
                        <a:rPr lang="en-US" sz="1200"/>
                        <a:t>, 1-hour average (99th percentile over 3 years)</a:t>
                      </a:r>
                    </a:p>
                  </a:txBody>
                  <a:tcPr marL="61746" marR="61746" marT="30873" marB="30873" anchor="ctr"/>
                </a:tc>
                <a:tc>
                  <a:txBody>
                    <a:bodyPr/>
                    <a:lstStyle/>
                    <a:p>
                      <a:pPr>
                        <a:buNone/>
                      </a:pPr>
                      <a:r>
                        <a:rPr lang="en-US" sz="1200" b="1"/>
                        <a:t>500 ppb</a:t>
                      </a:r>
                      <a:r>
                        <a:rPr lang="en-US" sz="1200"/>
                        <a:t>, 3-hour average, not to be exceeded more than once per year</a:t>
                      </a:r>
                    </a:p>
                  </a:txBody>
                  <a:tcPr marL="61746" marR="61746" marT="30873" marB="30873" anchor="ctr"/>
                </a:tc>
                <a:tc>
                  <a:txBody>
                    <a:bodyPr/>
                    <a:lstStyle/>
                    <a:p>
                      <a:pPr>
                        <a:buNone/>
                      </a:pPr>
                      <a:r>
                        <a:rPr lang="en-US" sz="1200"/>
                        <a:t>EPA reviewed the primary standard in 2019 and retained it without revision. (</a:t>
                      </a:r>
                      <a:r>
                        <a:rPr lang="en-US" sz="1200">
                          <a:hlinkClick r:id="rId2" tooltip="Timeline of Sulfur Dioxide NAAQS"/>
                        </a:rPr>
                        <a:t>US EPA</a:t>
                      </a:r>
                      <a:r>
                        <a:rPr lang="en-US" sz="1200"/>
                        <a:t>)</a:t>
                      </a:r>
                    </a:p>
                  </a:txBody>
                  <a:tcPr marL="61746" marR="61746" marT="30873" marB="30873" anchor="ctr"/>
                </a:tc>
                <a:extLst>
                  <a:ext uri="{0D108BD9-81ED-4DB2-BD59-A6C34878D82A}">
                    <a16:rowId xmlns:a16="http://schemas.microsoft.com/office/drawing/2014/main" val="3950992360"/>
                  </a:ext>
                </a:extLst>
              </a:tr>
              <a:tr h="1172684">
                <a:tc>
                  <a:txBody>
                    <a:bodyPr/>
                    <a:lstStyle/>
                    <a:p>
                      <a:pPr>
                        <a:buNone/>
                      </a:pPr>
                      <a:r>
                        <a:rPr lang="en-US" sz="1200" b="1"/>
                        <a:t>2025–Present</a:t>
                      </a:r>
                      <a:endParaRPr lang="en-US" sz="1200"/>
                    </a:p>
                  </a:txBody>
                  <a:tcPr marL="61746" marR="61746" marT="30873" marB="30873" anchor="ctr"/>
                </a:tc>
                <a:tc>
                  <a:txBody>
                    <a:bodyPr/>
                    <a:lstStyle/>
                    <a:p>
                      <a:pPr>
                        <a:buNone/>
                      </a:pPr>
                      <a:r>
                        <a:rPr lang="en-US" sz="1200" b="1"/>
                        <a:t>75 ppb</a:t>
                      </a:r>
                      <a:r>
                        <a:rPr lang="en-US" sz="1200"/>
                        <a:t>, 1-hour average (99th percentile over 3 years)</a:t>
                      </a:r>
                    </a:p>
                  </a:txBody>
                  <a:tcPr marL="61746" marR="61746" marT="30873" marB="30873" anchor="ctr"/>
                </a:tc>
                <a:tc>
                  <a:txBody>
                    <a:bodyPr/>
                    <a:lstStyle/>
                    <a:p>
                      <a:pPr>
                        <a:buNone/>
                      </a:pPr>
                      <a:r>
                        <a:rPr lang="en-US" sz="1200" b="1"/>
                        <a:t>10 ppb</a:t>
                      </a:r>
                      <a:r>
                        <a:rPr lang="en-US" sz="1200"/>
                        <a:t>, annual average, averaged over 3 consecutive years</a:t>
                      </a:r>
                    </a:p>
                  </a:txBody>
                  <a:tcPr marL="61746" marR="61746" marT="30873" marB="30873" anchor="ctr"/>
                </a:tc>
                <a:tc>
                  <a:txBody>
                    <a:bodyPr/>
                    <a:lstStyle/>
                    <a:p>
                      <a:pPr>
                        <a:buNone/>
                      </a:pPr>
                      <a:r>
                        <a:rPr lang="en-US" sz="1200" dirty="0"/>
                        <a:t>EPA revised the secondary standard in December 2024 (effective January 2025) to better protect ecosystems from sulfur deposition. (</a:t>
                      </a:r>
                      <a:r>
                        <a:rPr lang="en-US" sz="1200" dirty="0">
                          <a:hlinkClick r:id="rId3" tooltip="Review of the Secondary National Ambient Air Quality ..."/>
                        </a:rPr>
                        <a:t>Federal Register</a:t>
                      </a:r>
                      <a:r>
                        <a:rPr lang="en-US" sz="1200" dirty="0"/>
                        <a:t>)</a:t>
                      </a:r>
                    </a:p>
                  </a:txBody>
                  <a:tcPr marL="61746" marR="61746" marT="30873" marB="30873" anchor="ctr"/>
                </a:tc>
                <a:extLst>
                  <a:ext uri="{0D108BD9-81ED-4DB2-BD59-A6C34878D82A}">
                    <a16:rowId xmlns:a16="http://schemas.microsoft.com/office/drawing/2014/main" val="2365317093"/>
                  </a:ext>
                </a:extLst>
              </a:tr>
            </a:tbl>
          </a:graphicData>
        </a:graphic>
      </p:graphicFrame>
    </p:spTree>
    <p:extLst>
      <p:ext uri="{BB962C8B-B14F-4D97-AF65-F5344CB8AC3E}">
        <p14:creationId xmlns:p14="http://schemas.microsoft.com/office/powerpoint/2010/main" val="3706931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EBD697-8DAA-9F79-A9E2-921C31BE531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A8708A-8C2D-B7E8-4B80-6532CE15DB4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SO2 FEM VS FRM</a:t>
            </a:r>
          </a:p>
        </p:txBody>
      </p:sp>
      <p:graphicFrame>
        <p:nvGraphicFramePr>
          <p:cNvPr id="5" name="Content Placeholder 2">
            <a:extLst>
              <a:ext uri="{FF2B5EF4-FFF2-40B4-BE49-F238E27FC236}">
                <a16:creationId xmlns:a16="http://schemas.microsoft.com/office/drawing/2014/main" id="{13E2B849-4A02-838B-555D-BF250EA41663}"/>
              </a:ext>
            </a:extLst>
          </p:cNvPr>
          <p:cNvGraphicFramePr>
            <a:graphicFrameLocks noGrp="1"/>
          </p:cNvGraphicFramePr>
          <p:nvPr>
            <p:ph idx="1"/>
            <p:extLst>
              <p:ext uri="{D42A27DB-BD31-4B8C-83A1-F6EECF244321}">
                <p14:modId xmlns:p14="http://schemas.microsoft.com/office/powerpoint/2010/main" val="192625229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7954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35F379-1588-7101-BEAE-DB557A8DA16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EPA approves of TCEQ </a:t>
            </a:r>
          </a:p>
        </p:txBody>
      </p:sp>
      <p:pic>
        <p:nvPicPr>
          <p:cNvPr id="5" name="Content Placeholder 4">
            <a:extLst>
              <a:ext uri="{FF2B5EF4-FFF2-40B4-BE49-F238E27FC236}">
                <a16:creationId xmlns:a16="http://schemas.microsoft.com/office/drawing/2014/main" id="{DFE503B8-B1CC-2633-64C3-27CB0F4F162C}"/>
              </a:ext>
            </a:extLst>
          </p:cNvPr>
          <p:cNvPicPr>
            <a:picLocks noGrp="1" noChangeAspect="1"/>
          </p:cNvPicPr>
          <p:nvPr>
            <p:ph idx="1"/>
          </p:nvPr>
        </p:nvPicPr>
        <p:blipFill>
          <a:blip r:embed="rId2"/>
          <a:stretch>
            <a:fillRect/>
          </a:stretch>
        </p:blipFill>
        <p:spPr>
          <a:xfrm>
            <a:off x="2173392" y="1966293"/>
            <a:ext cx="7845215" cy="4452160"/>
          </a:xfrm>
          <a:prstGeom prst="rect">
            <a:avLst/>
          </a:prstGeom>
        </p:spPr>
      </p:pic>
    </p:spTree>
    <p:extLst>
      <p:ext uri="{BB962C8B-B14F-4D97-AF65-F5344CB8AC3E}">
        <p14:creationId xmlns:p14="http://schemas.microsoft.com/office/powerpoint/2010/main" val="341498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713F09-0273-4C25-586E-12145785FB7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Weather Influences </a:t>
            </a:r>
          </a:p>
        </p:txBody>
      </p:sp>
      <p:graphicFrame>
        <p:nvGraphicFramePr>
          <p:cNvPr id="4" name="Content Placeholder 3">
            <a:extLst>
              <a:ext uri="{FF2B5EF4-FFF2-40B4-BE49-F238E27FC236}">
                <a16:creationId xmlns:a16="http://schemas.microsoft.com/office/drawing/2014/main" id="{334AADC9-80A7-6D70-F046-606489611ACB}"/>
              </a:ext>
            </a:extLst>
          </p:cNvPr>
          <p:cNvGraphicFramePr>
            <a:graphicFrameLocks noGrp="1"/>
          </p:cNvGraphicFramePr>
          <p:nvPr>
            <p:ph idx="1"/>
            <p:extLst>
              <p:ext uri="{D42A27DB-BD31-4B8C-83A1-F6EECF244321}">
                <p14:modId xmlns:p14="http://schemas.microsoft.com/office/powerpoint/2010/main" val="1635784475"/>
              </p:ext>
            </p:extLst>
          </p:nvPr>
        </p:nvGraphicFramePr>
        <p:xfrm>
          <a:off x="1700259" y="2112579"/>
          <a:ext cx="8815425" cy="4192809"/>
        </p:xfrm>
        <a:graphic>
          <a:graphicData uri="http://schemas.openxmlformats.org/drawingml/2006/table">
            <a:tbl>
              <a:tblPr>
                <a:tableStyleId>{F5AB1C69-6EDB-4FF4-983F-18BD219EF322}</a:tableStyleId>
              </a:tblPr>
              <a:tblGrid>
                <a:gridCol w="2838001">
                  <a:extLst>
                    <a:ext uri="{9D8B030D-6E8A-4147-A177-3AD203B41FA5}">
                      <a16:colId xmlns:a16="http://schemas.microsoft.com/office/drawing/2014/main" val="2936203772"/>
                    </a:ext>
                  </a:extLst>
                </a:gridCol>
                <a:gridCol w="2947147">
                  <a:extLst>
                    <a:ext uri="{9D8B030D-6E8A-4147-A177-3AD203B41FA5}">
                      <a16:colId xmlns:a16="http://schemas.microsoft.com/office/drawing/2014/main" val="2668052509"/>
                    </a:ext>
                  </a:extLst>
                </a:gridCol>
                <a:gridCol w="3030277">
                  <a:extLst>
                    <a:ext uri="{9D8B030D-6E8A-4147-A177-3AD203B41FA5}">
                      <a16:colId xmlns:a16="http://schemas.microsoft.com/office/drawing/2014/main" val="2442531674"/>
                    </a:ext>
                  </a:extLst>
                </a:gridCol>
              </a:tblGrid>
              <a:tr h="248563">
                <a:tc>
                  <a:txBody>
                    <a:bodyPr/>
                    <a:lstStyle/>
                    <a:p>
                      <a:pPr>
                        <a:buNone/>
                      </a:pPr>
                      <a:r>
                        <a:rPr lang="en-US" sz="1200" b="1"/>
                        <a:t>Var</a:t>
                      </a:r>
                    </a:p>
                  </a:txBody>
                  <a:tcPr marL="40289" marR="40289" marT="20144" marB="20144" anchor="ctr"/>
                </a:tc>
                <a:tc>
                  <a:txBody>
                    <a:bodyPr/>
                    <a:lstStyle/>
                    <a:p>
                      <a:pPr>
                        <a:buNone/>
                      </a:pPr>
                      <a:r>
                        <a:rPr lang="en-US" sz="1200" b="1"/>
                        <a:t>effect</a:t>
                      </a:r>
                    </a:p>
                  </a:txBody>
                  <a:tcPr marL="40289" marR="40289" marT="20144" marB="20144" anchor="ctr"/>
                </a:tc>
                <a:tc>
                  <a:txBody>
                    <a:bodyPr/>
                    <a:lstStyle/>
                    <a:p>
                      <a:pPr>
                        <a:buNone/>
                      </a:pPr>
                      <a:r>
                        <a:rPr lang="en-US" sz="1200" b="1"/>
                        <a:t>What happens </a:t>
                      </a:r>
                    </a:p>
                  </a:txBody>
                  <a:tcPr marL="40289" marR="40289" marT="20144" marB="20144" anchor="ctr"/>
                </a:tc>
                <a:extLst>
                  <a:ext uri="{0D108BD9-81ED-4DB2-BD59-A6C34878D82A}">
                    <a16:rowId xmlns:a16="http://schemas.microsoft.com/office/drawing/2014/main" val="1693519272"/>
                  </a:ext>
                </a:extLst>
              </a:tr>
              <a:tr h="426358">
                <a:tc>
                  <a:txBody>
                    <a:bodyPr/>
                    <a:lstStyle/>
                    <a:p>
                      <a:pPr>
                        <a:buNone/>
                      </a:pPr>
                      <a:r>
                        <a:rPr lang="en-US" sz="1200" b="1"/>
                        <a:t>Wind Speed</a:t>
                      </a:r>
                      <a:endParaRPr lang="en-US" sz="1200"/>
                    </a:p>
                  </a:txBody>
                  <a:tcPr marL="40289" marR="40289" marT="20144" marB="20144" anchor="ctr"/>
                </a:tc>
                <a:tc>
                  <a:txBody>
                    <a:bodyPr/>
                    <a:lstStyle/>
                    <a:p>
                      <a:pPr>
                        <a:buNone/>
                      </a:pPr>
                      <a:r>
                        <a:rPr lang="en-US" sz="1200"/>
                        <a:t>Higher wind speeds generally decrease SO₂ concentrations</a:t>
                      </a:r>
                    </a:p>
                  </a:txBody>
                  <a:tcPr marL="40289" marR="40289" marT="20144" marB="20144" anchor="ctr"/>
                </a:tc>
                <a:tc>
                  <a:txBody>
                    <a:bodyPr/>
                    <a:lstStyle/>
                    <a:p>
                      <a:pPr>
                        <a:buNone/>
                      </a:pPr>
                      <a:r>
                        <a:rPr lang="en-US" sz="1200"/>
                        <a:t>Wind disperses emissions and dilutes pollutants.</a:t>
                      </a:r>
                    </a:p>
                  </a:txBody>
                  <a:tcPr marL="40289" marR="40289" marT="20144" marB="20144" anchor="ctr"/>
                </a:tc>
                <a:extLst>
                  <a:ext uri="{0D108BD9-81ED-4DB2-BD59-A6C34878D82A}">
                    <a16:rowId xmlns:a16="http://schemas.microsoft.com/office/drawing/2014/main" val="607241706"/>
                  </a:ext>
                </a:extLst>
              </a:tr>
              <a:tr h="604152">
                <a:tc>
                  <a:txBody>
                    <a:bodyPr/>
                    <a:lstStyle/>
                    <a:p>
                      <a:pPr>
                        <a:buNone/>
                      </a:pPr>
                      <a:r>
                        <a:rPr lang="en-US" sz="1200" b="1"/>
                        <a:t>Wind Direction</a:t>
                      </a:r>
                      <a:endParaRPr lang="en-US" sz="1200"/>
                    </a:p>
                  </a:txBody>
                  <a:tcPr marL="40289" marR="40289" marT="20144" marB="20144" anchor="ctr"/>
                </a:tc>
                <a:tc>
                  <a:txBody>
                    <a:bodyPr/>
                    <a:lstStyle/>
                    <a:p>
                      <a:pPr>
                        <a:buNone/>
                      </a:pPr>
                      <a:r>
                        <a:rPr lang="en-US" sz="1200"/>
                        <a:t>Can increase or decrease SO₂ (depends </a:t>
                      </a:r>
                      <a:r>
                        <a:rPr lang="en-US" sz="1200">
                          <a:sym typeface="Wingdings" panose="05000000000000000000" pitchFamily="2" charset="2"/>
                        </a:rPr>
                        <a:t>:o)</a:t>
                      </a:r>
                      <a:endParaRPr lang="en-US" sz="1200"/>
                    </a:p>
                  </a:txBody>
                  <a:tcPr marL="40289" marR="40289" marT="20144" marB="20144" anchor="ctr"/>
                </a:tc>
                <a:tc>
                  <a:txBody>
                    <a:bodyPr/>
                    <a:lstStyle/>
                    <a:p>
                      <a:pPr>
                        <a:buNone/>
                      </a:pPr>
                      <a:r>
                        <a:rPr lang="en-US" sz="1200"/>
                        <a:t>Determines whether emissions from industrial sources or power plants are transported toward a monitoring site.</a:t>
                      </a:r>
                    </a:p>
                  </a:txBody>
                  <a:tcPr marL="40289" marR="40289" marT="20144" marB="20144" anchor="ctr"/>
                </a:tc>
                <a:extLst>
                  <a:ext uri="{0D108BD9-81ED-4DB2-BD59-A6C34878D82A}">
                    <a16:rowId xmlns:a16="http://schemas.microsoft.com/office/drawing/2014/main" val="2880757783"/>
                  </a:ext>
                </a:extLst>
              </a:tr>
              <a:tr h="426358">
                <a:tc>
                  <a:txBody>
                    <a:bodyPr/>
                    <a:lstStyle/>
                    <a:p>
                      <a:pPr>
                        <a:buNone/>
                      </a:pPr>
                      <a:r>
                        <a:rPr lang="en-US" sz="1200" b="1" i="1">
                          <a:solidFill>
                            <a:schemeClr val="bg2">
                              <a:lumMod val="50000"/>
                            </a:schemeClr>
                          </a:solidFill>
                        </a:rPr>
                        <a:t>Temp Inversions</a:t>
                      </a:r>
                      <a:endParaRPr lang="en-US" sz="1200" i="1">
                        <a:solidFill>
                          <a:schemeClr val="bg2">
                            <a:lumMod val="50000"/>
                          </a:schemeClr>
                        </a:solidFill>
                      </a:endParaRPr>
                    </a:p>
                  </a:txBody>
                  <a:tcPr marL="40289" marR="40289" marT="20144" marB="20144" anchor="ctr"/>
                </a:tc>
                <a:tc>
                  <a:txBody>
                    <a:bodyPr/>
                    <a:lstStyle/>
                    <a:p>
                      <a:pPr>
                        <a:buNone/>
                      </a:pPr>
                      <a:r>
                        <a:rPr lang="en-US" sz="1200" i="1">
                          <a:solidFill>
                            <a:schemeClr val="bg2">
                              <a:lumMod val="50000"/>
                            </a:schemeClr>
                          </a:solidFill>
                        </a:rPr>
                        <a:t>Increase SO₂</a:t>
                      </a:r>
                    </a:p>
                  </a:txBody>
                  <a:tcPr marL="40289" marR="40289" marT="20144" marB="20144" anchor="ctr"/>
                </a:tc>
                <a:tc>
                  <a:txBody>
                    <a:bodyPr/>
                    <a:lstStyle/>
                    <a:p>
                      <a:pPr>
                        <a:buNone/>
                      </a:pPr>
                      <a:r>
                        <a:rPr lang="en-US" sz="1200" i="1">
                          <a:solidFill>
                            <a:schemeClr val="bg2">
                              <a:lumMod val="50000"/>
                            </a:schemeClr>
                          </a:solidFill>
                        </a:rPr>
                        <a:t>Stable air traps pollutants near the ground, preventing vertical mixing.</a:t>
                      </a:r>
                    </a:p>
                  </a:txBody>
                  <a:tcPr marL="40289" marR="40289" marT="20144" marB="20144" anchor="ctr"/>
                </a:tc>
                <a:extLst>
                  <a:ext uri="{0D108BD9-81ED-4DB2-BD59-A6C34878D82A}">
                    <a16:rowId xmlns:a16="http://schemas.microsoft.com/office/drawing/2014/main" val="1563886108"/>
                  </a:ext>
                </a:extLst>
              </a:tr>
              <a:tr h="426358">
                <a:tc>
                  <a:txBody>
                    <a:bodyPr/>
                    <a:lstStyle/>
                    <a:p>
                      <a:pPr>
                        <a:buNone/>
                      </a:pPr>
                      <a:r>
                        <a:rPr lang="en-US" sz="1200" b="1" i="1">
                          <a:solidFill>
                            <a:schemeClr val="bg2">
                              <a:lumMod val="50000"/>
                            </a:schemeClr>
                          </a:solidFill>
                        </a:rPr>
                        <a:t>Boundary Layer Height </a:t>
                      </a:r>
                      <a:endParaRPr lang="en-US" sz="1200" i="1">
                        <a:solidFill>
                          <a:schemeClr val="bg2">
                            <a:lumMod val="50000"/>
                          </a:schemeClr>
                        </a:solidFill>
                      </a:endParaRPr>
                    </a:p>
                  </a:txBody>
                  <a:tcPr marL="40289" marR="40289" marT="20144" marB="20144" anchor="ctr"/>
                </a:tc>
                <a:tc>
                  <a:txBody>
                    <a:bodyPr/>
                    <a:lstStyle/>
                    <a:p>
                      <a:pPr>
                        <a:buNone/>
                      </a:pPr>
                      <a:r>
                        <a:rPr lang="en-US" sz="1200" i="1">
                          <a:solidFill>
                            <a:schemeClr val="bg2">
                              <a:lumMod val="50000"/>
                            </a:schemeClr>
                          </a:solidFill>
                        </a:rPr>
                        <a:t>lower SO₂ (If High BL)</a:t>
                      </a:r>
                    </a:p>
                  </a:txBody>
                  <a:tcPr marL="40289" marR="40289" marT="20144" marB="20144" anchor="ctr"/>
                </a:tc>
                <a:tc>
                  <a:txBody>
                    <a:bodyPr/>
                    <a:lstStyle/>
                    <a:p>
                      <a:pPr>
                        <a:buNone/>
                      </a:pPr>
                      <a:r>
                        <a:rPr lang="en-US" sz="1200" i="1">
                          <a:solidFill>
                            <a:schemeClr val="bg2">
                              <a:lumMod val="50000"/>
                            </a:schemeClr>
                          </a:solidFill>
                        </a:rPr>
                        <a:t>A deeper mixing layer allows pollutants to disperse through a larger volume of air.</a:t>
                      </a:r>
                    </a:p>
                  </a:txBody>
                  <a:tcPr marL="40289" marR="40289" marT="20144" marB="20144" anchor="ctr"/>
                </a:tc>
                <a:extLst>
                  <a:ext uri="{0D108BD9-81ED-4DB2-BD59-A6C34878D82A}">
                    <a16:rowId xmlns:a16="http://schemas.microsoft.com/office/drawing/2014/main" val="288301658"/>
                  </a:ext>
                </a:extLst>
              </a:tr>
              <a:tr h="426358">
                <a:tc>
                  <a:txBody>
                    <a:bodyPr/>
                    <a:lstStyle/>
                    <a:p>
                      <a:pPr>
                        <a:buNone/>
                      </a:pPr>
                      <a:r>
                        <a:rPr lang="en-US" sz="1200" b="1"/>
                        <a:t>Precip (Wet Deposition)</a:t>
                      </a:r>
                      <a:endParaRPr lang="en-US" sz="1200"/>
                    </a:p>
                  </a:txBody>
                  <a:tcPr marL="40289" marR="40289" marT="20144" marB="20144" anchor="ctr"/>
                </a:tc>
                <a:tc>
                  <a:txBody>
                    <a:bodyPr/>
                    <a:lstStyle/>
                    <a:p>
                      <a:pPr>
                        <a:buNone/>
                      </a:pPr>
                      <a:r>
                        <a:rPr lang="en-US" sz="1200"/>
                        <a:t>decreases SO₂</a:t>
                      </a:r>
                    </a:p>
                  </a:txBody>
                  <a:tcPr marL="40289" marR="40289" marT="20144" marB="20144" anchor="ctr"/>
                </a:tc>
                <a:tc>
                  <a:txBody>
                    <a:bodyPr/>
                    <a:lstStyle/>
                    <a:p>
                      <a:pPr>
                        <a:buNone/>
                      </a:pPr>
                      <a:r>
                        <a:rPr lang="en-US" sz="1200"/>
                        <a:t>SO₂ readily dissolves in rainwater and is removed from the atmosphere.</a:t>
                      </a:r>
                    </a:p>
                  </a:txBody>
                  <a:tcPr marL="40289" marR="40289" marT="20144" marB="20144" anchor="ctr"/>
                </a:tc>
                <a:extLst>
                  <a:ext uri="{0D108BD9-81ED-4DB2-BD59-A6C34878D82A}">
                    <a16:rowId xmlns:a16="http://schemas.microsoft.com/office/drawing/2014/main" val="1562144724"/>
                  </a:ext>
                </a:extLst>
              </a:tr>
              <a:tr h="604152">
                <a:tc>
                  <a:txBody>
                    <a:bodyPr/>
                    <a:lstStyle/>
                    <a:p>
                      <a:pPr>
                        <a:buNone/>
                      </a:pPr>
                      <a:r>
                        <a:rPr lang="en-US" sz="1200" b="1"/>
                        <a:t>Relative Humidity</a:t>
                      </a:r>
                      <a:endParaRPr lang="en-US" sz="1200"/>
                    </a:p>
                  </a:txBody>
                  <a:tcPr marL="40289" marR="40289" marT="20144" marB="20144" anchor="ctr"/>
                </a:tc>
                <a:tc>
                  <a:txBody>
                    <a:bodyPr/>
                    <a:lstStyle/>
                    <a:p>
                      <a:pPr>
                        <a:buNone/>
                      </a:pPr>
                      <a:r>
                        <a:rPr lang="en-US" sz="1200" u="sng"/>
                        <a:t>Usually</a:t>
                      </a:r>
                      <a:r>
                        <a:rPr lang="en-US" sz="1200"/>
                        <a:t> decreases gaseous SO₂</a:t>
                      </a:r>
                    </a:p>
                  </a:txBody>
                  <a:tcPr marL="40289" marR="40289" marT="20144" marB="20144" anchor="ctr"/>
                </a:tc>
                <a:tc>
                  <a:txBody>
                    <a:bodyPr/>
                    <a:lstStyle/>
                    <a:p>
                      <a:pPr>
                        <a:buNone/>
                      </a:pPr>
                      <a:r>
                        <a:rPr lang="en-US" sz="1200"/>
                        <a:t>High humidity promotes oxidation of SO₂ into sulfate aerosols (SO₄²), reducing the amount of gaseous SO₂.</a:t>
                      </a:r>
                    </a:p>
                  </a:txBody>
                  <a:tcPr marL="40289" marR="40289" marT="20144" marB="20144" anchor="ctr"/>
                </a:tc>
                <a:extLst>
                  <a:ext uri="{0D108BD9-81ED-4DB2-BD59-A6C34878D82A}">
                    <a16:rowId xmlns:a16="http://schemas.microsoft.com/office/drawing/2014/main" val="2507727738"/>
                  </a:ext>
                </a:extLst>
              </a:tr>
              <a:tr h="604152">
                <a:tc>
                  <a:txBody>
                    <a:bodyPr/>
                    <a:lstStyle/>
                    <a:p>
                      <a:pPr>
                        <a:buNone/>
                      </a:pPr>
                      <a:r>
                        <a:rPr lang="en-US" sz="1200" b="1"/>
                        <a:t>Solar Radiation</a:t>
                      </a:r>
                      <a:endParaRPr lang="en-US" sz="1200"/>
                    </a:p>
                  </a:txBody>
                  <a:tcPr marL="40289" marR="40289" marT="20144" marB="20144" anchor="ctr"/>
                </a:tc>
                <a:tc>
                  <a:txBody>
                    <a:bodyPr/>
                    <a:lstStyle/>
                    <a:p>
                      <a:pPr>
                        <a:buNone/>
                      </a:pPr>
                      <a:r>
                        <a:rPr lang="en-US" sz="1200"/>
                        <a:t>Decreases SO₂</a:t>
                      </a:r>
                    </a:p>
                  </a:txBody>
                  <a:tcPr marL="40289" marR="40289" marT="20144" marB="20144" anchor="ctr"/>
                </a:tc>
                <a:tc>
                  <a:txBody>
                    <a:bodyPr/>
                    <a:lstStyle/>
                    <a:p>
                      <a:pPr>
                        <a:buNone/>
                      </a:pPr>
                      <a:r>
                        <a:rPr lang="en-US" sz="1200"/>
                        <a:t>Sunlight accelerates atmospheric oxidation of SO₂ into sulfate particles through photochemical reactions.</a:t>
                      </a:r>
                    </a:p>
                  </a:txBody>
                  <a:tcPr marL="40289" marR="40289" marT="20144" marB="20144" anchor="ctr"/>
                </a:tc>
                <a:extLst>
                  <a:ext uri="{0D108BD9-81ED-4DB2-BD59-A6C34878D82A}">
                    <a16:rowId xmlns:a16="http://schemas.microsoft.com/office/drawing/2014/main" val="4022096810"/>
                  </a:ext>
                </a:extLst>
              </a:tr>
              <a:tr h="426358">
                <a:tc>
                  <a:txBody>
                    <a:bodyPr/>
                    <a:lstStyle/>
                    <a:p>
                      <a:pPr>
                        <a:buNone/>
                      </a:pPr>
                      <a:r>
                        <a:rPr lang="en-US" sz="1200" b="1"/>
                        <a:t>Atmos Pressure</a:t>
                      </a:r>
                      <a:endParaRPr lang="en-US" sz="1200"/>
                    </a:p>
                  </a:txBody>
                  <a:tcPr marL="40289" marR="40289" marT="20144" marB="20144" anchor="ctr"/>
                </a:tc>
                <a:tc>
                  <a:txBody>
                    <a:bodyPr/>
                    <a:lstStyle/>
                    <a:p>
                      <a:pPr>
                        <a:buNone/>
                      </a:pPr>
                      <a:r>
                        <a:rPr lang="en-US" sz="1200"/>
                        <a:t>increase SO₂ </a:t>
                      </a:r>
                      <a:r>
                        <a:rPr lang="en-US" sz="1200" i="1" u="sng"/>
                        <a:t>(if High pressure</a:t>
                      </a:r>
                      <a:r>
                        <a:rPr lang="en-US" sz="1200"/>
                        <a:t>) </a:t>
                      </a:r>
                    </a:p>
                  </a:txBody>
                  <a:tcPr marL="40289" marR="40289" marT="20144" marB="20144" anchor="ctr"/>
                </a:tc>
                <a:tc>
                  <a:txBody>
                    <a:bodyPr/>
                    <a:lstStyle/>
                    <a:p>
                      <a:pPr>
                        <a:buNone/>
                      </a:pPr>
                      <a:r>
                        <a:rPr lang="en-US" sz="1200" dirty="0"/>
                        <a:t>High-pressure systems often produce stagnant conditions with limited mixing.</a:t>
                      </a:r>
                    </a:p>
                  </a:txBody>
                  <a:tcPr marL="40289" marR="40289" marT="20144" marB="20144" anchor="ctr"/>
                </a:tc>
                <a:extLst>
                  <a:ext uri="{0D108BD9-81ED-4DB2-BD59-A6C34878D82A}">
                    <a16:rowId xmlns:a16="http://schemas.microsoft.com/office/drawing/2014/main" val="4241274606"/>
                  </a:ext>
                </a:extLst>
              </a:tr>
            </a:tbl>
          </a:graphicData>
        </a:graphic>
      </p:graphicFrame>
    </p:spTree>
    <p:extLst>
      <p:ext uri="{BB962C8B-B14F-4D97-AF65-F5344CB8AC3E}">
        <p14:creationId xmlns:p14="http://schemas.microsoft.com/office/powerpoint/2010/main" val="383079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A2AEC6-71AB-523D-AF2B-53FA4D020AD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Volatile Organic Compounds (VOCs)</a:t>
            </a:r>
          </a:p>
        </p:txBody>
      </p:sp>
      <p:sp>
        <p:nvSpPr>
          <p:cNvPr id="3" name="Content Placeholder 2">
            <a:extLst>
              <a:ext uri="{FF2B5EF4-FFF2-40B4-BE49-F238E27FC236}">
                <a16:creationId xmlns:a16="http://schemas.microsoft.com/office/drawing/2014/main" id="{804C0DD9-5F2D-A4DF-6A1F-1B387BBC92B9}"/>
              </a:ext>
            </a:extLst>
          </p:cNvPr>
          <p:cNvSpPr>
            <a:spLocks noGrp="1"/>
          </p:cNvSpPr>
          <p:nvPr>
            <p:ph idx="1"/>
          </p:nvPr>
        </p:nvSpPr>
        <p:spPr>
          <a:xfrm>
            <a:off x="4810259" y="649480"/>
            <a:ext cx="6555347" cy="5546047"/>
          </a:xfrm>
        </p:spPr>
        <p:txBody>
          <a:bodyPr anchor="ctr">
            <a:normAutofit/>
          </a:bodyPr>
          <a:lstStyle/>
          <a:p>
            <a:r>
              <a:rPr lang="en-US" sz="2000"/>
              <a:t>A large group of carbon-containing chemicals that easily evaporate into the atmosphere at normal temperatures because they have high vapor pressures and low boiling points</a:t>
            </a:r>
          </a:p>
          <a:p>
            <a:r>
              <a:rPr lang="en-US" sz="2000"/>
              <a:t>Common VOCs</a:t>
            </a:r>
          </a:p>
          <a:p>
            <a:pPr lvl="1"/>
            <a:r>
              <a:rPr lang="en-US" sz="2000"/>
              <a:t>Benzene </a:t>
            </a:r>
          </a:p>
          <a:p>
            <a:pPr lvl="1"/>
            <a:r>
              <a:rPr lang="en-US" sz="2000"/>
              <a:t>Toluene </a:t>
            </a:r>
          </a:p>
          <a:p>
            <a:pPr lvl="1"/>
            <a:r>
              <a:rPr lang="en-US" sz="2000"/>
              <a:t>Ethylbenzene </a:t>
            </a:r>
          </a:p>
          <a:p>
            <a:pPr lvl="1"/>
            <a:r>
              <a:rPr lang="en-US" sz="2000"/>
              <a:t>Xylenes (BTEX) </a:t>
            </a:r>
          </a:p>
          <a:p>
            <a:pPr lvl="1"/>
            <a:r>
              <a:rPr lang="en-US" sz="2000"/>
              <a:t>Formaldehyde </a:t>
            </a:r>
          </a:p>
          <a:p>
            <a:pPr lvl="1"/>
            <a:r>
              <a:rPr lang="en-US" sz="2000"/>
              <a:t>Acetaldehyde </a:t>
            </a:r>
          </a:p>
          <a:p>
            <a:pPr lvl="1"/>
            <a:r>
              <a:rPr lang="en-US" sz="2000"/>
              <a:t>Isoprene</a:t>
            </a:r>
          </a:p>
          <a:p>
            <a:r>
              <a:rPr lang="en-US" sz="2000"/>
              <a:t>Units : ppb (parts per billion)</a:t>
            </a:r>
          </a:p>
          <a:p>
            <a:endParaRPr lang="en-US" sz="2000"/>
          </a:p>
        </p:txBody>
      </p:sp>
    </p:spTree>
    <p:extLst>
      <p:ext uri="{BB962C8B-B14F-4D97-AF65-F5344CB8AC3E}">
        <p14:creationId xmlns:p14="http://schemas.microsoft.com/office/powerpoint/2010/main" val="3756974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4F87A2-45B2-3E93-10A9-1EA9B4745C50}"/>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VOC param codes</a:t>
            </a:r>
          </a:p>
        </p:txBody>
      </p:sp>
      <p:graphicFrame>
        <p:nvGraphicFramePr>
          <p:cNvPr id="4" name="Content Placeholder 3">
            <a:extLst>
              <a:ext uri="{FF2B5EF4-FFF2-40B4-BE49-F238E27FC236}">
                <a16:creationId xmlns:a16="http://schemas.microsoft.com/office/drawing/2014/main" id="{AF138F9A-0FA0-03EF-586B-1B1535424F52}"/>
              </a:ext>
            </a:extLst>
          </p:cNvPr>
          <p:cNvGraphicFramePr>
            <a:graphicFrameLocks noGrp="1"/>
          </p:cNvGraphicFramePr>
          <p:nvPr>
            <p:ph idx="1"/>
            <p:extLst>
              <p:ext uri="{D42A27DB-BD31-4B8C-83A1-F6EECF244321}">
                <p14:modId xmlns:p14="http://schemas.microsoft.com/office/powerpoint/2010/main" val="3852514642"/>
              </p:ext>
            </p:extLst>
          </p:nvPr>
        </p:nvGraphicFramePr>
        <p:xfrm>
          <a:off x="1400097" y="2615979"/>
          <a:ext cx="9415748" cy="3689406"/>
        </p:xfrm>
        <a:graphic>
          <a:graphicData uri="http://schemas.openxmlformats.org/drawingml/2006/table">
            <a:tbl>
              <a:tblPr firstRow="1" bandRow="1">
                <a:noFill/>
                <a:tableStyleId>{5C22544A-7EE6-4342-B048-85BDC9FD1C3A}</a:tableStyleId>
              </a:tblPr>
              <a:tblGrid>
                <a:gridCol w="4742821">
                  <a:extLst>
                    <a:ext uri="{9D8B030D-6E8A-4147-A177-3AD203B41FA5}">
                      <a16:colId xmlns:a16="http://schemas.microsoft.com/office/drawing/2014/main" val="93900672"/>
                    </a:ext>
                  </a:extLst>
                </a:gridCol>
                <a:gridCol w="4672927">
                  <a:extLst>
                    <a:ext uri="{9D8B030D-6E8A-4147-A177-3AD203B41FA5}">
                      <a16:colId xmlns:a16="http://schemas.microsoft.com/office/drawing/2014/main" val="1468581080"/>
                    </a:ext>
                  </a:extLst>
                </a:gridCol>
              </a:tblGrid>
              <a:tr h="614901">
                <a:tc>
                  <a:txBody>
                    <a:bodyPr/>
                    <a:lstStyle/>
                    <a:p>
                      <a:pPr>
                        <a:buNone/>
                      </a:pPr>
                      <a:r>
                        <a:rPr lang="en-US" sz="1800" b="1">
                          <a:solidFill>
                            <a:srgbClr val="FFFFFF"/>
                          </a:solidFill>
                        </a:rPr>
                        <a:t>Compound</a:t>
                      </a:r>
                    </a:p>
                  </a:txBody>
                  <a:tcPr marL="253393" marR="152036" marT="152036" marB="152036"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r">
                        <a:buNone/>
                      </a:pPr>
                      <a:r>
                        <a:rPr lang="en-US" sz="1800" b="1">
                          <a:solidFill>
                            <a:srgbClr val="FFFFFF"/>
                          </a:solidFill>
                        </a:rPr>
                        <a:t>Parameter Code</a:t>
                      </a:r>
                    </a:p>
                  </a:txBody>
                  <a:tcPr marL="253393" marR="152036" marT="152036" marB="152036"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2835911001"/>
                  </a:ext>
                </a:extLst>
              </a:tr>
              <a:tr h="614901">
                <a:tc>
                  <a:txBody>
                    <a:bodyPr/>
                    <a:lstStyle/>
                    <a:p>
                      <a:pPr>
                        <a:buNone/>
                      </a:pPr>
                      <a:r>
                        <a:rPr lang="en-US" sz="1800">
                          <a:solidFill>
                            <a:schemeClr val="tx1">
                              <a:lumMod val="85000"/>
                              <a:lumOff val="15000"/>
                            </a:schemeClr>
                          </a:solidFill>
                        </a:rPr>
                        <a:t>Benzene</a:t>
                      </a:r>
                    </a:p>
                  </a:txBody>
                  <a:tcPr marL="253393" marR="152036" marT="152036" marB="15203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800">
                          <a:solidFill>
                            <a:schemeClr val="tx1">
                              <a:lumMod val="85000"/>
                              <a:lumOff val="15000"/>
                            </a:schemeClr>
                          </a:solidFill>
                        </a:rPr>
                        <a:t>45201</a:t>
                      </a:r>
                    </a:p>
                  </a:txBody>
                  <a:tcPr marL="253393" marR="152036" marT="152036" marB="15203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606650202"/>
                  </a:ext>
                </a:extLst>
              </a:tr>
              <a:tr h="614901">
                <a:tc>
                  <a:txBody>
                    <a:bodyPr/>
                    <a:lstStyle/>
                    <a:p>
                      <a:pPr>
                        <a:buNone/>
                      </a:pPr>
                      <a:r>
                        <a:rPr lang="en-US" sz="1800">
                          <a:solidFill>
                            <a:schemeClr val="tx1">
                              <a:lumMod val="85000"/>
                              <a:lumOff val="15000"/>
                            </a:schemeClr>
                          </a:solidFill>
                        </a:rPr>
                        <a:t>Toluene</a:t>
                      </a:r>
                    </a:p>
                  </a:txBody>
                  <a:tcPr marL="253393" marR="152036" marT="152036" marB="15203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800">
                          <a:solidFill>
                            <a:schemeClr val="tx1">
                              <a:lumMod val="85000"/>
                              <a:lumOff val="15000"/>
                            </a:schemeClr>
                          </a:solidFill>
                        </a:rPr>
                        <a:t>45202</a:t>
                      </a:r>
                    </a:p>
                  </a:txBody>
                  <a:tcPr marL="253393" marR="152036" marT="152036" marB="15203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063959442"/>
                  </a:ext>
                </a:extLst>
              </a:tr>
              <a:tr h="614901">
                <a:tc>
                  <a:txBody>
                    <a:bodyPr/>
                    <a:lstStyle/>
                    <a:p>
                      <a:pPr>
                        <a:buNone/>
                      </a:pPr>
                      <a:r>
                        <a:rPr lang="en-US" sz="1800">
                          <a:solidFill>
                            <a:schemeClr val="tx1">
                              <a:lumMod val="85000"/>
                              <a:lumOff val="15000"/>
                            </a:schemeClr>
                          </a:solidFill>
                        </a:rPr>
                        <a:t>Ethylbenzene</a:t>
                      </a:r>
                    </a:p>
                  </a:txBody>
                  <a:tcPr marL="253393" marR="152036" marT="152036" marB="15203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800">
                          <a:solidFill>
                            <a:schemeClr val="tx1">
                              <a:lumMod val="85000"/>
                              <a:lumOff val="15000"/>
                            </a:schemeClr>
                          </a:solidFill>
                        </a:rPr>
                        <a:t>45203</a:t>
                      </a:r>
                    </a:p>
                  </a:txBody>
                  <a:tcPr marL="253393" marR="152036" marT="152036" marB="15203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457223797"/>
                  </a:ext>
                </a:extLst>
              </a:tr>
              <a:tr h="614901">
                <a:tc>
                  <a:txBody>
                    <a:bodyPr/>
                    <a:lstStyle/>
                    <a:p>
                      <a:pPr>
                        <a:buNone/>
                      </a:pPr>
                      <a:r>
                        <a:rPr lang="en-US" sz="1800">
                          <a:solidFill>
                            <a:schemeClr val="tx1">
                              <a:lumMod val="85000"/>
                              <a:lumOff val="15000"/>
                            </a:schemeClr>
                          </a:solidFill>
                        </a:rPr>
                        <a:t>M-Xylene</a:t>
                      </a:r>
                    </a:p>
                  </a:txBody>
                  <a:tcPr marL="253393" marR="152036" marT="152036" marB="152036"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800">
                          <a:solidFill>
                            <a:schemeClr val="tx1">
                              <a:lumMod val="85000"/>
                              <a:lumOff val="15000"/>
                            </a:schemeClr>
                          </a:solidFill>
                        </a:rPr>
                        <a:t>45204</a:t>
                      </a:r>
                    </a:p>
                  </a:txBody>
                  <a:tcPr marL="253393" marR="152036" marT="152036" marB="152036"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697632155"/>
                  </a:ext>
                </a:extLst>
              </a:tr>
              <a:tr h="614901">
                <a:tc>
                  <a:txBody>
                    <a:bodyPr/>
                    <a:lstStyle/>
                    <a:p>
                      <a:pPr>
                        <a:buNone/>
                      </a:pPr>
                      <a:r>
                        <a:rPr lang="en-US" sz="1800">
                          <a:solidFill>
                            <a:schemeClr val="tx1">
                              <a:lumMod val="85000"/>
                              <a:lumOff val="15000"/>
                            </a:schemeClr>
                          </a:solidFill>
                        </a:rPr>
                        <a:t>o-Xylene</a:t>
                      </a:r>
                    </a:p>
                  </a:txBody>
                  <a:tcPr marL="253393" marR="152036" marT="152036" marB="152036"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800">
                          <a:solidFill>
                            <a:schemeClr val="tx1">
                              <a:lumMod val="85000"/>
                              <a:lumOff val="15000"/>
                            </a:schemeClr>
                          </a:solidFill>
                        </a:rPr>
                        <a:t>45205</a:t>
                      </a:r>
                    </a:p>
                  </a:txBody>
                  <a:tcPr marL="253393" marR="152036" marT="152036" marB="152036"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167830854"/>
                  </a:ext>
                </a:extLst>
              </a:tr>
            </a:tbl>
          </a:graphicData>
        </a:graphic>
      </p:graphicFrame>
    </p:spTree>
    <p:extLst>
      <p:ext uri="{BB962C8B-B14F-4D97-AF65-F5344CB8AC3E}">
        <p14:creationId xmlns:p14="http://schemas.microsoft.com/office/powerpoint/2010/main" val="4215678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ECEAA1-50A4-68FE-FFCB-829F9B3A531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How are VOCs measured?</a:t>
            </a:r>
          </a:p>
        </p:txBody>
      </p:sp>
      <p:graphicFrame>
        <p:nvGraphicFramePr>
          <p:cNvPr id="5" name="Content Placeholder 2">
            <a:extLst>
              <a:ext uri="{FF2B5EF4-FFF2-40B4-BE49-F238E27FC236}">
                <a16:creationId xmlns:a16="http://schemas.microsoft.com/office/drawing/2014/main" id="{123A5BE5-8200-2FE6-B009-5DEE159EEA75}"/>
              </a:ext>
            </a:extLst>
          </p:cNvPr>
          <p:cNvGraphicFramePr>
            <a:graphicFrameLocks noGrp="1"/>
          </p:cNvGraphicFramePr>
          <p:nvPr>
            <p:ph idx="1"/>
            <p:extLst>
              <p:ext uri="{D42A27DB-BD31-4B8C-83A1-F6EECF244321}">
                <p14:modId xmlns:p14="http://schemas.microsoft.com/office/powerpoint/2010/main" val="81496478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2237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6A28D-CF73-BA80-76EA-D564573BD744}"/>
              </a:ext>
            </a:extLst>
          </p:cNvPr>
          <p:cNvSpPr>
            <a:spLocks noGrp="1"/>
          </p:cNvSpPr>
          <p:nvPr>
            <p:ph type="title"/>
          </p:nvPr>
        </p:nvSpPr>
        <p:spPr/>
        <p:txBody>
          <a:bodyPr/>
          <a:lstStyle/>
          <a:p>
            <a:r>
              <a:rPr lang="en-US" dirty="0"/>
              <a:t>NAAQS Standards</a:t>
            </a:r>
          </a:p>
        </p:txBody>
      </p:sp>
      <p:graphicFrame>
        <p:nvGraphicFramePr>
          <p:cNvPr id="5" name="Content Placeholder 2">
            <a:extLst>
              <a:ext uri="{FF2B5EF4-FFF2-40B4-BE49-F238E27FC236}">
                <a16:creationId xmlns:a16="http://schemas.microsoft.com/office/drawing/2014/main" id="{97F27BF7-E22B-B0BB-1787-08FCD2AE865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6711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E71A0E8-D43C-B1DA-75CD-8963C388E6E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Weather influence </a:t>
            </a:r>
          </a:p>
        </p:txBody>
      </p:sp>
      <p:graphicFrame>
        <p:nvGraphicFramePr>
          <p:cNvPr id="4" name="Content Placeholder 3">
            <a:extLst>
              <a:ext uri="{FF2B5EF4-FFF2-40B4-BE49-F238E27FC236}">
                <a16:creationId xmlns:a16="http://schemas.microsoft.com/office/drawing/2014/main" id="{452BCB6C-1927-7FE0-86E9-70B777297A84}"/>
              </a:ext>
            </a:extLst>
          </p:cNvPr>
          <p:cNvGraphicFramePr>
            <a:graphicFrameLocks noGrp="1"/>
          </p:cNvGraphicFramePr>
          <p:nvPr>
            <p:ph idx="1"/>
            <p:extLst>
              <p:ext uri="{D42A27DB-BD31-4B8C-83A1-F6EECF244321}">
                <p14:modId xmlns:p14="http://schemas.microsoft.com/office/powerpoint/2010/main" val="579526130"/>
              </p:ext>
            </p:extLst>
          </p:nvPr>
        </p:nvGraphicFramePr>
        <p:xfrm>
          <a:off x="839452" y="2112579"/>
          <a:ext cx="10537037" cy="4192806"/>
        </p:xfrm>
        <a:graphic>
          <a:graphicData uri="http://schemas.openxmlformats.org/drawingml/2006/table">
            <a:tbl>
              <a:tblPr>
                <a:tableStyleId>{5C22544A-7EE6-4342-B048-85BDC9FD1C3A}</a:tableStyleId>
              </a:tblPr>
              <a:tblGrid>
                <a:gridCol w="2598196">
                  <a:extLst>
                    <a:ext uri="{9D8B030D-6E8A-4147-A177-3AD203B41FA5}">
                      <a16:colId xmlns:a16="http://schemas.microsoft.com/office/drawing/2014/main" val="3007692212"/>
                    </a:ext>
                  </a:extLst>
                </a:gridCol>
                <a:gridCol w="3887782">
                  <a:extLst>
                    <a:ext uri="{9D8B030D-6E8A-4147-A177-3AD203B41FA5}">
                      <a16:colId xmlns:a16="http://schemas.microsoft.com/office/drawing/2014/main" val="1826337039"/>
                    </a:ext>
                  </a:extLst>
                </a:gridCol>
                <a:gridCol w="4051059">
                  <a:extLst>
                    <a:ext uri="{9D8B030D-6E8A-4147-A177-3AD203B41FA5}">
                      <a16:colId xmlns:a16="http://schemas.microsoft.com/office/drawing/2014/main" val="3667295446"/>
                    </a:ext>
                  </a:extLst>
                </a:gridCol>
              </a:tblGrid>
              <a:tr h="241134">
                <a:tc>
                  <a:txBody>
                    <a:bodyPr/>
                    <a:lstStyle/>
                    <a:p>
                      <a:pPr>
                        <a:buNone/>
                      </a:pPr>
                      <a:r>
                        <a:rPr lang="en-US" sz="1100" b="1" dirty="0" err="1"/>
                        <a:t>Wx</a:t>
                      </a:r>
                      <a:r>
                        <a:rPr lang="en-US" sz="1100" b="1" dirty="0"/>
                        <a:t> var </a:t>
                      </a:r>
                      <a:endParaRPr lang="en-US" sz="1100" dirty="0"/>
                    </a:p>
                  </a:txBody>
                  <a:tcPr marL="35809" marR="35809" marT="17905" marB="17905" anchor="ctr"/>
                </a:tc>
                <a:tc>
                  <a:txBody>
                    <a:bodyPr/>
                    <a:lstStyle/>
                    <a:p>
                      <a:pPr>
                        <a:buNone/>
                      </a:pPr>
                      <a:r>
                        <a:rPr lang="en-US" sz="1100" b="1"/>
                        <a:t>Effect on VOC Concentrations</a:t>
                      </a:r>
                      <a:endParaRPr lang="en-US" sz="1100"/>
                    </a:p>
                  </a:txBody>
                  <a:tcPr marL="35809" marR="35809" marT="17905" marB="17905" anchor="ctr"/>
                </a:tc>
                <a:tc>
                  <a:txBody>
                    <a:bodyPr/>
                    <a:lstStyle/>
                    <a:p>
                      <a:pPr>
                        <a:buNone/>
                      </a:pPr>
                      <a:r>
                        <a:rPr lang="en-US" sz="1100" b="1"/>
                        <a:t>What happens</a:t>
                      </a:r>
                      <a:endParaRPr lang="en-US" sz="1100"/>
                    </a:p>
                  </a:txBody>
                  <a:tcPr marL="35809" marR="35809" marT="17905" marB="17905" anchor="ctr"/>
                </a:tc>
                <a:extLst>
                  <a:ext uri="{0D108BD9-81ED-4DB2-BD59-A6C34878D82A}">
                    <a16:rowId xmlns:a16="http://schemas.microsoft.com/office/drawing/2014/main" val="1608119792"/>
                  </a:ext>
                </a:extLst>
              </a:tr>
              <a:tr h="578234">
                <a:tc>
                  <a:txBody>
                    <a:bodyPr/>
                    <a:lstStyle/>
                    <a:p>
                      <a:pPr>
                        <a:buNone/>
                      </a:pPr>
                      <a:r>
                        <a:rPr lang="en-US" sz="1100" b="1"/>
                        <a:t>Temp</a:t>
                      </a:r>
                      <a:endParaRPr lang="en-US" sz="1100"/>
                    </a:p>
                  </a:txBody>
                  <a:tcPr marL="35809" marR="35809" marT="17905" marB="17905" anchor="ctr"/>
                </a:tc>
                <a:tc>
                  <a:txBody>
                    <a:bodyPr/>
                    <a:lstStyle/>
                    <a:p>
                      <a:pPr>
                        <a:buNone/>
                      </a:pPr>
                      <a:r>
                        <a:rPr lang="en-US" sz="1100" dirty="0"/>
                        <a:t>Higher temps generally increase VOC emissions</a:t>
                      </a:r>
                    </a:p>
                  </a:txBody>
                  <a:tcPr marL="35809" marR="35809" marT="17905" marB="17905" anchor="ctr"/>
                </a:tc>
                <a:tc>
                  <a:txBody>
                    <a:bodyPr/>
                    <a:lstStyle/>
                    <a:p>
                      <a:pPr>
                        <a:buNone/>
                      </a:pPr>
                      <a:r>
                        <a:rPr lang="en-US" sz="1100" dirty="0"/>
                        <a:t>Warmer temperatures increase evaporation from fuels, solvents, and vegetation, releasing more VOCs into the atmosphere.</a:t>
                      </a:r>
                    </a:p>
                  </a:txBody>
                  <a:tcPr marL="35809" marR="35809" marT="17905" marB="17905" anchor="ctr"/>
                </a:tc>
                <a:extLst>
                  <a:ext uri="{0D108BD9-81ED-4DB2-BD59-A6C34878D82A}">
                    <a16:rowId xmlns:a16="http://schemas.microsoft.com/office/drawing/2014/main" val="385264339"/>
                  </a:ext>
                </a:extLst>
              </a:tr>
              <a:tr h="409684">
                <a:tc>
                  <a:txBody>
                    <a:bodyPr/>
                    <a:lstStyle/>
                    <a:p>
                      <a:pPr>
                        <a:buNone/>
                      </a:pPr>
                      <a:r>
                        <a:rPr lang="en-US" sz="1100" b="1"/>
                        <a:t>Solar Radiation</a:t>
                      </a:r>
                      <a:endParaRPr lang="en-US" sz="1100"/>
                    </a:p>
                  </a:txBody>
                  <a:tcPr marL="35809" marR="35809" marT="17905" marB="17905" anchor="ctr"/>
                </a:tc>
                <a:tc>
                  <a:txBody>
                    <a:bodyPr/>
                    <a:lstStyle/>
                    <a:p>
                      <a:pPr>
                        <a:buNone/>
                      </a:pPr>
                      <a:r>
                        <a:rPr lang="en-US" sz="1100" dirty="0"/>
                        <a:t>Can decrease VOC concentrations </a:t>
                      </a:r>
                      <a:r>
                        <a:rPr lang="en-US" sz="1100" u="sng" dirty="0"/>
                        <a:t>but</a:t>
                      </a:r>
                      <a:r>
                        <a:rPr lang="en-US" sz="1100" dirty="0"/>
                        <a:t> increases ozone formation</a:t>
                      </a:r>
                    </a:p>
                  </a:txBody>
                  <a:tcPr marL="35809" marR="35809" marT="17905" marB="17905" anchor="ctr"/>
                </a:tc>
                <a:tc>
                  <a:txBody>
                    <a:bodyPr/>
                    <a:lstStyle/>
                    <a:p>
                      <a:pPr>
                        <a:buNone/>
                      </a:pPr>
                      <a:r>
                        <a:rPr lang="en-US" sz="1100"/>
                        <a:t>Sunlight drives photochemical reactions that consume VOCs while producing ground-level ozone (O₃).</a:t>
                      </a:r>
                    </a:p>
                  </a:txBody>
                  <a:tcPr marL="35809" marR="35809" marT="17905" marB="17905" anchor="ctr"/>
                </a:tc>
                <a:extLst>
                  <a:ext uri="{0D108BD9-81ED-4DB2-BD59-A6C34878D82A}">
                    <a16:rowId xmlns:a16="http://schemas.microsoft.com/office/drawing/2014/main" val="1878391895"/>
                  </a:ext>
                </a:extLst>
              </a:tr>
              <a:tr h="409684">
                <a:tc>
                  <a:txBody>
                    <a:bodyPr/>
                    <a:lstStyle/>
                    <a:p>
                      <a:pPr>
                        <a:buNone/>
                      </a:pPr>
                      <a:r>
                        <a:rPr lang="en-US" sz="1100" b="1"/>
                        <a:t>Wind Speed</a:t>
                      </a:r>
                      <a:endParaRPr lang="en-US" sz="1100"/>
                    </a:p>
                  </a:txBody>
                  <a:tcPr marL="35809" marR="35809" marT="17905" marB="17905" anchor="ctr"/>
                </a:tc>
                <a:tc>
                  <a:txBody>
                    <a:bodyPr/>
                    <a:lstStyle/>
                    <a:p>
                      <a:pPr>
                        <a:buNone/>
                      </a:pPr>
                      <a:r>
                        <a:rPr lang="en-US" sz="1100"/>
                        <a:t>Higher wind speeds generally decrease VOC concentrations</a:t>
                      </a:r>
                    </a:p>
                  </a:txBody>
                  <a:tcPr marL="35809" marR="35809" marT="17905" marB="17905" anchor="ctr"/>
                </a:tc>
                <a:tc>
                  <a:txBody>
                    <a:bodyPr/>
                    <a:lstStyle/>
                    <a:p>
                      <a:pPr>
                        <a:buNone/>
                      </a:pPr>
                      <a:r>
                        <a:rPr lang="en-US" sz="1100"/>
                        <a:t>Wind disperses and dilutes VOCs, reducing local concentrations.</a:t>
                      </a:r>
                    </a:p>
                  </a:txBody>
                  <a:tcPr marL="35809" marR="35809" marT="17905" marB="17905" anchor="ctr"/>
                </a:tc>
                <a:extLst>
                  <a:ext uri="{0D108BD9-81ED-4DB2-BD59-A6C34878D82A}">
                    <a16:rowId xmlns:a16="http://schemas.microsoft.com/office/drawing/2014/main" val="740620811"/>
                  </a:ext>
                </a:extLst>
              </a:tr>
              <a:tr h="578234">
                <a:tc>
                  <a:txBody>
                    <a:bodyPr/>
                    <a:lstStyle/>
                    <a:p>
                      <a:pPr>
                        <a:buNone/>
                      </a:pPr>
                      <a:r>
                        <a:rPr lang="en-US" sz="1100" b="1"/>
                        <a:t>Wind Direction</a:t>
                      </a:r>
                      <a:endParaRPr lang="en-US" sz="1100"/>
                    </a:p>
                  </a:txBody>
                  <a:tcPr marL="35809" marR="35809" marT="17905" marB="17905" anchor="ctr"/>
                </a:tc>
                <a:tc>
                  <a:txBody>
                    <a:bodyPr/>
                    <a:lstStyle/>
                    <a:p>
                      <a:pPr>
                        <a:buNone/>
                      </a:pPr>
                      <a:r>
                        <a:rPr lang="en-US" sz="1100" dirty="0"/>
                        <a:t>Can increase or decrease VOC concentrations</a:t>
                      </a:r>
                    </a:p>
                  </a:txBody>
                  <a:tcPr marL="35809" marR="35809" marT="17905" marB="17905" anchor="ctr"/>
                </a:tc>
                <a:tc>
                  <a:txBody>
                    <a:bodyPr/>
                    <a:lstStyle/>
                    <a:p>
                      <a:pPr>
                        <a:buNone/>
                      </a:pPr>
                      <a:r>
                        <a:rPr lang="en-US" sz="1100"/>
                        <a:t>Determines whether emissions from refineries, petrochemical plants, highways, or other sources are transported toward a monitoring site.</a:t>
                      </a:r>
                    </a:p>
                  </a:txBody>
                  <a:tcPr marL="35809" marR="35809" marT="17905" marB="17905" anchor="ctr"/>
                </a:tc>
                <a:extLst>
                  <a:ext uri="{0D108BD9-81ED-4DB2-BD59-A6C34878D82A}">
                    <a16:rowId xmlns:a16="http://schemas.microsoft.com/office/drawing/2014/main" val="2924672140"/>
                  </a:ext>
                </a:extLst>
              </a:tr>
              <a:tr h="409684">
                <a:tc>
                  <a:txBody>
                    <a:bodyPr/>
                    <a:lstStyle/>
                    <a:p>
                      <a:pPr>
                        <a:buNone/>
                      </a:pPr>
                      <a:r>
                        <a:rPr lang="en-US" sz="1100" b="1"/>
                        <a:t>Boundary Layer Height</a:t>
                      </a:r>
                      <a:endParaRPr lang="en-US" sz="1100"/>
                    </a:p>
                  </a:txBody>
                  <a:tcPr marL="35809" marR="35809" marT="17905" marB="17905" anchor="ctr"/>
                </a:tc>
                <a:tc>
                  <a:txBody>
                    <a:bodyPr/>
                    <a:lstStyle/>
                    <a:p>
                      <a:pPr>
                        <a:buNone/>
                      </a:pPr>
                      <a:r>
                        <a:rPr lang="en-US" sz="1100"/>
                        <a:t>Higher bl = lower VOC concentrations</a:t>
                      </a:r>
                    </a:p>
                  </a:txBody>
                  <a:tcPr marL="35809" marR="35809" marT="17905" marB="17905" anchor="ctr"/>
                </a:tc>
                <a:tc>
                  <a:txBody>
                    <a:bodyPr/>
                    <a:lstStyle/>
                    <a:p>
                      <a:pPr>
                        <a:buNone/>
                      </a:pPr>
                      <a:r>
                        <a:rPr lang="en-US" sz="1100"/>
                        <a:t>A deeper mixing layer allows VOCs to disperse through a larger volume of air.</a:t>
                      </a:r>
                    </a:p>
                  </a:txBody>
                  <a:tcPr marL="35809" marR="35809" marT="17905" marB="17905" anchor="ctr"/>
                </a:tc>
                <a:extLst>
                  <a:ext uri="{0D108BD9-81ED-4DB2-BD59-A6C34878D82A}">
                    <a16:rowId xmlns:a16="http://schemas.microsoft.com/office/drawing/2014/main" val="4155407013"/>
                  </a:ext>
                </a:extLst>
              </a:tr>
              <a:tr h="409684">
                <a:tc>
                  <a:txBody>
                    <a:bodyPr/>
                    <a:lstStyle/>
                    <a:p>
                      <a:pPr>
                        <a:buNone/>
                      </a:pPr>
                      <a:r>
                        <a:rPr lang="en-US" sz="1100" b="1"/>
                        <a:t>Temp Inversions</a:t>
                      </a:r>
                      <a:endParaRPr lang="en-US" sz="1100"/>
                    </a:p>
                  </a:txBody>
                  <a:tcPr marL="35809" marR="35809" marT="17905" marB="17905" anchor="ctr"/>
                </a:tc>
                <a:tc>
                  <a:txBody>
                    <a:bodyPr/>
                    <a:lstStyle/>
                    <a:p>
                      <a:pPr>
                        <a:buNone/>
                      </a:pPr>
                      <a:r>
                        <a:rPr lang="en-US" sz="1100"/>
                        <a:t>Increase VOC concentrations</a:t>
                      </a:r>
                    </a:p>
                  </a:txBody>
                  <a:tcPr marL="35809" marR="35809" marT="17905" marB="17905" anchor="ctr"/>
                </a:tc>
                <a:tc>
                  <a:txBody>
                    <a:bodyPr/>
                    <a:lstStyle/>
                    <a:p>
                      <a:pPr>
                        <a:buNone/>
                      </a:pPr>
                      <a:r>
                        <a:rPr lang="en-US" sz="1100"/>
                        <a:t>Stable atmospheric conditions trap VOCs near the surface, limiting vertical mixing.</a:t>
                      </a:r>
                    </a:p>
                  </a:txBody>
                  <a:tcPr marL="35809" marR="35809" marT="17905" marB="17905" anchor="ctr"/>
                </a:tc>
                <a:extLst>
                  <a:ext uri="{0D108BD9-81ED-4DB2-BD59-A6C34878D82A}">
                    <a16:rowId xmlns:a16="http://schemas.microsoft.com/office/drawing/2014/main" val="3937660682"/>
                  </a:ext>
                </a:extLst>
              </a:tr>
              <a:tr h="578234">
                <a:tc>
                  <a:txBody>
                    <a:bodyPr/>
                    <a:lstStyle/>
                    <a:p>
                      <a:pPr>
                        <a:buNone/>
                      </a:pPr>
                      <a:r>
                        <a:rPr lang="en-US" sz="1100" b="1" dirty="0" err="1"/>
                        <a:t>precip</a:t>
                      </a:r>
                      <a:endParaRPr lang="en-US" sz="1100" dirty="0" err="1"/>
                    </a:p>
                  </a:txBody>
                  <a:tcPr marL="35809" marR="35809" marT="17905" marB="17905" anchor="ctr"/>
                </a:tc>
                <a:tc>
                  <a:txBody>
                    <a:bodyPr/>
                    <a:lstStyle/>
                    <a:p>
                      <a:pPr>
                        <a:buNone/>
                      </a:pPr>
                      <a:r>
                        <a:rPr lang="en-US" sz="1100" dirty="0"/>
                        <a:t>Generally decreases VOC concentrations</a:t>
                      </a:r>
                    </a:p>
                  </a:txBody>
                  <a:tcPr marL="35809" marR="35809" marT="17905" marB="17905" anchor="ctr"/>
                </a:tc>
                <a:tc>
                  <a:txBody>
                    <a:bodyPr/>
                    <a:lstStyle/>
                    <a:p>
                      <a:pPr>
                        <a:buNone/>
                      </a:pPr>
                      <a:r>
                        <a:rPr lang="en-US" sz="1100"/>
                        <a:t>Rain removes some water-soluble VOCs and improves atmospheric mixing, though many hydrocarbons are only weakly removed by precipitation.</a:t>
                      </a:r>
                    </a:p>
                  </a:txBody>
                  <a:tcPr marL="35809" marR="35809" marT="17905" marB="17905" anchor="ctr"/>
                </a:tc>
                <a:extLst>
                  <a:ext uri="{0D108BD9-81ED-4DB2-BD59-A6C34878D82A}">
                    <a16:rowId xmlns:a16="http://schemas.microsoft.com/office/drawing/2014/main" val="4162113758"/>
                  </a:ext>
                </a:extLst>
              </a:tr>
              <a:tr h="578234">
                <a:tc>
                  <a:txBody>
                    <a:bodyPr/>
                    <a:lstStyle/>
                    <a:p>
                      <a:pPr>
                        <a:buNone/>
                      </a:pPr>
                      <a:r>
                        <a:rPr lang="en-US" sz="1100" b="1"/>
                        <a:t>Relative Humidity</a:t>
                      </a:r>
                      <a:endParaRPr lang="en-US" sz="1100"/>
                    </a:p>
                  </a:txBody>
                  <a:tcPr marL="35809" marR="35809" marT="17905" marB="17905" anchor="ctr"/>
                </a:tc>
                <a:tc>
                  <a:txBody>
                    <a:bodyPr/>
                    <a:lstStyle/>
                    <a:p>
                      <a:pPr>
                        <a:buNone/>
                      </a:pPr>
                      <a:r>
                        <a:rPr lang="en-US" sz="1100" dirty="0"/>
                        <a:t>Variable effect</a:t>
                      </a:r>
                    </a:p>
                  </a:txBody>
                  <a:tcPr marL="35809" marR="35809" marT="17905" marB="17905" anchor="ctr"/>
                </a:tc>
                <a:tc>
                  <a:txBody>
                    <a:bodyPr/>
                    <a:lstStyle/>
                    <a:p>
                      <a:pPr>
                        <a:buNone/>
                      </a:pPr>
                      <a:r>
                        <a:rPr lang="en-US" sz="1100" dirty="0"/>
                        <a:t>Humidity influences atmospheric chemistry and secondary organic aerosol (SOA) formation, but its effect depends on the specific VOC species.</a:t>
                      </a:r>
                    </a:p>
                  </a:txBody>
                  <a:tcPr marL="35809" marR="35809" marT="17905" marB="17905" anchor="ctr"/>
                </a:tc>
                <a:extLst>
                  <a:ext uri="{0D108BD9-81ED-4DB2-BD59-A6C34878D82A}">
                    <a16:rowId xmlns:a16="http://schemas.microsoft.com/office/drawing/2014/main" val="442244034"/>
                  </a:ext>
                </a:extLst>
              </a:tr>
            </a:tbl>
          </a:graphicData>
        </a:graphic>
      </p:graphicFrame>
    </p:spTree>
    <p:extLst>
      <p:ext uri="{BB962C8B-B14F-4D97-AF65-F5344CB8AC3E}">
        <p14:creationId xmlns:p14="http://schemas.microsoft.com/office/powerpoint/2010/main" val="1284672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49D6B64C-30A4-435C-CCD6-A171F35ED0C4}"/>
              </a:ext>
            </a:extLst>
          </p:cNvPr>
          <p:cNvPicPr>
            <a:picLocks noGrp="1" noChangeAspect="1"/>
          </p:cNvPicPr>
          <p:nvPr>
            <p:ph idx="1"/>
          </p:nvPr>
        </p:nvPicPr>
        <p:blipFill>
          <a:blip r:embed="rId2"/>
          <a:srcRect t="1336" b="429"/>
          <a:stretch>
            <a:fillRect/>
          </a:stretch>
        </p:blipFill>
        <p:spPr>
          <a:xfrm>
            <a:off x="20" y="1282"/>
            <a:ext cx="12191980" cy="6856718"/>
          </a:xfrm>
          <a:prstGeom prst="rect">
            <a:avLst/>
          </a:prstGeom>
        </p:spPr>
      </p:pic>
    </p:spTree>
    <p:extLst>
      <p:ext uri="{BB962C8B-B14F-4D97-AF65-F5344CB8AC3E}">
        <p14:creationId xmlns:p14="http://schemas.microsoft.com/office/powerpoint/2010/main" val="2631803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AB76-0D0B-79FB-DBE5-D1AC39B15492}"/>
              </a:ext>
            </a:extLst>
          </p:cNvPr>
          <p:cNvSpPr>
            <a:spLocks noGrp="1"/>
          </p:cNvSpPr>
          <p:nvPr>
            <p:ph type="title"/>
          </p:nvPr>
        </p:nvSpPr>
        <p:spPr>
          <a:xfrm>
            <a:off x="746023" y="1"/>
            <a:ext cx="10515600" cy="835742"/>
          </a:xfrm>
        </p:spPr>
        <p:txBody>
          <a:bodyPr/>
          <a:lstStyle/>
          <a:p>
            <a:r>
              <a:rPr lang="en-US" dirty="0"/>
              <a:t>References</a:t>
            </a:r>
          </a:p>
        </p:txBody>
      </p:sp>
      <p:sp>
        <p:nvSpPr>
          <p:cNvPr id="3" name="Content Placeholder 2">
            <a:extLst>
              <a:ext uri="{FF2B5EF4-FFF2-40B4-BE49-F238E27FC236}">
                <a16:creationId xmlns:a16="http://schemas.microsoft.com/office/drawing/2014/main" id="{6D634303-A0F7-26B4-CC3E-933AD66A4F9D}"/>
              </a:ext>
            </a:extLst>
          </p:cNvPr>
          <p:cNvSpPr>
            <a:spLocks noGrp="1"/>
          </p:cNvSpPr>
          <p:nvPr>
            <p:ph idx="1"/>
          </p:nvPr>
        </p:nvSpPr>
        <p:spPr>
          <a:xfrm>
            <a:off x="209404" y="574586"/>
            <a:ext cx="11776586" cy="6394377"/>
          </a:xfrm>
        </p:spPr>
        <p:txBody>
          <a:bodyPr vert="horz" lIns="91440" tIns="45720" rIns="91440" bIns="45720" rtlCol="0" anchor="t">
            <a:normAutofit fontScale="55000" lnSpcReduction="20000"/>
          </a:bodyPr>
          <a:lstStyle/>
          <a:p>
            <a:pPr marL="514350" indent="-514350">
              <a:buAutoNum type="arabicPeriod"/>
            </a:pPr>
            <a:r>
              <a:rPr lang="en-US">
                <a:ea typeface="+mn-lt"/>
                <a:cs typeface="+mn-lt"/>
              </a:rPr>
              <a:t>United States Environmental Protection Agency. (n.d.). AQS Method Code Table (All Methods).</a:t>
            </a:r>
            <a:r>
              <a:rPr lang="en-US" dirty="0">
                <a:ea typeface="+mn-lt"/>
                <a:cs typeface="+mn-lt"/>
              </a:rPr>
              <a:t> </a:t>
            </a:r>
            <a:r>
              <a:rPr lang="en-US" dirty="0">
                <a:ea typeface="+mn-lt"/>
                <a:cs typeface="+mn-lt"/>
                <a:hlinkClick r:id="rId2"/>
              </a:rPr>
              <a:t>https://aqs.epa.gov/aqsweb/documents/codetables/methods_all.html</a:t>
            </a:r>
            <a:r>
              <a:rPr lang="en-US" dirty="0">
                <a:ea typeface="+mn-lt"/>
                <a:cs typeface="+mn-lt"/>
              </a:rPr>
              <a:t> </a:t>
            </a:r>
            <a:endParaRPr lang="en-US" dirty="0"/>
          </a:p>
          <a:p>
            <a:pPr marL="514350" indent="-514350">
              <a:buAutoNum type="arabicPeriod"/>
            </a:pPr>
            <a:r>
              <a:rPr lang="en-US">
                <a:ea typeface="+mn-lt"/>
                <a:cs typeface="+mn-lt"/>
              </a:rPr>
              <a:t>Electronic Code of Federal Regulations. (n.d.). </a:t>
            </a:r>
            <a:r>
              <a:rPr lang="en-US" i="1">
                <a:ea typeface="+mn-lt"/>
                <a:cs typeface="+mn-lt"/>
              </a:rPr>
              <a:t>40 CFR Part 50, Appendix A-1—Reference measurement principle and calibration procedure for the measurement of sulfur dioxide in the atmosphere (Ultraviolet fluorescence).</a:t>
            </a:r>
            <a:r>
              <a:rPr lang="en-US" dirty="0">
                <a:ea typeface="+mn-lt"/>
                <a:cs typeface="+mn-lt"/>
              </a:rPr>
              <a:t> </a:t>
            </a:r>
            <a:r>
              <a:rPr lang="en-US" dirty="0">
                <a:ea typeface="+mn-lt"/>
                <a:cs typeface="+mn-lt"/>
                <a:hlinkClick r:id="rId3"/>
              </a:rPr>
              <a:t>https://www.ecfr.gov/current/title-40/chapter-I/subchapter-C/part-50/appendix-Appendix%20A-1%20to%20Part%2050</a:t>
            </a:r>
            <a:r>
              <a:rPr lang="en-US" dirty="0">
                <a:ea typeface="+mn-lt"/>
                <a:cs typeface="+mn-lt"/>
              </a:rPr>
              <a:t> </a:t>
            </a:r>
            <a:endParaRPr lang="en-US" dirty="0"/>
          </a:p>
          <a:p>
            <a:pPr marL="514350" indent="-514350">
              <a:buAutoNum type="arabicPeriod"/>
            </a:pPr>
            <a:r>
              <a:rPr lang="en-US">
                <a:ea typeface="+mn-lt"/>
                <a:cs typeface="+mn-lt"/>
              </a:rPr>
              <a:t>Electronic Code of Federal Regulations. (n.d.). </a:t>
            </a:r>
            <a:r>
              <a:rPr lang="en-US" i="1">
                <a:ea typeface="+mn-lt"/>
                <a:cs typeface="+mn-lt"/>
              </a:rPr>
              <a:t>40 CFR Part 53—Ambient air monitoring reference and equivalent methods.</a:t>
            </a:r>
            <a:r>
              <a:rPr lang="en-US" dirty="0">
                <a:ea typeface="+mn-lt"/>
                <a:cs typeface="+mn-lt"/>
              </a:rPr>
              <a:t> </a:t>
            </a:r>
            <a:r>
              <a:rPr lang="en-US" dirty="0">
                <a:ea typeface="+mn-lt"/>
                <a:cs typeface="+mn-lt"/>
                <a:hlinkClick r:id="rId4"/>
              </a:rPr>
              <a:t>https://www.ecfr.gov/current/title-40/chapter-I/subchapter-C/part-53</a:t>
            </a:r>
            <a:r>
              <a:rPr lang="en-US" dirty="0">
                <a:ea typeface="+mn-lt"/>
                <a:cs typeface="+mn-lt"/>
              </a:rPr>
              <a:t> </a:t>
            </a:r>
            <a:endParaRPr lang="en-US" dirty="0"/>
          </a:p>
          <a:p>
            <a:pPr marL="514350" indent="-514350">
              <a:buAutoNum type="arabicPeriod"/>
            </a:pPr>
            <a:r>
              <a:rPr lang="en-US">
                <a:ea typeface="+mn-lt"/>
                <a:cs typeface="+mn-lt"/>
              </a:rPr>
              <a:t>Federal Register. (2010, June 22). </a:t>
            </a:r>
            <a:r>
              <a:rPr lang="en-US" i="1">
                <a:ea typeface="+mn-lt"/>
                <a:cs typeface="+mn-lt"/>
              </a:rPr>
              <a:t>Primary National Ambient Air Quality Standard for sulfur dioxide.</a:t>
            </a:r>
            <a:r>
              <a:rPr lang="en-US" dirty="0">
                <a:ea typeface="+mn-lt"/>
                <a:cs typeface="+mn-lt"/>
              </a:rPr>
              <a:t> </a:t>
            </a:r>
            <a:r>
              <a:rPr lang="en-US" dirty="0">
                <a:ea typeface="+mn-lt"/>
                <a:cs typeface="+mn-lt"/>
                <a:hlinkClick r:id="rId5"/>
              </a:rPr>
              <a:t>https://www.federalregister.gov/documents/2010/06/22/2010-13947/primary-national-ambient-air-quality-standard-for-sulfur-dioxide</a:t>
            </a:r>
            <a:r>
              <a:rPr lang="en-US" dirty="0">
                <a:ea typeface="+mn-lt"/>
                <a:cs typeface="+mn-lt"/>
              </a:rPr>
              <a:t> </a:t>
            </a:r>
            <a:endParaRPr lang="en-US" dirty="0"/>
          </a:p>
          <a:p>
            <a:pPr marL="514350" indent="-514350">
              <a:buAutoNum type="arabicPeriod"/>
            </a:pPr>
            <a:r>
              <a:rPr lang="en-US">
                <a:ea typeface="+mn-lt"/>
                <a:cs typeface="+mn-lt"/>
              </a:rPr>
              <a:t>Federal Register. (2024, December 27). </a:t>
            </a:r>
            <a:r>
              <a:rPr lang="en-US" i="1">
                <a:ea typeface="+mn-lt"/>
                <a:cs typeface="+mn-lt"/>
              </a:rPr>
              <a:t>Review of the Secondary National Ambient Air Quality Standards for Oxides of Nitrogen, Oxides of Sulfur, and Particulate Matter.</a:t>
            </a:r>
            <a:r>
              <a:rPr lang="en-US" dirty="0">
                <a:ea typeface="+mn-lt"/>
                <a:cs typeface="+mn-lt"/>
              </a:rPr>
              <a:t> </a:t>
            </a:r>
            <a:r>
              <a:rPr lang="en-US" dirty="0">
                <a:ea typeface="+mn-lt"/>
                <a:cs typeface="+mn-lt"/>
                <a:hlinkClick r:id="rId6"/>
              </a:rPr>
              <a:t>https://www.federalregister.gov/documents/2024/12/27/2024-29463/review-of-the-secondary-national-ambient-air-quality-standards-for-oxides-of-nitrogen-oxides-of</a:t>
            </a:r>
            <a:r>
              <a:rPr lang="en-US" dirty="0">
                <a:ea typeface="+mn-lt"/>
                <a:cs typeface="+mn-lt"/>
              </a:rPr>
              <a:t> </a:t>
            </a:r>
            <a:endParaRPr lang="en-US" dirty="0"/>
          </a:p>
          <a:p>
            <a:pPr marL="514350" indent="-514350">
              <a:buAutoNum type="arabicPeriod"/>
            </a:pPr>
            <a:r>
              <a:rPr lang="en-US">
                <a:ea typeface="+mn-lt"/>
                <a:cs typeface="+mn-lt"/>
              </a:rPr>
              <a:t>Texas Commission on Environmental Quality. (n.d.). </a:t>
            </a:r>
            <a:r>
              <a:rPr lang="en-US" i="1">
                <a:ea typeface="+mn-lt"/>
                <a:cs typeface="+mn-lt"/>
              </a:rPr>
              <a:t>Air Monitoring Operations.</a:t>
            </a:r>
            <a:r>
              <a:rPr lang="en-US" dirty="0">
                <a:ea typeface="+mn-lt"/>
                <a:cs typeface="+mn-lt"/>
              </a:rPr>
              <a:t> </a:t>
            </a:r>
            <a:r>
              <a:rPr lang="en-US" dirty="0">
                <a:ea typeface="+mn-lt"/>
                <a:cs typeface="+mn-lt"/>
                <a:hlinkClick r:id="rId7"/>
              </a:rPr>
              <a:t>https://www.tceq.texas.gov/airquality/monops</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Air Quality System (AQS).</a:t>
            </a:r>
            <a:r>
              <a:rPr lang="en-US" dirty="0">
                <a:ea typeface="+mn-lt"/>
                <a:cs typeface="+mn-lt"/>
              </a:rPr>
              <a:t> </a:t>
            </a:r>
            <a:r>
              <a:rPr lang="en-US" dirty="0">
                <a:ea typeface="+mn-lt"/>
                <a:cs typeface="+mn-lt"/>
                <a:hlinkClick r:id="rId8"/>
              </a:rPr>
              <a:t>https://www.epa.gov/aqs</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Ambient Monitoring Technology Information Center (AMTIC).</a:t>
            </a:r>
            <a:r>
              <a:rPr lang="en-US" dirty="0">
                <a:ea typeface="+mn-lt"/>
                <a:cs typeface="+mn-lt"/>
              </a:rPr>
              <a:t> </a:t>
            </a:r>
            <a:r>
              <a:rPr lang="en-US" dirty="0">
                <a:ea typeface="+mn-lt"/>
                <a:cs typeface="+mn-lt"/>
                <a:hlinkClick r:id="rId9"/>
              </a:rPr>
              <a:t>https://www.epa.gov/amtic</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Criteria Air Pollutants.</a:t>
            </a:r>
            <a:r>
              <a:rPr lang="en-US" dirty="0">
                <a:ea typeface="+mn-lt"/>
                <a:cs typeface="+mn-lt"/>
              </a:rPr>
              <a:t> </a:t>
            </a:r>
            <a:r>
              <a:rPr lang="en-US" dirty="0">
                <a:ea typeface="+mn-lt"/>
                <a:cs typeface="+mn-lt"/>
                <a:hlinkClick r:id="rId10"/>
              </a:rPr>
              <a:t>https://www.epa.gov/criteria-air-pollutants</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Ground-level ozone basics.</a:t>
            </a:r>
            <a:r>
              <a:rPr lang="en-US" dirty="0">
                <a:ea typeface="+mn-lt"/>
                <a:cs typeface="+mn-lt"/>
              </a:rPr>
              <a:t> </a:t>
            </a:r>
            <a:r>
              <a:rPr lang="en-US" dirty="0">
                <a:ea typeface="+mn-lt"/>
                <a:cs typeface="+mn-lt"/>
                <a:hlinkClick r:id="rId11"/>
              </a:rPr>
              <a:t>https://www.epa.gov/ground-level-ozone-pollution/ground-level-ozone-basics</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Integrated Science Assessment (ISA) for Sulfur Oxides – Health Criteria.</a:t>
            </a:r>
            <a:r>
              <a:rPr lang="en-US" dirty="0">
                <a:ea typeface="+mn-lt"/>
                <a:cs typeface="+mn-lt"/>
              </a:rPr>
              <a:t> </a:t>
            </a:r>
            <a:r>
              <a:rPr lang="en-US" dirty="0">
                <a:ea typeface="+mn-lt"/>
                <a:cs typeface="+mn-lt"/>
                <a:hlinkClick r:id="rId12"/>
              </a:rPr>
              <a:t>https://www.epa.gov/isa/integrated-science-assessment-isa-sulfur-oxides-health-criteria</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National Ambient Air Quality Standards (NAAQS).</a:t>
            </a:r>
            <a:r>
              <a:rPr lang="en-US" dirty="0">
                <a:ea typeface="+mn-lt"/>
                <a:cs typeface="+mn-lt"/>
              </a:rPr>
              <a:t> </a:t>
            </a:r>
            <a:r>
              <a:rPr lang="en-US" dirty="0">
                <a:ea typeface="+mn-lt"/>
                <a:cs typeface="+mn-lt"/>
                <a:hlinkClick r:id="rId13"/>
              </a:rPr>
              <a:t>https://www.epa.gov/criteria-air-pollutants/naaqs-table</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Sulfur dioxide (SO₂) pollution.</a:t>
            </a:r>
            <a:r>
              <a:rPr lang="en-US" dirty="0">
                <a:ea typeface="+mn-lt"/>
                <a:cs typeface="+mn-lt"/>
              </a:rPr>
              <a:t> </a:t>
            </a:r>
            <a:r>
              <a:rPr lang="en-US" dirty="0">
                <a:ea typeface="+mn-lt"/>
                <a:cs typeface="+mn-lt"/>
                <a:hlinkClick r:id="rId14"/>
              </a:rPr>
              <a:t>https://www.epa.gov/so2-pollution</a:t>
            </a:r>
            <a:r>
              <a:rPr lang="en-US" dirty="0">
                <a:ea typeface="+mn-lt"/>
                <a:cs typeface="+mn-lt"/>
              </a:rPr>
              <a:t> </a:t>
            </a:r>
            <a:endParaRPr lang="en-US" dirty="0"/>
          </a:p>
          <a:p>
            <a:pPr marL="514350" indent="-514350">
              <a:buAutoNum type="arabicPeriod"/>
            </a:pPr>
            <a:r>
              <a:rPr lang="en-US">
                <a:ea typeface="+mn-lt"/>
                <a:cs typeface="+mn-lt"/>
              </a:rPr>
              <a:t>United States Environmental Protection Agency. (n.d.). </a:t>
            </a:r>
            <a:r>
              <a:rPr lang="en-US" i="1">
                <a:ea typeface="+mn-lt"/>
                <a:cs typeface="+mn-lt"/>
              </a:rPr>
              <a:t>Volatile Organic Compounds' Impact on Indoor Air Quality.</a:t>
            </a:r>
            <a:r>
              <a:rPr lang="en-US" dirty="0">
                <a:ea typeface="+mn-lt"/>
                <a:cs typeface="+mn-lt"/>
              </a:rPr>
              <a:t> </a:t>
            </a:r>
            <a:r>
              <a:rPr lang="en-US" dirty="0">
                <a:ea typeface="+mn-lt"/>
                <a:cs typeface="+mn-lt"/>
                <a:hlinkClick r:id="rId15"/>
              </a:rPr>
              <a:t>https://www.epa.gov/indoor-air-quality-iaq/volatile-organic-compounds-impact-indoor-air-quality</a:t>
            </a:r>
            <a:r>
              <a:rPr lang="en-US" dirty="0">
                <a:ea typeface="+mn-lt"/>
                <a:cs typeface="+mn-lt"/>
              </a:rPr>
              <a:t> </a:t>
            </a:r>
            <a:endParaRPr lang="en-US" dirty="0"/>
          </a:p>
          <a:p>
            <a:pPr marL="514350" indent="-514350">
              <a:buAutoNum type="arabicPeriod"/>
            </a:pPr>
            <a:r>
              <a:rPr lang="en-US">
                <a:ea typeface="+mn-lt"/>
                <a:cs typeface="+mn-lt"/>
              </a:rPr>
              <a:t>United States Congress. (n.d.). </a:t>
            </a:r>
            <a:r>
              <a:rPr lang="en-US" i="1">
                <a:ea typeface="+mn-lt"/>
                <a:cs typeface="+mn-lt"/>
              </a:rPr>
              <a:t>Clean Air Act, 42 U.S.C. § 7409 (Section 109).</a:t>
            </a:r>
            <a:r>
              <a:rPr lang="en-US" dirty="0">
                <a:ea typeface="+mn-lt"/>
                <a:cs typeface="+mn-lt"/>
              </a:rPr>
              <a:t> </a:t>
            </a:r>
            <a:r>
              <a:rPr lang="en-US" dirty="0">
                <a:ea typeface="+mn-lt"/>
                <a:cs typeface="+mn-lt"/>
                <a:hlinkClick r:id="rId16"/>
              </a:rPr>
              <a:t>https://www.law.cornell.edu/uscode/text/42/7409</a:t>
            </a:r>
            <a:endParaRPr lang="en-US">
              <a:ea typeface="+mn-lt"/>
              <a:cs typeface="+mn-lt"/>
            </a:endParaRPr>
          </a:p>
        </p:txBody>
      </p:sp>
    </p:spTree>
    <p:extLst>
      <p:ext uri="{BB962C8B-B14F-4D97-AF65-F5344CB8AC3E}">
        <p14:creationId xmlns:p14="http://schemas.microsoft.com/office/powerpoint/2010/main" val="991808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2962190-2fca-46c4-8972-86656c3c88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A056F256CB984E8B6267C87E03E5BA" ma:contentTypeVersion="13" ma:contentTypeDescription="Create a new document." ma:contentTypeScope="" ma:versionID="3cfeb4e62047d937a32860337dbcfd5a">
  <xsd:schema xmlns:xsd="http://www.w3.org/2001/XMLSchema" xmlns:xs="http://www.w3.org/2001/XMLSchema" xmlns:p="http://schemas.microsoft.com/office/2006/metadata/properties" xmlns:ns3="72962190-2fca-46c4-8972-86656c3c88bc" xmlns:ns4="7a0e4a23-e885-4ea4-90ba-ee87f7664489" targetNamespace="http://schemas.microsoft.com/office/2006/metadata/properties" ma:root="true" ma:fieldsID="417f8979f4ee1e328a0796a8cf828ffa" ns3:_="" ns4:_="">
    <xsd:import namespace="72962190-2fca-46c4-8972-86656c3c88bc"/>
    <xsd:import namespace="7a0e4a23-e885-4ea4-90ba-ee87f766448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962190-2fca-46c4-8972-86656c3c8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0e4a23-e885-4ea4-90ba-ee87f766448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99F11B-5CFD-43BC-911E-A3AAE2EBA244}">
  <ds:schemaRefs>
    <ds:schemaRef ds:uri="http://schemas.microsoft.com/sharepoint/v3/contenttype/forms"/>
  </ds:schemaRefs>
</ds:datastoreItem>
</file>

<file path=customXml/itemProps2.xml><?xml version="1.0" encoding="utf-8"?>
<ds:datastoreItem xmlns:ds="http://schemas.openxmlformats.org/officeDocument/2006/customXml" ds:itemID="{8F40445F-6319-4B65-A571-834449705241}">
  <ds:schemaRefs>
    <ds:schemaRef ds:uri="http://schemas.microsoft.com/office/2006/metadata/properties"/>
    <ds:schemaRef ds:uri="http://www.w3.org/2000/xmlns/"/>
    <ds:schemaRef ds:uri="72962190-2fca-46c4-8972-86656c3c88bc"/>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343C4683-0101-411E-9977-69F8B8C7B5D9}">
  <ds:schemaRefs>
    <ds:schemaRef ds:uri="http://schemas.microsoft.com/office/2006/metadata/contentType"/>
    <ds:schemaRef ds:uri="http://schemas.microsoft.com/office/2006/metadata/properties/metaAttributes"/>
    <ds:schemaRef ds:uri="http://www.w3.org/2000/xmlns/"/>
    <ds:schemaRef ds:uri="http://www.w3.org/2001/XMLSchema"/>
    <ds:schemaRef ds:uri="72962190-2fca-46c4-8972-86656c3c88bc"/>
    <ds:schemaRef ds:uri="7a0e4a23-e885-4ea4-90ba-ee87f7664489"/>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694</TotalTime>
  <Words>1806</Words>
  <Application>Microsoft Office PowerPoint</Application>
  <PresentationFormat>Widescreen</PresentationFormat>
  <Paragraphs>156</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SO2 and VOCs</vt:lpstr>
      <vt:lpstr>Sulfur Dioxide (SO₂)</vt:lpstr>
      <vt:lpstr>PowerPoint Presentation</vt:lpstr>
      <vt:lpstr>How SO2 is measured diagram :D</vt:lpstr>
      <vt:lpstr>SO2 (NAAQS)</vt:lpstr>
      <vt:lpstr>NAAQS Revisions</vt:lpstr>
      <vt:lpstr>Summary of changes over the years </vt:lpstr>
      <vt:lpstr>SO2 FEM VS FRM</vt:lpstr>
      <vt:lpstr>EPA approves of TCEQ </vt:lpstr>
      <vt:lpstr>Weather Influences </vt:lpstr>
      <vt:lpstr>Volatile Organic Compounds (VOCs)</vt:lpstr>
      <vt:lpstr>VOC param codes</vt:lpstr>
      <vt:lpstr>How are VOCs measured?</vt:lpstr>
      <vt:lpstr>NAAQS Standards</vt:lpstr>
      <vt:lpstr>Weather influence </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SO2 and VOCs</dc:title>
  <dc:creator>Trevino, Jasmine</dc:creator>
  <cp:lastModifiedBy>Trevino, Jasmine</cp:lastModifiedBy>
  <cp:revision>41</cp:revision>
  <dcterms:created xsi:type="dcterms:W3CDTF">2026-06-29T20:16:45Z</dcterms:created>
  <dcterms:modified xsi:type="dcterms:W3CDTF">2026-07-09T02:18:18Z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0x01010015A056F256CB984E8B6267C87E03E5BA</vt:lpwstr>
  </property>
</Properties>
</file>